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7099300" cy="10234600"/>
  <p:embeddedFontLs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6" roundtripDataSignature="AMtx7miQ2O3xGAHrIl38WFIYWnXuPuuI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0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0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7.png"/><Relationship Id="rId13" Type="http://schemas.openxmlformats.org/officeDocument/2006/relationships/image" Target="../media/image14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20.png"/><Relationship Id="rId15" Type="http://schemas.openxmlformats.org/officeDocument/2006/relationships/image" Target="../media/image1.png"/><Relationship Id="rId14" Type="http://schemas.openxmlformats.org/officeDocument/2006/relationships/image" Target="../media/image5.png"/><Relationship Id="rId17" Type="http://schemas.openxmlformats.org/officeDocument/2006/relationships/image" Target="../media/image7.png"/><Relationship Id="rId16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9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22" Type="http://schemas.openxmlformats.org/officeDocument/2006/relationships/image" Target="../media/image48.png"/><Relationship Id="rId21" Type="http://schemas.openxmlformats.org/officeDocument/2006/relationships/image" Target="../media/image45.png"/><Relationship Id="rId24" Type="http://schemas.openxmlformats.org/officeDocument/2006/relationships/image" Target="../media/image51.png"/><Relationship Id="rId23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9" Type="http://schemas.openxmlformats.org/officeDocument/2006/relationships/image" Target="../media/image43.png"/><Relationship Id="rId26" Type="http://schemas.openxmlformats.org/officeDocument/2006/relationships/image" Target="../media/image58.png"/><Relationship Id="rId25" Type="http://schemas.openxmlformats.org/officeDocument/2006/relationships/image" Target="../media/image46.png"/><Relationship Id="rId28" Type="http://schemas.openxmlformats.org/officeDocument/2006/relationships/image" Target="../media/image56.png"/><Relationship Id="rId27" Type="http://schemas.openxmlformats.org/officeDocument/2006/relationships/image" Target="../media/image70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Relationship Id="rId29" Type="http://schemas.openxmlformats.org/officeDocument/2006/relationships/image" Target="../media/image76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Relationship Id="rId31" Type="http://schemas.openxmlformats.org/officeDocument/2006/relationships/image" Target="../media/image59.png"/><Relationship Id="rId30" Type="http://schemas.openxmlformats.org/officeDocument/2006/relationships/image" Target="../media/image60.png"/><Relationship Id="rId11" Type="http://schemas.openxmlformats.org/officeDocument/2006/relationships/image" Target="../media/image39.png"/><Relationship Id="rId33" Type="http://schemas.openxmlformats.org/officeDocument/2006/relationships/image" Target="../media/image57.png"/><Relationship Id="rId10" Type="http://schemas.openxmlformats.org/officeDocument/2006/relationships/image" Target="../media/image44.png"/><Relationship Id="rId32" Type="http://schemas.openxmlformats.org/officeDocument/2006/relationships/image" Target="../media/image65.png"/><Relationship Id="rId13" Type="http://schemas.openxmlformats.org/officeDocument/2006/relationships/image" Target="../media/image42.png"/><Relationship Id="rId35" Type="http://schemas.openxmlformats.org/officeDocument/2006/relationships/image" Target="../media/image54.png"/><Relationship Id="rId12" Type="http://schemas.openxmlformats.org/officeDocument/2006/relationships/image" Target="../media/image36.png"/><Relationship Id="rId34" Type="http://schemas.openxmlformats.org/officeDocument/2006/relationships/image" Target="../media/image53.png"/><Relationship Id="rId15" Type="http://schemas.openxmlformats.org/officeDocument/2006/relationships/image" Target="../media/image52.png"/><Relationship Id="rId37" Type="http://schemas.openxmlformats.org/officeDocument/2006/relationships/image" Target="../media/image64.png"/><Relationship Id="rId14" Type="http://schemas.openxmlformats.org/officeDocument/2006/relationships/image" Target="../media/image14.png"/><Relationship Id="rId36" Type="http://schemas.openxmlformats.org/officeDocument/2006/relationships/image" Target="../media/image61.png"/><Relationship Id="rId17" Type="http://schemas.openxmlformats.org/officeDocument/2006/relationships/image" Target="../media/image50.png"/><Relationship Id="rId16" Type="http://schemas.openxmlformats.org/officeDocument/2006/relationships/image" Target="../media/image35.png"/><Relationship Id="rId19" Type="http://schemas.openxmlformats.org/officeDocument/2006/relationships/image" Target="../media/image49.png"/><Relationship Id="rId1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69.png"/><Relationship Id="rId22" Type="http://schemas.openxmlformats.org/officeDocument/2006/relationships/image" Target="../media/image87.png"/><Relationship Id="rId21" Type="http://schemas.openxmlformats.org/officeDocument/2006/relationships/image" Target="../media/image77.png"/><Relationship Id="rId24" Type="http://schemas.openxmlformats.org/officeDocument/2006/relationships/image" Target="../media/image84.png"/><Relationship Id="rId23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72.png"/><Relationship Id="rId9" Type="http://schemas.openxmlformats.org/officeDocument/2006/relationships/image" Target="../media/image86.png"/><Relationship Id="rId26" Type="http://schemas.openxmlformats.org/officeDocument/2006/relationships/image" Target="../media/image79.png"/><Relationship Id="rId25" Type="http://schemas.openxmlformats.org/officeDocument/2006/relationships/image" Target="../media/image91.png"/><Relationship Id="rId27" Type="http://schemas.openxmlformats.org/officeDocument/2006/relationships/image" Target="../media/image83.png"/><Relationship Id="rId5" Type="http://schemas.openxmlformats.org/officeDocument/2006/relationships/image" Target="../media/image66.png"/><Relationship Id="rId6" Type="http://schemas.openxmlformats.org/officeDocument/2006/relationships/image" Target="../media/image85.png"/><Relationship Id="rId7" Type="http://schemas.openxmlformats.org/officeDocument/2006/relationships/image" Target="../media/image68.png"/><Relationship Id="rId8" Type="http://schemas.openxmlformats.org/officeDocument/2006/relationships/image" Target="../media/image67.png"/><Relationship Id="rId11" Type="http://schemas.openxmlformats.org/officeDocument/2006/relationships/image" Target="../media/image71.png"/><Relationship Id="rId10" Type="http://schemas.openxmlformats.org/officeDocument/2006/relationships/image" Target="../media/image73.png"/><Relationship Id="rId13" Type="http://schemas.openxmlformats.org/officeDocument/2006/relationships/image" Target="../media/image75.png"/><Relationship Id="rId12" Type="http://schemas.openxmlformats.org/officeDocument/2006/relationships/image" Target="../media/image63.png"/><Relationship Id="rId15" Type="http://schemas.openxmlformats.org/officeDocument/2006/relationships/image" Target="../media/image74.png"/><Relationship Id="rId14" Type="http://schemas.openxmlformats.org/officeDocument/2006/relationships/image" Target="../media/image78.png"/><Relationship Id="rId17" Type="http://schemas.openxmlformats.org/officeDocument/2006/relationships/image" Target="../media/image98.png"/><Relationship Id="rId16" Type="http://schemas.openxmlformats.org/officeDocument/2006/relationships/image" Target="../media/image82.png"/><Relationship Id="rId19" Type="http://schemas.openxmlformats.org/officeDocument/2006/relationships/image" Target="../media/image81.png"/><Relationship Id="rId18" Type="http://schemas.openxmlformats.org/officeDocument/2006/relationships/image" Target="../media/image88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4.png"/><Relationship Id="rId22" Type="http://schemas.openxmlformats.org/officeDocument/2006/relationships/image" Target="../media/image108.png"/><Relationship Id="rId21" Type="http://schemas.openxmlformats.org/officeDocument/2006/relationships/image" Target="../media/image123.png"/><Relationship Id="rId24" Type="http://schemas.openxmlformats.org/officeDocument/2006/relationships/image" Target="../media/image112.png"/><Relationship Id="rId23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9.png"/><Relationship Id="rId4" Type="http://schemas.openxmlformats.org/officeDocument/2006/relationships/image" Target="../media/image97.png"/><Relationship Id="rId9" Type="http://schemas.openxmlformats.org/officeDocument/2006/relationships/image" Target="../media/image92.png"/><Relationship Id="rId26" Type="http://schemas.openxmlformats.org/officeDocument/2006/relationships/image" Target="../media/image107.png"/><Relationship Id="rId25" Type="http://schemas.openxmlformats.org/officeDocument/2006/relationships/image" Target="../media/image110.png"/><Relationship Id="rId28" Type="http://schemas.openxmlformats.org/officeDocument/2006/relationships/image" Target="../media/image129.png"/><Relationship Id="rId27" Type="http://schemas.openxmlformats.org/officeDocument/2006/relationships/image" Target="../media/image103.png"/><Relationship Id="rId5" Type="http://schemas.openxmlformats.org/officeDocument/2006/relationships/image" Target="../media/image102.png"/><Relationship Id="rId6" Type="http://schemas.openxmlformats.org/officeDocument/2006/relationships/image" Target="../media/image96.png"/><Relationship Id="rId29" Type="http://schemas.openxmlformats.org/officeDocument/2006/relationships/image" Target="../media/image115.png"/><Relationship Id="rId7" Type="http://schemas.openxmlformats.org/officeDocument/2006/relationships/image" Target="../media/image80.png"/><Relationship Id="rId8" Type="http://schemas.openxmlformats.org/officeDocument/2006/relationships/image" Target="../media/image95.png"/><Relationship Id="rId31" Type="http://schemas.openxmlformats.org/officeDocument/2006/relationships/image" Target="../media/image124.png"/><Relationship Id="rId30" Type="http://schemas.openxmlformats.org/officeDocument/2006/relationships/image" Target="../media/image117.png"/><Relationship Id="rId11" Type="http://schemas.openxmlformats.org/officeDocument/2006/relationships/image" Target="../media/image109.png"/><Relationship Id="rId33" Type="http://schemas.openxmlformats.org/officeDocument/2006/relationships/image" Target="../media/image111.png"/><Relationship Id="rId10" Type="http://schemas.openxmlformats.org/officeDocument/2006/relationships/image" Target="../media/image94.png"/><Relationship Id="rId32" Type="http://schemas.openxmlformats.org/officeDocument/2006/relationships/image" Target="../media/image118.png"/><Relationship Id="rId13" Type="http://schemas.openxmlformats.org/officeDocument/2006/relationships/image" Target="../media/image100.png"/><Relationship Id="rId12" Type="http://schemas.openxmlformats.org/officeDocument/2006/relationships/image" Target="../media/image93.png"/><Relationship Id="rId15" Type="http://schemas.openxmlformats.org/officeDocument/2006/relationships/image" Target="../media/image135.png"/><Relationship Id="rId14" Type="http://schemas.openxmlformats.org/officeDocument/2006/relationships/image" Target="../media/image90.png"/><Relationship Id="rId17" Type="http://schemas.openxmlformats.org/officeDocument/2006/relationships/image" Target="../media/image113.png"/><Relationship Id="rId16" Type="http://schemas.openxmlformats.org/officeDocument/2006/relationships/image" Target="../media/image101.png"/><Relationship Id="rId19" Type="http://schemas.openxmlformats.org/officeDocument/2006/relationships/image" Target="../media/image106.png"/><Relationship Id="rId18" Type="http://schemas.openxmlformats.org/officeDocument/2006/relationships/image" Target="../media/image9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5.png"/><Relationship Id="rId4" Type="http://schemas.openxmlformats.org/officeDocument/2006/relationships/image" Target="../media/image1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4.png"/><Relationship Id="rId4" Type="http://schemas.openxmlformats.org/officeDocument/2006/relationships/image" Target="../media/image14.png"/><Relationship Id="rId5" Type="http://schemas.openxmlformats.org/officeDocument/2006/relationships/image" Target="../media/image1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0.png"/><Relationship Id="rId4" Type="http://schemas.openxmlformats.org/officeDocument/2006/relationships/image" Target="../media/image134.png"/><Relationship Id="rId9" Type="http://schemas.openxmlformats.org/officeDocument/2006/relationships/image" Target="../media/image132.png"/><Relationship Id="rId5" Type="http://schemas.openxmlformats.org/officeDocument/2006/relationships/image" Target="../media/image127.png"/><Relationship Id="rId6" Type="http://schemas.openxmlformats.org/officeDocument/2006/relationships/image" Target="../media/image119.png"/><Relationship Id="rId7" Type="http://schemas.openxmlformats.org/officeDocument/2006/relationships/image" Target="../media/image128.png"/><Relationship Id="rId8" Type="http://schemas.openxmlformats.org/officeDocument/2006/relationships/image" Target="../media/image122.png"/><Relationship Id="rId11" Type="http://schemas.openxmlformats.org/officeDocument/2006/relationships/image" Target="../media/image76.png"/><Relationship Id="rId10" Type="http://schemas.openxmlformats.org/officeDocument/2006/relationships/image" Target="../media/image14.png"/><Relationship Id="rId13" Type="http://schemas.openxmlformats.org/officeDocument/2006/relationships/image" Target="../media/image126.png"/><Relationship Id="rId12" Type="http://schemas.openxmlformats.org/officeDocument/2006/relationships/image" Target="../media/image131.png"/><Relationship Id="rId14" Type="http://schemas.openxmlformats.org/officeDocument/2006/relationships/image" Target="../media/image1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Tableaux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66712" y="3381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Tableaux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Tableaux multidimensionnels</a:t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62" y="3390900"/>
            <a:ext cx="274637" cy="96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2"/>
          <p:cNvGrpSpPr/>
          <p:nvPr/>
        </p:nvGrpSpPr>
        <p:grpSpPr>
          <a:xfrm>
            <a:off x="961314" y="3184910"/>
            <a:ext cx="1374968" cy="78240"/>
            <a:chOff x="962018" y="3185431"/>
            <a:chExt cx="1373760" cy="77040"/>
          </a:xfrm>
        </p:grpSpPr>
        <p:pic>
          <p:nvPicPr>
            <p:cNvPr id="66" name="Google Shape;6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2018" y="323079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2018" y="324231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2018" y="3185431"/>
              <a:ext cx="1373760" cy="770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Besoins</a:t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457200" y="1600200"/>
            <a:ext cx="8459787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besoin de variables de même type mais en grand nombre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veut aérer notre algorithme en regroupant les variables de même fonctionnalités.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700" y="3038475"/>
            <a:ext cx="720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Exemples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457200" y="1600200"/>
            <a:ext cx="8459787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 d’articles  dont on veut gérer les marges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On peut créer autant de variables qu’il y’a d’articles: Lourdeur lors des affectations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des traitements, prévoir peut être les mêmes instructions (répétitives!) pour chaque article.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371475" y="4592637"/>
            <a:ext cx="322262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Tableaux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457200" y="1098550"/>
            <a:ext cx="8459787" cy="327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tableau est une structure de données qui permet de stocker plusieurs valeurs du même type.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Chaque valeur de cette structure est accessible à travers une clé d'accès qu'on appelle un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0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507037" y="4051300"/>
            <a:ext cx="1216025" cy="561975"/>
          </a:xfrm>
          <a:prstGeom prst="rect">
            <a:avLst/>
          </a:prstGeom>
          <a:noFill/>
          <a:ln cap="flat" cmpd="sng" w="9525">
            <a:solidFill>
              <a:srgbClr val="6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5507037" y="4635500"/>
            <a:ext cx="1216025" cy="563562"/>
          </a:xfrm>
          <a:prstGeom prst="rect">
            <a:avLst/>
          </a:prstGeom>
          <a:noFill/>
          <a:ln cap="flat" cmpd="sng" w="9525">
            <a:solidFill>
              <a:srgbClr val="6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507037" y="5219700"/>
            <a:ext cx="1216025" cy="563562"/>
          </a:xfrm>
          <a:prstGeom prst="rect">
            <a:avLst/>
          </a:prstGeom>
          <a:noFill/>
          <a:ln cap="flat" cmpd="sng" w="9525">
            <a:solidFill>
              <a:srgbClr val="6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507037" y="5803900"/>
            <a:ext cx="1216025" cy="563562"/>
          </a:xfrm>
          <a:prstGeom prst="rect">
            <a:avLst/>
          </a:prstGeom>
          <a:noFill/>
          <a:ln cap="flat" cmpd="sng" w="9525">
            <a:solidFill>
              <a:srgbClr val="66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7246937" y="4964112"/>
            <a:ext cx="1084262" cy="400050"/>
          </a:xfrm>
          <a:prstGeom prst="rect">
            <a:avLst/>
          </a:prstGeom>
          <a:gradFill>
            <a:gsLst>
              <a:gs pos="0">
                <a:srgbClr val="9CFB9C"/>
              </a:gs>
              <a:gs pos="35000">
                <a:srgbClr val="BAFBBA"/>
              </a:gs>
              <a:gs pos="100000">
                <a:srgbClr val="E4FFE4"/>
              </a:gs>
            </a:gsLst>
            <a:lin ang="16200000" scaled="0"/>
          </a:gradFill>
          <a:ln cap="flat" cmpd="sng" w="9525">
            <a:solidFill>
              <a:srgbClr val="00AE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906462" y="4535487"/>
            <a:ext cx="1216025" cy="561975"/>
          </a:xfrm>
          <a:prstGeom prst="rect">
            <a:avLst/>
          </a:prstGeom>
          <a:gradFill>
            <a:gsLst>
              <a:gs pos="0">
                <a:srgbClr val="009300"/>
              </a:gs>
              <a:gs pos="80000">
                <a:srgbClr val="00C200"/>
              </a:gs>
              <a:gs pos="100000">
                <a:srgbClr val="00C700"/>
              </a:gs>
            </a:gsLst>
            <a:lin ang="16200000" scaled="0"/>
          </a:gradFill>
          <a:ln cap="flat" cmpd="sng" w="9525">
            <a:solidFill>
              <a:srgbClr val="00AE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513012" y="4827587"/>
            <a:ext cx="1216025" cy="5635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595312" y="5462587"/>
            <a:ext cx="1214437" cy="563562"/>
          </a:xfrm>
          <a:prstGeom prst="rect">
            <a:avLst/>
          </a:prstGeom>
          <a:solidFill>
            <a:srgbClr val="B7C6FE"/>
          </a:solidFill>
          <a:ln cap="flat" cmpd="sng" w="25400">
            <a:solidFill>
              <a:srgbClr val="8691B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2413000" y="5715000"/>
            <a:ext cx="1216025" cy="563562"/>
          </a:xfrm>
          <a:prstGeom prst="rect">
            <a:avLst/>
          </a:prstGeom>
          <a:gradFill>
            <a:gsLst>
              <a:gs pos="0">
                <a:srgbClr val="BCBCBC"/>
              </a:gs>
              <a:gs pos="35000">
                <a:srgbClr val="D0D0D0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391025" y="5064125"/>
            <a:ext cx="754062" cy="431800"/>
          </a:xfrm>
          <a:prstGeom prst="rightArrow">
            <a:avLst>
              <a:gd fmla="val 15416" name="adj1"/>
              <a:gd fmla="val 50000" name="adj2"/>
            </a:avLst>
          </a:prstGeom>
          <a:gradFill>
            <a:gsLst>
              <a:gs pos="0">
                <a:srgbClr val="8CB0FF"/>
              </a:gs>
              <a:gs pos="35000">
                <a:srgbClr val="AEC6FF"/>
              </a:gs>
              <a:gs pos="100000">
                <a:srgbClr val="DDE7FF"/>
              </a:gs>
            </a:gsLst>
            <a:lin ang="16200000" scaled="0"/>
          </a:gradFill>
          <a:ln cap="flat" cmpd="sng" w="9525">
            <a:solidFill>
              <a:srgbClr val="5B8AF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382587" y="4551362"/>
            <a:ext cx="311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82562" y="5427662"/>
            <a:ext cx="322262" cy="382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92087" y="5387975"/>
            <a:ext cx="3127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365375" y="4414837"/>
            <a:ext cx="320675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2374900" y="4375150"/>
            <a:ext cx="311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105025" y="5381625"/>
            <a:ext cx="322262" cy="38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2114550" y="5340350"/>
            <a:ext cx="3127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6650" y="2078037"/>
            <a:ext cx="855662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5387" y="2528887"/>
            <a:ext cx="550862" cy="3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875" y="3636962"/>
            <a:ext cx="1000125" cy="4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5"/>
          <p:cNvGrpSpPr/>
          <p:nvPr/>
        </p:nvGrpSpPr>
        <p:grpSpPr>
          <a:xfrm>
            <a:off x="4890373" y="4009281"/>
            <a:ext cx="528479" cy="132024"/>
            <a:chOff x="4890338" y="4009831"/>
            <a:chExt cx="527760" cy="131400"/>
          </a:xfrm>
        </p:grpSpPr>
        <p:pic>
          <p:nvPicPr>
            <p:cNvPr id="113" name="Google Shape;113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90338" y="4076791"/>
              <a:ext cx="500760" cy="21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74098" y="4009831"/>
              <a:ext cx="144000" cy="13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5"/>
          <p:cNvGrpSpPr/>
          <p:nvPr/>
        </p:nvGrpSpPr>
        <p:grpSpPr>
          <a:xfrm>
            <a:off x="5210711" y="4280444"/>
            <a:ext cx="186253" cy="135078"/>
            <a:chOff x="5211098" y="4280551"/>
            <a:chExt cx="186480" cy="135360"/>
          </a:xfrm>
        </p:grpSpPr>
        <p:pic>
          <p:nvPicPr>
            <p:cNvPr id="116" name="Google Shape;116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211098" y="4287031"/>
              <a:ext cx="182520" cy="128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17578" y="4280551"/>
              <a:ext cx="180000" cy="1234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5"/>
          <p:cNvGrpSpPr/>
          <p:nvPr/>
        </p:nvGrpSpPr>
        <p:grpSpPr>
          <a:xfrm>
            <a:off x="5183677" y="4834849"/>
            <a:ext cx="143121" cy="110887"/>
            <a:chOff x="5183738" y="4834231"/>
            <a:chExt cx="142560" cy="111240"/>
          </a:xfrm>
        </p:grpSpPr>
        <p:pic>
          <p:nvPicPr>
            <p:cNvPr id="119" name="Google Shape;119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183738" y="4856191"/>
              <a:ext cx="142560" cy="89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74098" y="4834231"/>
              <a:ext cx="2916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06418" y="4834231"/>
              <a:ext cx="85680" cy="105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5"/>
          <p:cNvGrpSpPr/>
          <p:nvPr/>
        </p:nvGrpSpPr>
        <p:grpSpPr>
          <a:xfrm>
            <a:off x="5206278" y="5517056"/>
            <a:ext cx="152616" cy="130414"/>
            <a:chOff x="5206418" y="5517871"/>
            <a:chExt cx="152280" cy="129960"/>
          </a:xfrm>
        </p:grpSpPr>
        <p:pic>
          <p:nvPicPr>
            <p:cNvPr id="123" name="Google Shape;123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206418" y="553371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206418" y="5533711"/>
              <a:ext cx="152280" cy="11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234138" y="5517871"/>
              <a:ext cx="102960" cy="10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5"/>
          <p:cNvGrpSpPr/>
          <p:nvPr/>
        </p:nvGrpSpPr>
        <p:grpSpPr>
          <a:xfrm>
            <a:off x="5228477" y="6018647"/>
            <a:ext cx="165368" cy="130528"/>
            <a:chOff x="5229098" y="6019351"/>
            <a:chExt cx="164520" cy="129240"/>
          </a:xfrm>
        </p:grpSpPr>
        <p:pic>
          <p:nvPicPr>
            <p:cNvPr id="127" name="Google Shape;127;p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229098" y="6042031"/>
              <a:ext cx="164520" cy="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287778" y="6019351"/>
              <a:ext cx="94680" cy="1292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Avantages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457200" y="1600200"/>
            <a:ext cx="8459787" cy="427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Réduction du nombre de variables nécessaires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 de la lisibilité de l’algorithme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Chaque valeur de cette structure est accessible directement par une clé.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050" y="3840162"/>
            <a:ext cx="612775" cy="9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  de boucles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73100" y="1816100"/>
            <a:ext cx="8099425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 utiliser les boucles?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qui se produit souvent: nécessité d’appliquer le même traitement à toutes les valeurs.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L'usage du tableau est simplifié par l’utilisation d’une boucle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350" y="3557587"/>
            <a:ext cx="1046162" cy="53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7"/>
          <p:cNvGrpSpPr/>
          <p:nvPr/>
        </p:nvGrpSpPr>
        <p:grpSpPr>
          <a:xfrm>
            <a:off x="6793799" y="3715261"/>
            <a:ext cx="1154286" cy="345053"/>
            <a:chOff x="6794018" y="3715351"/>
            <a:chExt cx="1154520" cy="344520"/>
          </a:xfrm>
        </p:grpSpPr>
        <p:pic>
          <p:nvPicPr>
            <p:cNvPr id="147" name="Google Shape;14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94018" y="3838471"/>
              <a:ext cx="43920" cy="22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20298" y="3837751"/>
              <a:ext cx="195120" cy="132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87338" y="3715351"/>
              <a:ext cx="429840" cy="26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51298" y="3874471"/>
              <a:ext cx="179640" cy="9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65858" y="3761431"/>
              <a:ext cx="85320" cy="15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218" y="3860431"/>
              <a:ext cx="328320" cy="1339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3" name="Google Shape;15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97675" y="882650"/>
            <a:ext cx="16795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41937" y="5103812"/>
            <a:ext cx="825500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Tableaux et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boucle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473075" y="1898650"/>
            <a:ext cx="8383587" cy="4214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L’utilisation d'une boucle permet de parcourir le tableau pour appliquer une opération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chacune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valeurs du tableau.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L’utilisation d'une boucle permet de parcourir le tableau pour appliquer une opération à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seulement quelques unes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valeurs du tableau.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8"/>
          <p:cNvGrpSpPr/>
          <p:nvPr/>
        </p:nvGrpSpPr>
        <p:grpSpPr>
          <a:xfrm>
            <a:off x="1255010" y="3382338"/>
            <a:ext cx="1009827" cy="80980"/>
            <a:chOff x="1255058" y="3381631"/>
            <a:chExt cx="1009800" cy="81720"/>
          </a:xfrm>
        </p:grpSpPr>
        <p:pic>
          <p:nvPicPr>
            <p:cNvPr id="163" name="Google Shape;16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5058" y="34453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7738" y="34453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7738" y="3381631"/>
              <a:ext cx="987120" cy="81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8"/>
          <p:cNvGrpSpPr/>
          <p:nvPr/>
        </p:nvGrpSpPr>
        <p:grpSpPr>
          <a:xfrm>
            <a:off x="1491540" y="4923570"/>
            <a:ext cx="1712743" cy="41763"/>
            <a:chOff x="1492298" y="4924231"/>
            <a:chExt cx="1711440" cy="41040"/>
          </a:xfrm>
        </p:grpSpPr>
        <p:pic>
          <p:nvPicPr>
            <p:cNvPr id="167" name="Google Shape;16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92298" y="49465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9978" y="49357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59978" y="4924231"/>
              <a:ext cx="1643760" cy="410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Vocabulaire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315912" y="1408112"/>
            <a:ext cx="8828087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Ensemble des valeurs: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qui repère une valeur d’un tableau: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ou index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9"/>
          <p:cNvGrpSpPr/>
          <p:nvPr/>
        </p:nvGrpSpPr>
        <p:grpSpPr>
          <a:xfrm>
            <a:off x="5507037" y="3084512"/>
            <a:ext cx="1216025" cy="2900362"/>
            <a:chOff x="4722725" y="3135086"/>
            <a:chExt cx="1215851" cy="2900563"/>
          </a:xfrm>
        </p:grpSpPr>
        <p:sp>
          <p:nvSpPr>
            <p:cNvPr id="178" name="Google Shape;178;p9"/>
            <p:cNvSpPr txBox="1"/>
            <p:nvPr/>
          </p:nvSpPr>
          <p:spPr>
            <a:xfrm>
              <a:off x="4722725" y="3135086"/>
              <a:ext cx="1215851" cy="562707"/>
            </a:xfrm>
            <a:prstGeom prst="rect">
              <a:avLst/>
            </a:prstGeom>
            <a:noFill/>
            <a:ln cap="flat" cmpd="sng" w="9525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4722725" y="3719550"/>
              <a:ext cx="1215851" cy="562707"/>
            </a:xfrm>
            <a:prstGeom prst="rect">
              <a:avLst/>
            </a:prstGeom>
            <a:noFill/>
            <a:ln cap="flat" cmpd="sng" w="9525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4722725" y="4304014"/>
              <a:ext cx="1215851" cy="562707"/>
            </a:xfrm>
            <a:prstGeom prst="rect">
              <a:avLst/>
            </a:prstGeom>
            <a:noFill/>
            <a:ln cap="flat" cmpd="sng" w="9525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4722725" y="4888478"/>
              <a:ext cx="1215851" cy="562707"/>
            </a:xfrm>
            <a:prstGeom prst="rect">
              <a:avLst/>
            </a:prstGeom>
            <a:noFill/>
            <a:ln cap="flat" cmpd="sng" w="9525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4722725" y="5472942"/>
              <a:ext cx="1215851" cy="562707"/>
            </a:xfrm>
            <a:prstGeom prst="rect">
              <a:avLst/>
            </a:prstGeom>
            <a:noFill/>
            <a:ln cap="flat" cmpd="sng" w="9525">
              <a:solidFill>
                <a:srgbClr val="66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9"/>
          <p:cNvSpPr txBox="1"/>
          <p:nvPr/>
        </p:nvSpPr>
        <p:spPr>
          <a:xfrm>
            <a:off x="3770312" y="4189412"/>
            <a:ext cx="1084262" cy="401637"/>
          </a:xfrm>
          <a:prstGeom prst="rect">
            <a:avLst/>
          </a:prstGeom>
          <a:gradFill>
            <a:gsLst>
              <a:gs pos="0">
                <a:srgbClr val="9CFB9C"/>
              </a:gs>
              <a:gs pos="35000">
                <a:srgbClr val="BAFBBA"/>
              </a:gs>
              <a:gs pos="100000">
                <a:srgbClr val="E4FFE4"/>
              </a:gs>
            </a:gsLst>
            <a:lin ang="16200000" scaled="0"/>
          </a:gradFill>
          <a:ln cap="flat" cmpd="sng" w="9525">
            <a:solidFill>
              <a:srgbClr val="00AE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 rot="10800000">
            <a:off x="6913562" y="4471987"/>
            <a:ext cx="642937" cy="1587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</p:cxnSp>
      <p:sp>
        <p:nvSpPr>
          <p:cNvPr id="185" name="Google Shape;185;p9"/>
          <p:cNvSpPr txBox="1"/>
          <p:nvPr/>
        </p:nvSpPr>
        <p:spPr>
          <a:xfrm>
            <a:off x="7762875" y="4252912"/>
            <a:ext cx="7985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073650" y="3024187"/>
            <a:ext cx="282575" cy="2914650"/>
          </a:xfrm>
          <a:prstGeom prst="leftBrace">
            <a:avLst>
              <a:gd fmla="val 175" name="adj1"/>
              <a:gd fmla="val 10875" name="adj2"/>
            </a:avLst>
          </a:prstGeom>
          <a:noFill/>
          <a:ln cap="flat" cmpd="sng" w="9525">
            <a:solidFill>
              <a:srgbClr val="0B52F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 rot="-5400000">
            <a:off x="6978650" y="3773487"/>
            <a:ext cx="6731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</p:cxnSp>
      <p:cxnSp>
        <p:nvCxnSpPr>
          <p:cNvPr id="188" name="Google Shape;188;p9"/>
          <p:cNvCxnSpPr/>
          <p:nvPr/>
        </p:nvCxnSpPr>
        <p:spPr>
          <a:xfrm flipH="1" rot="-5400000">
            <a:off x="7004050" y="5033962"/>
            <a:ext cx="652462" cy="11112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233362" y="1584325"/>
            <a:ext cx="6513512" cy="782637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margearticle[12]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231775" y="2395537"/>
            <a:ext cx="8478837" cy="296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plus petit indice dans le tableau est: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de la déclaration du tableau: nombre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indexation: de 0 à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- 1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Valeurs sont toutes de même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255587" y="5472112"/>
            <a:ext cx="8709025" cy="78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on a déclaré un tableau de 12 éléments.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8761412" y="5899150"/>
            <a:ext cx="252412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99" name="Google Shape;199;p10"/>
          <p:cNvCxnSpPr/>
          <p:nvPr/>
        </p:nvCxnSpPr>
        <p:spPr>
          <a:xfrm flipH="1" rot="5400000">
            <a:off x="7049293" y="3923506"/>
            <a:ext cx="3908425" cy="20637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200" name="Google Shape;200;p10"/>
          <p:cNvCxnSpPr/>
          <p:nvPr/>
        </p:nvCxnSpPr>
        <p:spPr>
          <a:xfrm rot="10800000">
            <a:off x="6923087" y="2009775"/>
            <a:ext cx="2060575" cy="1587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3000">
              <a:srgbClr val="000000">
                <a:alpha val="34509"/>
              </a:srgbClr>
            </a:outerShdw>
          </a:effectLst>
        </p:spPr>
      </p:cxnSp>
      <p:grpSp>
        <p:nvGrpSpPr>
          <p:cNvPr id="201" name="Google Shape;201;p10"/>
          <p:cNvGrpSpPr/>
          <p:nvPr/>
        </p:nvGrpSpPr>
        <p:grpSpPr>
          <a:xfrm>
            <a:off x="362835" y="81487"/>
            <a:ext cx="1455556" cy="281165"/>
            <a:chOff x="363338" y="82231"/>
            <a:chExt cx="1455480" cy="281160"/>
          </a:xfrm>
        </p:grpSpPr>
        <p:pic>
          <p:nvPicPr>
            <p:cNvPr id="202" name="Google Shape;20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0178" y="173671"/>
              <a:ext cx="22680" cy="38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3338" y="111751"/>
              <a:ext cx="263880" cy="222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378" y="183031"/>
              <a:ext cx="442440" cy="177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3538" y="216511"/>
              <a:ext cx="11952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77218" y="82231"/>
              <a:ext cx="741600" cy="281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10"/>
          <p:cNvGrpSpPr/>
          <p:nvPr/>
        </p:nvGrpSpPr>
        <p:grpSpPr>
          <a:xfrm>
            <a:off x="402160" y="473971"/>
            <a:ext cx="1537242" cy="223633"/>
            <a:chOff x="402218" y="473911"/>
            <a:chExt cx="1536840" cy="223920"/>
          </a:xfrm>
        </p:grpSpPr>
        <p:pic>
          <p:nvPicPr>
            <p:cNvPr id="208" name="Google Shape;208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2218" y="486511"/>
              <a:ext cx="709200" cy="211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53538" y="473911"/>
              <a:ext cx="81720" cy="1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76218" y="575071"/>
              <a:ext cx="371520" cy="98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599938" y="532591"/>
              <a:ext cx="6840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28018" y="558871"/>
              <a:ext cx="311040" cy="1018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3" name="Google Shape;213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7362" y="2101850"/>
            <a:ext cx="942975" cy="41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10"/>
          <p:cNvGrpSpPr/>
          <p:nvPr/>
        </p:nvGrpSpPr>
        <p:grpSpPr>
          <a:xfrm>
            <a:off x="2102377" y="2037609"/>
            <a:ext cx="1846437" cy="82444"/>
            <a:chOff x="2101778" y="2037751"/>
            <a:chExt cx="1846800" cy="82080"/>
          </a:xfrm>
        </p:grpSpPr>
        <p:pic>
          <p:nvPicPr>
            <p:cNvPr id="215" name="Google Shape;215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101778" y="206799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101778" y="205683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101778" y="2037751"/>
              <a:ext cx="1541160" cy="6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930578" y="2099311"/>
              <a:ext cx="18000" cy="20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0"/>
          <p:cNvGrpSpPr/>
          <p:nvPr/>
        </p:nvGrpSpPr>
        <p:grpSpPr>
          <a:xfrm>
            <a:off x="3733101" y="1130822"/>
            <a:ext cx="711368" cy="320857"/>
            <a:chOff x="3733298" y="1130911"/>
            <a:chExt cx="711720" cy="320760"/>
          </a:xfrm>
        </p:grpSpPr>
        <p:pic>
          <p:nvPicPr>
            <p:cNvPr id="220" name="Google Shape;220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733298" y="1142431"/>
              <a:ext cx="158400" cy="309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942098" y="1209751"/>
              <a:ext cx="36360" cy="183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054778" y="1190311"/>
              <a:ext cx="235800" cy="161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267538" y="1130911"/>
              <a:ext cx="177480" cy="2959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915275" y="4054475"/>
            <a:ext cx="547687" cy="2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202487" y="3444875"/>
            <a:ext cx="198437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840162" y="4629150"/>
            <a:ext cx="1238250" cy="5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0"/>
          <p:cNvGrpSpPr/>
          <p:nvPr/>
        </p:nvGrpSpPr>
        <p:grpSpPr>
          <a:xfrm>
            <a:off x="7147806" y="2282110"/>
            <a:ext cx="1357499" cy="387552"/>
            <a:chOff x="7148258" y="2282191"/>
            <a:chExt cx="1356840" cy="387000"/>
          </a:xfrm>
        </p:grpSpPr>
        <p:pic>
          <p:nvPicPr>
            <p:cNvPr id="228" name="Google Shape;22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160498" y="2319631"/>
              <a:ext cx="42120" cy="27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148258" y="2282191"/>
              <a:ext cx="1356840" cy="38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565498" y="2361391"/>
              <a:ext cx="2952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1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554338" y="2350231"/>
              <a:ext cx="76680" cy="28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1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009738" y="2338711"/>
              <a:ext cx="48240" cy="266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10"/>
          <p:cNvGrpSpPr/>
          <p:nvPr/>
        </p:nvGrpSpPr>
        <p:grpSpPr>
          <a:xfrm>
            <a:off x="7279168" y="2723148"/>
            <a:ext cx="209813" cy="136582"/>
            <a:chOff x="7279658" y="2722831"/>
            <a:chExt cx="208800" cy="137520"/>
          </a:xfrm>
        </p:grpSpPr>
        <p:pic>
          <p:nvPicPr>
            <p:cNvPr id="234" name="Google Shape;234;p1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391978" y="2729671"/>
              <a:ext cx="22680" cy="2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384778" y="272283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10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279658" y="2722831"/>
              <a:ext cx="208800" cy="137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7" name="Google Shape;237;p10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7834312" y="2744787"/>
            <a:ext cx="31750" cy="134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0"/>
          <p:cNvGrpSpPr/>
          <p:nvPr/>
        </p:nvGrpSpPr>
        <p:grpSpPr>
          <a:xfrm>
            <a:off x="8198424" y="2734555"/>
            <a:ext cx="185819" cy="146236"/>
            <a:chOff x="8197658" y="2733991"/>
            <a:chExt cx="186840" cy="146160"/>
          </a:xfrm>
        </p:grpSpPr>
        <p:pic>
          <p:nvPicPr>
            <p:cNvPr id="239" name="Google Shape;239;p1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288018" y="276819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197658" y="2733991"/>
              <a:ext cx="108360" cy="6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229698" y="2733991"/>
              <a:ext cx="154800" cy="146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10"/>
          <p:cNvGrpSpPr/>
          <p:nvPr/>
        </p:nvGrpSpPr>
        <p:grpSpPr>
          <a:xfrm>
            <a:off x="8517826" y="2203970"/>
            <a:ext cx="476419" cy="368487"/>
            <a:chOff x="8517698" y="2203711"/>
            <a:chExt cx="476640" cy="368280"/>
          </a:xfrm>
        </p:grpSpPr>
        <p:pic>
          <p:nvPicPr>
            <p:cNvPr id="243" name="Google Shape;243;p10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617058" y="2293711"/>
              <a:ext cx="168480" cy="166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0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517698" y="2203711"/>
              <a:ext cx="476640" cy="368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" name="Google Shape;245;p10"/>
          <p:cNvGrpSpPr/>
          <p:nvPr/>
        </p:nvGrpSpPr>
        <p:grpSpPr>
          <a:xfrm>
            <a:off x="3015545" y="4031537"/>
            <a:ext cx="2289356" cy="665001"/>
            <a:chOff x="3015818" y="4032151"/>
            <a:chExt cx="2288880" cy="664200"/>
          </a:xfrm>
        </p:grpSpPr>
        <p:pic>
          <p:nvPicPr>
            <p:cNvPr id="246" name="Google Shape;246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027338" y="413403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016178" y="412287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0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015818" y="4120351"/>
              <a:ext cx="917280" cy="5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1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3050018" y="4032151"/>
              <a:ext cx="2254680" cy="6368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201612" y="1797050"/>
            <a:ext cx="8478837" cy="4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Faire attention à la convention du langage (programmation)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plus petit indice peut être: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de la déclaration , taille du tableau : nombre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variables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peuvent ne pas être de même type: Très rare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362" y="3371850"/>
            <a:ext cx="249237" cy="42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225" y="4513262"/>
            <a:ext cx="506412" cy="2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11"/>
          <p:cNvGrpSpPr/>
          <p:nvPr/>
        </p:nvGrpSpPr>
        <p:grpSpPr>
          <a:xfrm>
            <a:off x="5836176" y="4088304"/>
            <a:ext cx="2514776" cy="316155"/>
            <a:chOff x="5836418" y="4088671"/>
            <a:chExt cx="2514960" cy="315000"/>
          </a:xfrm>
        </p:grpSpPr>
        <p:pic>
          <p:nvPicPr>
            <p:cNvPr id="260" name="Google Shape;26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36418" y="4088671"/>
              <a:ext cx="155520" cy="142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85818" y="4088671"/>
              <a:ext cx="44280" cy="31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28578" y="4371271"/>
              <a:ext cx="165600" cy="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01178" y="4209991"/>
              <a:ext cx="858960" cy="10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10378" y="4105951"/>
              <a:ext cx="226800" cy="20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75498" y="4124311"/>
              <a:ext cx="40716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30538" y="4111351"/>
              <a:ext cx="180720" cy="14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186498" y="4122871"/>
              <a:ext cx="164880" cy="122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156258" y="4111351"/>
              <a:ext cx="150120" cy="207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11"/>
          <p:cNvGrpSpPr/>
          <p:nvPr/>
        </p:nvGrpSpPr>
        <p:grpSpPr>
          <a:xfrm>
            <a:off x="6356873" y="2438961"/>
            <a:ext cx="2168705" cy="236644"/>
            <a:chOff x="6356978" y="2438431"/>
            <a:chExt cx="2168280" cy="237600"/>
          </a:xfrm>
        </p:grpSpPr>
        <p:pic>
          <p:nvPicPr>
            <p:cNvPr id="270" name="Google Shape;270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356978" y="2438431"/>
              <a:ext cx="239040" cy="237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730298" y="2536711"/>
              <a:ext cx="583920" cy="4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195778" y="2485231"/>
              <a:ext cx="174600" cy="14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1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98178" y="2508271"/>
              <a:ext cx="317880" cy="136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906418" y="2485591"/>
              <a:ext cx="124920" cy="14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073458" y="2508271"/>
              <a:ext cx="137520" cy="105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044658" y="2508271"/>
              <a:ext cx="137160" cy="161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243018" y="2536711"/>
              <a:ext cx="148680" cy="3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73058" y="2446711"/>
              <a:ext cx="52200" cy="1688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9" name="Google Shape;279;p1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8737" y="4567237"/>
            <a:ext cx="1039812" cy="4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345237" y="5149850"/>
            <a:ext cx="922337" cy="52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11"/>
          <p:cNvGrpSpPr/>
          <p:nvPr/>
        </p:nvGrpSpPr>
        <p:grpSpPr>
          <a:xfrm>
            <a:off x="815273" y="5331375"/>
            <a:ext cx="2025825" cy="322392"/>
            <a:chOff x="815138" y="5330671"/>
            <a:chExt cx="2026080" cy="323280"/>
          </a:xfrm>
        </p:grpSpPr>
        <p:pic>
          <p:nvPicPr>
            <p:cNvPr id="282" name="Google Shape;282;p1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5138" y="5521471"/>
              <a:ext cx="1166040" cy="132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432618" y="5352991"/>
              <a:ext cx="330480" cy="26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1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346938" y="5330671"/>
              <a:ext cx="494280" cy="2833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Indice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201612" y="1797050"/>
            <a:ext cx="8478837" cy="296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Faire attention à l’indice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 est toujours un entier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L’indice ne prendra que les valeurs entre 0 et max-1  (ou 1 et max). Sinon erreur.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637" y="2846387"/>
            <a:ext cx="1158875" cy="1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6162" y="3489325"/>
            <a:ext cx="266700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675" y="4032250"/>
            <a:ext cx="593725" cy="269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12"/>
          <p:cNvGrpSpPr/>
          <p:nvPr/>
        </p:nvGrpSpPr>
        <p:grpSpPr>
          <a:xfrm>
            <a:off x="1751895" y="4479252"/>
            <a:ext cx="1144410" cy="323608"/>
            <a:chOff x="1752218" y="4478911"/>
            <a:chExt cx="1144080" cy="324720"/>
          </a:xfrm>
        </p:grpSpPr>
        <p:pic>
          <p:nvPicPr>
            <p:cNvPr id="296" name="Google Shape;296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218" y="4506991"/>
              <a:ext cx="277560" cy="296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98818" y="4638391"/>
              <a:ext cx="293040" cy="1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80418" y="4478911"/>
              <a:ext cx="65520" cy="255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74378" y="4574311"/>
              <a:ext cx="14220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649698" y="4634791"/>
              <a:ext cx="246600" cy="126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" name="Google Shape;301;p12"/>
          <p:cNvGrpSpPr/>
          <p:nvPr/>
        </p:nvGrpSpPr>
        <p:grpSpPr>
          <a:xfrm>
            <a:off x="3264424" y="4458594"/>
            <a:ext cx="964151" cy="331588"/>
            <a:chOff x="3264578" y="4458031"/>
            <a:chExt cx="964080" cy="331920"/>
          </a:xfrm>
        </p:grpSpPr>
        <p:pic>
          <p:nvPicPr>
            <p:cNvPr id="302" name="Google Shape;302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275738" y="4619311"/>
              <a:ext cx="48600" cy="10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264578" y="4513471"/>
              <a:ext cx="221040" cy="9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447098" y="4585471"/>
              <a:ext cx="177840" cy="10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656618" y="4458031"/>
              <a:ext cx="232560" cy="30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953258" y="4641991"/>
              <a:ext cx="275400" cy="97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051538" y="4648111"/>
              <a:ext cx="89280" cy="141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" name="Google Shape;308;p12"/>
          <p:cNvGrpSpPr/>
          <p:nvPr/>
        </p:nvGrpSpPr>
        <p:grpSpPr>
          <a:xfrm>
            <a:off x="5001151" y="4264920"/>
            <a:ext cx="3928011" cy="779621"/>
            <a:chOff x="5001218" y="4264711"/>
            <a:chExt cx="3928320" cy="780480"/>
          </a:xfrm>
        </p:grpSpPr>
        <p:pic>
          <p:nvPicPr>
            <p:cNvPr id="309" name="Google Shape;309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120378" y="4416271"/>
              <a:ext cx="48240" cy="26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01218" y="4413391"/>
              <a:ext cx="351000" cy="6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082218" y="4690591"/>
              <a:ext cx="27216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433218" y="4607791"/>
              <a:ext cx="202680" cy="94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660738" y="4446151"/>
              <a:ext cx="265680" cy="281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973938" y="4596991"/>
              <a:ext cx="283680" cy="108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052058" y="4585471"/>
              <a:ext cx="142920" cy="18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497738" y="4529671"/>
              <a:ext cx="544680" cy="16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1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003898" y="4389271"/>
              <a:ext cx="105480" cy="303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1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989858" y="4528951"/>
              <a:ext cx="14292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307378" y="4505551"/>
              <a:ext cx="161280" cy="14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2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450298" y="4316191"/>
              <a:ext cx="32076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1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998578" y="4264711"/>
              <a:ext cx="195480" cy="38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180378" y="4481791"/>
              <a:ext cx="299520" cy="152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502938" y="4495111"/>
              <a:ext cx="182880" cy="78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744858" y="4325911"/>
              <a:ext cx="184680" cy="276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160698" y="4800031"/>
              <a:ext cx="3662280" cy="2451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dynamique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201612" y="1797050"/>
            <a:ext cx="8478837" cy="343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ne connaît pas à priori le nombre de variables ou la taille exacte du tableau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du déroulement de l’algorithme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avant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traitement donné, on aura le nombre d’éléments requis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6112" y="3363912"/>
            <a:ext cx="189865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7937" y="4748212"/>
            <a:ext cx="266700" cy="1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Stratégie Tableau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dynamique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201612" y="1797050"/>
            <a:ext cx="8478837" cy="197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Déclarer le tableau dans l’entête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Redimensionner le tableau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utilisation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357187" y="4081462"/>
            <a:ext cx="8478837" cy="197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tableau ne peut être utilisé s’il n y’a pas eu de redimensionnement.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100" y="2601912"/>
            <a:ext cx="336550" cy="1349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4"/>
          <p:cNvGrpSpPr/>
          <p:nvPr/>
        </p:nvGrpSpPr>
        <p:grpSpPr>
          <a:xfrm>
            <a:off x="2800873" y="3467926"/>
            <a:ext cx="3192645" cy="97135"/>
            <a:chOff x="2801618" y="3468391"/>
            <a:chExt cx="3191760" cy="96480"/>
          </a:xfrm>
        </p:grpSpPr>
        <p:pic>
          <p:nvPicPr>
            <p:cNvPr id="345" name="Google Shape;34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01618" y="354687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01618" y="354687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01618" y="3468391"/>
              <a:ext cx="3191760" cy="964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Stratégie Tableau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dynamique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201612" y="1797050"/>
            <a:ext cx="8478837" cy="424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margearticle [ ] en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totalarticles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"Combien y a-t-il d’articles à saisir ? 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 totalarticles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Redim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margearticle[totalarticles]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…………..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12" y="5197475"/>
            <a:ext cx="930275" cy="7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274887"/>
            <a:ext cx="28575" cy="2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5"/>
          <p:cNvGrpSpPr/>
          <p:nvPr/>
        </p:nvGrpSpPr>
        <p:grpSpPr>
          <a:xfrm>
            <a:off x="3806114" y="1485223"/>
            <a:ext cx="345907" cy="182687"/>
            <a:chOff x="3805658" y="1484791"/>
            <a:chExt cx="345600" cy="183240"/>
          </a:xfrm>
        </p:grpSpPr>
        <p:pic>
          <p:nvPicPr>
            <p:cNvPr id="358" name="Google Shape;35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5658" y="1503511"/>
              <a:ext cx="41760" cy="16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93858" y="1484791"/>
              <a:ext cx="257400" cy="169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15"/>
          <p:cNvGrpSpPr/>
          <p:nvPr/>
        </p:nvGrpSpPr>
        <p:grpSpPr>
          <a:xfrm>
            <a:off x="4153811" y="1713450"/>
            <a:ext cx="264878" cy="197002"/>
            <a:chOff x="4153058" y="1713031"/>
            <a:chExt cx="265680" cy="197280"/>
          </a:xfrm>
        </p:grpSpPr>
        <p:pic>
          <p:nvPicPr>
            <p:cNvPr id="361" name="Google Shape;361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70858" y="1740391"/>
              <a:ext cx="2484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19298" y="1713031"/>
              <a:ext cx="199440" cy="17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153058" y="1808431"/>
              <a:ext cx="174960" cy="1018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4" name="Google Shape;36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0425" y="3987800"/>
            <a:ext cx="17462" cy="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03450" y="2846387"/>
            <a:ext cx="17462" cy="1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15"/>
          <p:cNvGrpSpPr/>
          <p:nvPr/>
        </p:nvGrpSpPr>
        <p:grpSpPr>
          <a:xfrm>
            <a:off x="3354610" y="2824868"/>
            <a:ext cx="42043" cy="33161"/>
            <a:chOff x="3354938" y="2824351"/>
            <a:chExt cx="40680" cy="33840"/>
          </a:xfrm>
        </p:grpSpPr>
        <p:pic>
          <p:nvPicPr>
            <p:cNvPr id="367" name="Google Shape;367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77618" y="28243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77618" y="2824351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354938" y="2835511"/>
              <a:ext cx="33840" cy="22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0" name="Google Shape;370;p15"/>
          <p:cNvGrpSpPr/>
          <p:nvPr/>
        </p:nvGrpSpPr>
        <p:grpSpPr>
          <a:xfrm>
            <a:off x="748573" y="5312278"/>
            <a:ext cx="265339" cy="308556"/>
            <a:chOff x="748898" y="5312671"/>
            <a:chExt cx="264600" cy="307800"/>
          </a:xfrm>
        </p:grpSpPr>
        <p:pic>
          <p:nvPicPr>
            <p:cNvPr id="371" name="Google Shape;371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62658" y="5340031"/>
              <a:ext cx="63720" cy="280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48898" y="5312671"/>
              <a:ext cx="264600" cy="108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à 2 dimensions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201612" y="1797050"/>
            <a:ext cx="8569325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 exemple, pour un article on veut avoir le suivi de sa marge, quantité et sa taxe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utilise soit trois tableaux séparés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margearticle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[],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qtearticle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  et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taxeearticle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[], soit on utilise un tableau à 2 dimensions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infoarticle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, ]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 à 2 dimensions</a:t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233362" y="1584325"/>
            <a:ext cx="6513512" cy="782637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infoarticle[3,12]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231775" y="2395537"/>
            <a:ext cx="8478837" cy="296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plus petit indice dans le tableau est: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 de la déclaration: nombre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- 1	pour chacune des 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sont toutes de même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Tableau à 2 dimensions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233362" y="1584325"/>
            <a:ext cx="6708775" cy="484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infoarticle[3,12]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Entier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indicei &lt;- 0 à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Écrire ‘’article:’’, indicei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Écrire ‘’Marge est:’’,infoarticle[0,indicei]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Écrire ‘’Qté est:’’,infoarticle[1,indicei]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Écrire ‘’Taxe est:’’, infoarticle[2,indicei]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Indicei suivant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401" name="Google Shape;401;p19"/>
          <p:cNvSpPr txBox="1"/>
          <p:nvPr/>
        </p:nvSpPr>
        <p:spPr>
          <a:xfrm>
            <a:off x="382587" y="1374775"/>
            <a:ext cx="8245475" cy="42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Tableaux multidimensionnels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