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7099300" cy="10234600"/>
  <p:embeddedFontLst>
    <p:embeddedFont>
      <p:font typeface="Arial Black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224">
          <p15:clr>
            <a:srgbClr val="000000"/>
          </p15:clr>
        </p15:guide>
        <p15:guide id="2" pos="2236">
          <p15:clr>
            <a:srgbClr val="000000"/>
          </p15:clr>
        </p15:guide>
      </p15:notesGuideLst>
    </p:ext>
    <p:ext uri="GoogleSlidesCustomDataVersion2">
      <go:slidesCustomData xmlns:go="http://customooxmlschemas.google.com/" r:id="rId29" roundtripDataSignature="AMtx7miSCBMsfNcqnnx7JhWCySWlEPEd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224" orient="horz"/>
        <p:guide pos="223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ArialBlack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7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1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1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1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1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2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2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2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8" name="Google Shape;28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2" name="Google Shape;32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3" name="Google Shape;33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9" name="Google Shape;39;p3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0" name="Google Shape;40;p3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1" name="Google Shape;41;p3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2" name="Google Shape;42;p3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5" name="Google Shape;45;p3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6" name="Google Shape;46;p3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9" name="Google Shape;49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/>
        </p:nvSpPr>
        <p:spPr>
          <a:xfrm>
            <a:off x="1668462" y="6496050"/>
            <a:ext cx="7475537" cy="376237"/>
          </a:xfrm>
          <a:prstGeom prst="rect">
            <a:avLst/>
          </a:prstGeom>
          <a:solidFill>
            <a:schemeClr val="hlink"/>
          </a:solidFill>
          <a:ln cap="flat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3"/>
          <p:cNvSpPr txBox="1"/>
          <p:nvPr/>
        </p:nvSpPr>
        <p:spPr>
          <a:xfrm>
            <a:off x="0" y="6524625"/>
            <a:ext cx="5302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3"/>
          <p:cNvSpPr txBox="1"/>
          <p:nvPr/>
        </p:nvSpPr>
        <p:spPr>
          <a:xfrm>
            <a:off x="481012" y="6464300"/>
            <a:ext cx="6157912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Algorithmes et structures de données</a:t>
            </a: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BDEB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3"/>
          <p:cNvSpPr txBox="1"/>
          <p:nvPr/>
        </p:nvSpPr>
        <p:spPr>
          <a:xfrm>
            <a:off x="6802437" y="6524625"/>
            <a:ext cx="23415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Hafed Benteftifa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655637" y="1960562"/>
            <a:ext cx="7772400" cy="881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b="1" i="0" lang="en-US" sz="4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Fonctions et procédures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1382712" y="4160837"/>
            <a:ext cx="6400800" cy="1008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Hafed Benteftifa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Agenda</a:t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457200" y="1600200"/>
            <a:ext cx="8229600" cy="3776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objectifs de ce cours sont les suivants:</a:t>
            </a:r>
            <a:b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Besoins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Procédures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Rappel</a:t>
            </a:r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457200" y="1600200"/>
            <a:ext cx="8383587" cy="357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Suite d’instructions, qui une fois exécutée correctement, conduit à un résultat donné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algorithme doit donc contenir uniquement des instructions compréhensibles par celui qui devra l’exécuter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Besoin</a:t>
            </a:r>
            <a:endParaRPr/>
          </a:p>
        </p:txBody>
      </p:sp>
      <p:sp>
        <p:nvSpPr>
          <p:cNvPr id="77" name="Google Shape;77;p4"/>
          <p:cNvSpPr txBox="1"/>
          <p:nvPr/>
        </p:nvSpPr>
        <p:spPr>
          <a:xfrm>
            <a:off x="457200" y="1600200"/>
            <a:ext cx="8383587" cy="463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673100" y="1816100"/>
            <a:ext cx="8099425" cy="338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Pourquoi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 cours de l’exécution, besoin d’effectuer une succession de traitements qui se répètent (à l’identique ou similairement) dans d’autres endroits de l’algorithme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Besoin d’aérer le code (pour plus de lisibilité)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Fonction</a:t>
            </a:r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531812" y="1555750"/>
            <a:ext cx="6494462" cy="171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•"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Isoler ces instructions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•"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Définir la valeur à retourner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5499100" y="4243387"/>
            <a:ext cx="2957512" cy="827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5"/>
          <p:cNvCxnSpPr/>
          <p:nvPr/>
        </p:nvCxnSpPr>
        <p:spPr>
          <a:xfrm>
            <a:off x="7178675" y="1527175"/>
            <a:ext cx="15875" cy="2863850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Fonction</a:t>
            </a:r>
            <a:endParaRPr/>
          </a:p>
        </p:txBody>
      </p:sp>
      <p:sp>
        <p:nvSpPr>
          <p:cNvPr id="94" name="Google Shape;94;p6"/>
          <p:cNvSpPr txBox="1"/>
          <p:nvPr/>
        </p:nvSpPr>
        <p:spPr>
          <a:xfrm>
            <a:off x="233362" y="1561475"/>
            <a:ext cx="7158000" cy="39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Fonction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calculersalaire(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Réel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Renvoyer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fonction</a:t>
            </a:r>
            <a:endParaRPr/>
          </a:p>
        </p:txBody>
      </p:sp>
      <p:sp>
        <p:nvSpPr>
          <p:cNvPr id="101" name="Google Shape;101;p7"/>
          <p:cNvSpPr txBox="1"/>
          <p:nvPr/>
        </p:nvSpPr>
        <p:spPr>
          <a:xfrm>
            <a:off x="315912" y="1770062"/>
            <a:ext cx="8583612" cy="4662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Fonction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suite d’instructions pour un traitement donné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Réutilisable par le programme principal autant de fois que c’est nécessaire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Retourne une valeur dont le type est spécifié dans la déclaration de la fonction 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Arguments</a:t>
            </a:r>
            <a:endParaRPr/>
          </a:p>
        </p:txBody>
      </p:sp>
      <p:sp>
        <p:nvSpPr>
          <p:cNvPr id="108" name="Google Shape;108;p8"/>
          <p:cNvSpPr txBox="1"/>
          <p:nvPr/>
        </p:nvSpPr>
        <p:spPr>
          <a:xfrm>
            <a:off x="4945062" y="3695700"/>
            <a:ext cx="2554287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Paramètres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233362" y="1487487"/>
            <a:ext cx="8486775" cy="353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Fonction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calculersalaire(taux en réel, nbreenfant en entier)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Réel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salaire en Réel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Instruction(s)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Renvoyer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salaire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8"/>
          <p:cNvCxnSpPr/>
          <p:nvPr/>
        </p:nvCxnSpPr>
        <p:spPr>
          <a:xfrm rot="10800000">
            <a:off x="6340475" y="2233612"/>
            <a:ext cx="0" cy="1363662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1" name="Google Shape;111;p8"/>
          <p:cNvSpPr txBox="1"/>
          <p:nvPr/>
        </p:nvSpPr>
        <p:spPr>
          <a:xfrm>
            <a:off x="155575" y="4894262"/>
            <a:ext cx="8745537" cy="1154112"/>
          </a:xfrm>
          <a:prstGeom prst="rect">
            <a:avLst/>
          </a:prstGeom>
          <a:gradFill>
            <a:gsLst>
              <a:gs pos="0">
                <a:srgbClr val="BFD1FF"/>
              </a:gs>
              <a:gs pos="35000">
                <a:srgbClr val="D1DEFF"/>
              </a:gs>
              <a:gs pos="100000">
                <a:srgbClr val="EBF0FF"/>
              </a:gs>
            </a:gsLst>
            <a:lin ang="16200000" scaled="0"/>
          </a:gradFill>
          <a:ln cap="flat" cmpd="sng" w="9525">
            <a:solidFill>
              <a:srgbClr val="B1C1F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peut utiliser autant de paramètres que c’est nécessaire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Appel de fonction</a:t>
            </a:r>
            <a:endParaRPr/>
          </a:p>
        </p:txBody>
      </p:sp>
      <p:sp>
        <p:nvSpPr>
          <p:cNvPr id="118" name="Google Shape;118;p9"/>
          <p:cNvSpPr txBox="1"/>
          <p:nvPr/>
        </p:nvSpPr>
        <p:spPr>
          <a:xfrm>
            <a:off x="195262" y="1222375"/>
            <a:ext cx="8408987" cy="517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Fonction calculersalaire(taux en Réel, enfTotal en entier) en Réel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renvoyer salaire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 calculsalaire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tauximposition, sal en Réel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nombreenf en Entier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tauximposition &lt;- .1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Nombreenf &lt;-3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 &lt;- </a:t>
            </a:r>
            <a:r>
              <a:rPr b="0" i="0" lang="en-US" sz="2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calculersalaire(tauximposition,nombreenf)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Écrire ‘’Le salaire est:’’ &amp; sal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Procédure</a:t>
            </a:r>
            <a:endParaRPr/>
          </a:p>
        </p:txBody>
      </p:sp>
      <p:sp>
        <p:nvSpPr>
          <p:cNvPr id="125" name="Google Shape;125;p10"/>
          <p:cNvSpPr txBox="1"/>
          <p:nvPr/>
        </p:nvSpPr>
        <p:spPr>
          <a:xfrm>
            <a:off x="233362" y="1584325"/>
            <a:ext cx="8674100" cy="3165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Même fonctionnalité qu’une fonction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….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faire si notre suite d’instructions n’est pas destinée à renvoyer une valeur et effectue seulement un traitement sans renvoi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faire si notre suite d’instructions est destinée à renvoyer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plusieurs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valeurs ?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Procédure</a:t>
            </a:r>
            <a:endParaRPr/>
          </a:p>
        </p:txBody>
      </p:sp>
      <p:sp>
        <p:nvSpPr>
          <p:cNvPr id="132" name="Google Shape;132;p11"/>
          <p:cNvSpPr txBox="1"/>
          <p:nvPr/>
        </p:nvSpPr>
        <p:spPr>
          <a:xfrm>
            <a:off x="233362" y="1584325"/>
            <a:ext cx="8910637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Possède des fonctionnalités qu’une fonction ne peut fournir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suite d’instructions peut effectuer un traitement sans renvoi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suite d’instructions peut renvoyer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plusieurs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valeurs 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Procédure</a:t>
            </a:r>
            <a:endParaRPr/>
          </a:p>
        </p:txBody>
      </p:sp>
      <p:sp>
        <p:nvSpPr>
          <p:cNvPr id="139" name="Google Shape;139;p12"/>
          <p:cNvSpPr txBox="1"/>
          <p:nvPr/>
        </p:nvSpPr>
        <p:spPr>
          <a:xfrm>
            <a:off x="233362" y="1584325"/>
            <a:ext cx="7158037" cy="3929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Procédure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effacerecran()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Procédure- cas général</a:t>
            </a:r>
            <a:endParaRPr/>
          </a:p>
        </p:txBody>
      </p:sp>
      <p:sp>
        <p:nvSpPr>
          <p:cNvPr id="146" name="Google Shape;146;p13"/>
          <p:cNvSpPr txBox="1"/>
          <p:nvPr/>
        </p:nvSpPr>
        <p:spPr>
          <a:xfrm>
            <a:off x="233362" y="1584325"/>
            <a:ext cx="7158037" cy="3929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Procédure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effacerecran(arg1 en entier, arg2 en caractère,…)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Procédure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233362" y="1243012"/>
            <a:ext cx="8910637" cy="507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possède pas d’instructions de renvoi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 niveau du programme principal, n’est pas utilisé pour une affectation à une variable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………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effacerecran(val1, val2,…)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………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Fin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Possède des paramètres qui peuvent fonctionner en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entrée-sortie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/>
          <p:nvPr>
            <p:ph type="title"/>
          </p:nvPr>
        </p:nvSpPr>
        <p:spPr>
          <a:xfrm>
            <a:off x="457200" y="274637"/>
            <a:ext cx="8220075" cy="126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Procédure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Arguments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233362" y="1465262"/>
            <a:ext cx="8910637" cy="4500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Arguments (paramètres) fonctionnent en entrée-sortie.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Entrée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valeur de la variable du programme principal utilisée comme argument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sera pas modifiée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 niveau de la procédure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Sortie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valeur de la variable du programme principal utilisée comme argument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peut être modifié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 niveau de la procédure et sera répercutée au niveau du programme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type="title"/>
          </p:nvPr>
        </p:nvSpPr>
        <p:spPr>
          <a:xfrm>
            <a:off x="457200" y="274637"/>
            <a:ext cx="8220075" cy="126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Procédure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Arguments</a:t>
            </a:r>
            <a:endParaRPr/>
          </a:p>
        </p:txBody>
      </p:sp>
      <p:grpSp>
        <p:nvGrpSpPr>
          <p:cNvPr id="167" name="Google Shape;167;p16"/>
          <p:cNvGrpSpPr/>
          <p:nvPr/>
        </p:nvGrpSpPr>
        <p:grpSpPr>
          <a:xfrm>
            <a:off x="1528762" y="1900237"/>
            <a:ext cx="6261100" cy="3956050"/>
            <a:chOff x="2275" y="2898"/>
            <a:chExt cx="7691" cy="4943"/>
          </a:xfrm>
        </p:grpSpPr>
        <p:sp>
          <p:nvSpPr>
            <p:cNvPr id="168" name="Google Shape;168;p16"/>
            <p:cNvSpPr txBox="1"/>
            <p:nvPr/>
          </p:nvSpPr>
          <p:spPr>
            <a:xfrm>
              <a:off x="2275" y="2898"/>
              <a:ext cx="7691" cy="4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6"/>
            <p:cNvSpPr txBox="1"/>
            <p:nvPr/>
          </p:nvSpPr>
          <p:spPr>
            <a:xfrm>
              <a:off x="3122" y="3616"/>
              <a:ext cx="1553" cy="157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Appelant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Mavaleur entier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Savaleur entier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6"/>
            <p:cNvSpPr txBox="1"/>
            <p:nvPr/>
          </p:nvSpPr>
          <p:spPr>
            <a:xfrm>
              <a:off x="3122" y="5913"/>
              <a:ext cx="1553" cy="86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Procédure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A en entier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B en entier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1" name="Google Shape;171;p16"/>
            <p:cNvCxnSpPr/>
            <p:nvPr/>
          </p:nvCxnSpPr>
          <p:spPr>
            <a:xfrm rot="10800000">
              <a:off x="2416" y="4046"/>
              <a:ext cx="70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72" name="Google Shape;172;p16"/>
            <p:cNvCxnSpPr/>
            <p:nvPr/>
          </p:nvCxnSpPr>
          <p:spPr>
            <a:xfrm>
              <a:off x="2416" y="4046"/>
              <a:ext cx="0" cy="229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73" name="Google Shape;173;p16"/>
            <p:cNvCxnSpPr/>
            <p:nvPr/>
          </p:nvCxnSpPr>
          <p:spPr>
            <a:xfrm>
              <a:off x="2416" y="6343"/>
              <a:ext cx="70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74" name="Google Shape;174;p16"/>
            <p:cNvCxnSpPr/>
            <p:nvPr/>
          </p:nvCxnSpPr>
          <p:spPr>
            <a:xfrm flipH="1">
              <a:off x="2699" y="4263"/>
              <a:ext cx="422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75" name="Google Shape;175;p16"/>
            <p:cNvCxnSpPr/>
            <p:nvPr/>
          </p:nvCxnSpPr>
          <p:spPr>
            <a:xfrm>
              <a:off x="2701" y="4255"/>
              <a:ext cx="0" cy="230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76" name="Google Shape;176;p16"/>
            <p:cNvCxnSpPr/>
            <p:nvPr/>
          </p:nvCxnSpPr>
          <p:spPr>
            <a:xfrm>
              <a:off x="2689" y="6563"/>
              <a:ext cx="421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77" name="Google Shape;177;p16"/>
            <p:cNvSpPr txBox="1"/>
            <p:nvPr/>
          </p:nvSpPr>
          <p:spPr>
            <a:xfrm>
              <a:off x="5661" y="3604"/>
              <a:ext cx="1553" cy="157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Appelant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Mavaleur entier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Savaleur entier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6"/>
            <p:cNvSpPr txBox="1"/>
            <p:nvPr/>
          </p:nvSpPr>
          <p:spPr>
            <a:xfrm>
              <a:off x="5661" y="5901"/>
              <a:ext cx="1553" cy="86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Procédure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A en entier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B en entier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9" name="Google Shape;179;p16"/>
            <p:cNvCxnSpPr/>
            <p:nvPr/>
          </p:nvCxnSpPr>
          <p:spPr>
            <a:xfrm flipH="1">
              <a:off x="4955" y="4034"/>
              <a:ext cx="70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80" name="Google Shape;180;p16"/>
            <p:cNvCxnSpPr/>
            <p:nvPr/>
          </p:nvCxnSpPr>
          <p:spPr>
            <a:xfrm>
              <a:off x="4955" y="4034"/>
              <a:ext cx="1" cy="229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81" name="Google Shape;181;p16"/>
            <p:cNvCxnSpPr/>
            <p:nvPr/>
          </p:nvCxnSpPr>
          <p:spPr>
            <a:xfrm>
              <a:off x="4955" y="6332"/>
              <a:ext cx="70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82" name="Google Shape;182;p16"/>
            <p:cNvCxnSpPr/>
            <p:nvPr/>
          </p:nvCxnSpPr>
          <p:spPr>
            <a:xfrm flipH="1">
              <a:off x="5239" y="4251"/>
              <a:ext cx="422" cy="1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</p:cxnSp>
        <p:cxnSp>
          <p:nvCxnSpPr>
            <p:cNvPr id="183" name="Google Shape;183;p16"/>
            <p:cNvCxnSpPr/>
            <p:nvPr/>
          </p:nvCxnSpPr>
          <p:spPr>
            <a:xfrm>
              <a:off x="5240" y="4243"/>
              <a:ext cx="1" cy="2308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</p:cxnSp>
        <p:cxnSp>
          <p:nvCxnSpPr>
            <p:cNvPr id="184" name="Google Shape;184;p16"/>
            <p:cNvCxnSpPr/>
            <p:nvPr/>
          </p:nvCxnSpPr>
          <p:spPr>
            <a:xfrm>
              <a:off x="5228" y="6551"/>
              <a:ext cx="422" cy="1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med" w="med" type="stealth"/>
              <a:tailEnd len="sm" w="sm" type="none"/>
            </a:ln>
          </p:spPr>
        </p:cxnSp>
        <p:sp>
          <p:nvSpPr>
            <p:cNvPr id="185" name="Google Shape;185;p16"/>
            <p:cNvSpPr txBox="1"/>
            <p:nvPr/>
          </p:nvSpPr>
          <p:spPr>
            <a:xfrm>
              <a:off x="8109" y="3592"/>
              <a:ext cx="1553" cy="157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Appelant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Mavaleur entier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Savaleur entier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6"/>
            <p:cNvSpPr txBox="1"/>
            <p:nvPr/>
          </p:nvSpPr>
          <p:spPr>
            <a:xfrm>
              <a:off x="8109" y="5890"/>
              <a:ext cx="1553" cy="86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Procédure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A en entier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B en entier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7" name="Google Shape;187;p16"/>
            <p:cNvCxnSpPr/>
            <p:nvPr/>
          </p:nvCxnSpPr>
          <p:spPr>
            <a:xfrm flipH="1">
              <a:off x="7403" y="4022"/>
              <a:ext cx="70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88" name="Google Shape;188;p16"/>
            <p:cNvCxnSpPr/>
            <p:nvPr/>
          </p:nvCxnSpPr>
          <p:spPr>
            <a:xfrm>
              <a:off x="7403" y="4022"/>
              <a:ext cx="1" cy="229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89" name="Google Shape;189;p16"/>
            <p:cNvCxnSpPr/>
            <p:nvPr/>
          </p:nvCxnSpPr>
          <p:spPr>
            <a:xfrm>
              <a:off x="7403" y="6319"/>
              <a:ext cx="706" cy="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0" name="Google Shape;190;p16"/>
            <p:cNvCxnSpPr/>
            <p:nvPr/>
          </p:nvCxnSpPr>
          <p:spPr>
            <a:xfrm flipH="1">
              <a:off x="7687" y="4239"/>
              <a:ext cx="422" cy="1"/>
            </a:xfrm>
            <a:prstGeom prst="straightConnector1">
              <a:avLst/>
            </a:prstGeom>
            <a:noFill/>
            <a:ln cap="flat" cmpd="sng" w="9525">
              <a:solidFill>
                <a:srgbClr val="008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91" name="Google Shape;191;p16"/>
            <p:cNvCxnSpPr/>
            <p:nvPr/>
          </p:nvCxnSpPr>
          <p:spPr>
            <a:xfrm>
              <a:off x="7688" y="4230"/>
              <a:ext cx="1" cy="2309"/>
            </a:xfrm>
            <a:prstGeom prst="straightConnector1">
              <a:avLst/>
            </a:prstGeom>
            <a:noFill/>
            <a:ln cap="flat" cmpd="sng" w="9525">
              <a:solidFill>
                <a:srgbClr val="008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92" name="Google Shape;192;p16"/>
            <p:cNvCxnSpPr/>
            <p:nvPr/>
          </p:nvCxnSpPr>
          <p:spPr>
            <a:xfrm>
              <a:off x="7676" y="6539"/>
              <a:ext cx="422" cy="1"/>
            </a:xfrm>
            <a:prstGeom prst="straightConnector1">
              <a:avLst/>
            </a:prstGeom>
            <a:noFill/>
            <a:ln cap="flat" cmpd="sng" w="9525">
              <a:solidFill>
                <a:srgbClr val="008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93" name="Google Shape;193;p16"/>
            <p:cNvSpPr txBox="1"/>
            <p:nvPr/>
          </p:nvSpPr>
          <p:spPr>
            <a:xfrm>
              <a:off x="2677" y="6961"/>
              <a:ext cx="1954" cy="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A : Entrée seulement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B : Entrée seulement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6"/>
            <p:cNvSpPr txBox="1"/>
            <p:nvPr/>
          </p:nvSpPr>
          <p:spPr>
            <a:xfrm>
              <a:off x="5298" y="6949"/>
              <a:ext cx="1954" cy="8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A : Entrée seulement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B : Sortie seulement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6"/>
            <p:cNvSpPr txBox="1"/>
            <p:nvPr/>
          </p:nvSpPr>
          <p:spPr>
            <a:xfrm>
              <a:off x="7720" y="6937"/>
              <a:ext cx="1953" cy="8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A : Entrée seulement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B : entrée et Sortie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"/>
          <p:cNvSpPr txBox="1"/>
          <p:nvPr>
            <p:ph type="title"/>
          </p:nvPr>
        </p:nvSpPr>
        <p:spPr>
          <a:xfrm>
            <a:off x="457200" y="274637"/>
            <a:ext cx="8220075" cy="126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Procédure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Arguments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233362" y="1465262"/>
            <a:ext cx="8910637" cy="476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Arguments fonctionnent en entrée-sortie.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Entrée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passage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 valeur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On ne fait que passer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valeur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du programme principal vers la procédure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Sortie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passage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 référence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On fait passer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l’adresse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la valeur (où elle est stockée) vers la procédure. Ici, il est possible de modifier la valeur au niveau de la procédure </a:t>
            </a:r>
            <a:r>
              <a:rPr b="0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DONC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affecte globalement la valeur.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 txBox="1"/>
          <p:nvPr>
            <p:ph type="title"/>
          </p:nvPr>
        </p:nvSpPr>
        <p:spPr>
          <a:xfrm>
            <a:off x="457200" y="274637"/>
            <a:ext cx="8220075" cy="126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Procédure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233362" y="1465262"/>
            <a:ext cx="8910637" cy="398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Procédure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effacerecran(arg1 en entier par valeur, arg2 en caractère par référence,…)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effacerecran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2225675" y="5516562"/>
            <a:ext cx="4572000" cy="708025"/>
          </a:xfrm>
          <a:prstGeom prst="rect">
            <a:avLst/>
          </a:prstGeom>
          <a:gradFill>
            <a:gsLst>
              <a:gs pos="0">
                <a:srgbClr val="BFD1FF"/>
              </a:gs>
              <a:gs pos="35000">
                <a:srgbClr val="D1DEFF"/>
              </a:gs>
              <a:gs pos="100000">
                <a:srgbClr val="EBF0FF"/>
              </a:gs>
            </a:gsLst>
            <a:lin ang="16200000" scaled="0"/>
          </a:gradFill>
          <a:ln cap="flat" cmpd="sng" w="9525">
            <a:solidFill>
              <a:srgbClr val="B1C1F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On peut omettre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 valeur</a:t>
            </a:r>
            <a:b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arg2: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s’appelle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pointeur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 txBox="1"/>
          <p:nvPr>
            <p:ph type="title"/>
          </p:nvPr>
        </p:nvSpPr>
        <p:spPr>
          <a:xfrm>
            <a:off x="457200" y="274637"/>
            <a:ext cx="8220075" cy="126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Procédure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par valeur vs par référence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233362" y="1658937"/>
            <a:ext cx="8910637" cy="4575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 référence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n’a pas besoin de place mémoire supplémentaire car c’est la même variable programme principal-procédure mais risque de changer valeur sans le vouloir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 valeur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plus sécurisée mais demande de l’espace mémoire car on a besoin de mémoire au niveau du programme principal et procédure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 txBox="1"/>
          <p:nvPr>
            <p:ph type="title"/>
          </p:nvPr>
        </p:nvSpPr>
        <p:spPr>
          <a:xfrm>
            <a:off x="457200" y="274637"/>
            <a:ext cx="8220075" cy="126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Variables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publiques-privées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233362" y="1465262"/>
            <a:ext cx="8910637" cy="3521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Publique: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variable sera disponible partout même au niveau des fonctions et procédures.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Privée: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variable n’est disponible que dans la portion de code où elle est déclarée 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 txBox="1"/>
          <p:nvPr>
            <p:ph type="title"/>
          </p:nvPr>
        </p:nvSpPr>
        <p:spPr>
          <a:xfrm>
            <a:off x="457200" y="274637"/>
            <a:ext cx="8220075" cy="126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Variable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233362" y="1816100"/>
            <a:ext cx="8910637" cy="1720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Publique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mavaleur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Entier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Conclusion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382587" y="1374775"/>
            <a:ext cx="8245475" cy="4287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Nous avons abordé dans ce cours les points suivants: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Procédures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2008-12-10T19:09:50Z</dcterms:created>
  <dc:creator>Hafed Benteftifa</dc:creator>
</cp:coreProperties>
</file>