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9144000"/>
  <p:notesSz cx="7315200" cy="9601200"/>
  <p:embeddedFontLst>
    <p:embeddedFont>
      <p:font typeface="Arimo"/>
      <p:regular r:id="rId30"/>
      <p:bold r:id="rId31"/>
      <p:italic r:id="rId32"/>
      <p:boldItalic r:id="rId33"/>
    </p:embeddedFont>
    <p:embeddedFont>
      <p:font typeface="Quattrocento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g2gCey2q+7OUtIUBXgjdVa7Blu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F941C0-4D7E-4977-843E-E89DEB6D93A2}">
  <a:tblStyle styleId="{EFF941C0-4D7E-4977-843E-E89DEB6D93A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mo-bold.fntdata"/><Relationship Id="rId30" Type="http://schemas.openxmlformats.org/officeDocument/2006/relationships/font" Target="fonts/Arimo-regular.fntdata"/><Relationship Id="rId11" Type="http://schemas.openxmlformats.org/officeDocument/2006/relationships/slide" Target="slides/slide5.xml"/><Relationship Id="rId33" Type="http://schemas.openxmlformats.org/officeDocument/2006/relationships/font" Target="fonts/Arimo-boldItalic.fntdata"/><Relationship Id="rId10" Type="http://schemas.openxmlformats.org/officeDocument/2006/relationships/slide" Target="slides/slide4.xml"/><Relationship Id="rId32" Type="http://schemas.openxmlformats.org/officeDocument/2006/relationships/font" Target="fonts/Arimo-italic.fntdata"/><Relationship Id="rId13" Type="http://schemas.openxmlformats.org/officeDocument/2006/relationships/slide" Target="slides/slide7.xml"/><Relationship Id="rId35" Type="http://schemas.openxmlformats.org/officeDocument/2006/relationships/font" Target="fonts/QuattrocentoSans-bold.fntdata"/><Relationship Id="rId12" Type="http://schemas.openxmlformats.org/officeDocument/2006/relationships/slide" Target="slides/slide6.xml"/><Relationship Id="rId34" Type="http://schemas.openxmlformats.org/officeDocument/2006/relationships/font" Target="fonts/QuattrocentoSans-regular.fntdata"/><Relationship Id="rId15" Type="http://schemas.openxmlformats.org/officeDocument/2006/relationships/slide" Target="slides/slide9.xml"/><Relationship Id="rId37" Type="http://schemas.openxmlformats.org/officeDocument/2006/relationships/font" Target="fonts/QuattrocentoSans-boldItalic.fntdata"/><Relationship Id="rId14" Type="http://schemas.openxmlformats.org/officeDocument/2006/relationships/slide" Target="slides/slide8.xml"/><Relationship Id="rId36" Type="http://schemas.openxmlformats.org/officeDocument/2006/relationships/font" Target="fonts/QuattrocentoSans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customschemas.google.com/relationships/presentationmetadata" Target="meta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8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1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14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15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17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18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1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20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2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2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2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5"/>
          <p:cNvPicPr preferRelativeResize="0"/>
          <p:nvPr/>
        </p:nvPicPr>
        <p:blipFill rotWithShape="1">
          <a:blip r:embed="rId2">
            <a:alphaModFix/>
          </a:blip>
          <a:srcRect b="15790" l="12448" r="5743" t="10527"/>
          <a:stretch/>
        </p:blipFill>
        <p:spPr>
          <a:xfrm>
            <a:off x="207963" y="228600"/>
            <a:ext cx="4953000" cy="150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26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–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" name="Google Shape;25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/>
          <p:nvPr/>
        </p:nvSpPr>
        <p:spPr>
          <a:xfrm>
            <a:off x="0" y="6496050"/>
            <a:ext cx="9144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4"/>
          <p:cNvSpPr/>
          <p:nvPr/>
        </p:nvSpPr>
        <p:spPr>
          <a:xfrm>
            <a:off x="0" y="6524625"/>
            <a:ext cx="530225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4"/>
          <p:cNvSpPr/>
          <p:nvPr/>
        </p:nvSpPr>
        <p:spPr>
          <a:xfrm>
            <a:off x="481013" y="6464300"/>
            <a:ext cx="8662987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05/05/2020    </a:t>
            </a:r>
            <a:r>
              <a:rPr b="1" i="0" lang="fr-FR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Initiation POO - Python-  Hafed Benteftifa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python.org/dev/peps/pep-0008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Bases du langage Python</a:t>
            </a:r>
            <a:br>
              <a:rPr lang="fr-FR"/>
            </a:br>
            <a:r>
              <a:rPr lang="fr-FR"/>
              <a:t>1. Lexique</a:t>
            </a:r>
            <a:endParaRPr/>
          </a:p>
        </p:txBody>
      </p:sp>
      <p:sp>
        <p:nvSpPr>
          <p:cNvPr id="36" name="Google Shape;36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</a:pPr>
            <a:r>
              <a:rPr lang="fr-FR"/>
              <a:t>Hafed Benteftifa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217488" y="5516563"/>
            <a:ext cx="18780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ver 1: jan 2015</a:t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Agenda</a:t>
            </a:r>
            <a:endParaRPr/>
          </a:p>
        </p:txBody>
      </p:sp>
      <p:sp>
        <p:nvSpPr>
          <p:cNvPr id="44" name="Google Shape;44;p2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Les objectifs de cette présentation sont les suivants:</a:t>
            </a:r>
            <a:br>
              <a:rPr lang="fr-FR"/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Structure d’une application python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Types de données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Variables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Constantes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Opérateurs arithmétiques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Conversion de type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Application python</a:t>
            </a:r>
            <a:endParaRPr/>
          </a:p>
        </p:txBody>
      </p:sp>
      <p:sp>
        <p:nvSpPr>
          <p:cNvPr id="50" name="Google Shape;50;p3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Le code source d'un programme-script python est contenu dans </a:t>
            </a:r>
            <a:r>
              <a:rPr b="1" lang="fr-FR"/>
              <a:t>un</a:t>
            </a:r>
            <a:r>
              <a:rPr lang="fr-FR"/>
              <a:t> ou </a:t>
            </a:r>
            <a:r>
              <a:rPr b="1" lang="fr-FR"/>
              <a:t>plusieurs</a:t>
            </a:r>
            <a:r>
              <a:rPr lang="fr-FR"/>
              <a:t> fichiers d'extension .py</a:t>
            </a:r>
            <a:endParaRPr/>
          </a:p>
          <a:p>
            <a:pPr indent="-301625" lvl="1" marL="75882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 sz="2800"/>
              <a:t>Le nom du fichier est idéalement en minuscule</a:t>
            </a:r>
            <a:endParaRPr/>
          </a:p>
          <a:p>
            <a:pPr indent="-301625" lvl="1" marL="75882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 sz="2800"/>
              <a:t>Le fichier peut contenir des instructions python, des fonctions python et des classes python</a:t>
            </a:r>
            <a:endParaRPr/>
          </a:p>
          <a:p>
            <a:pPr indent="-301625" lvl="1" marL="75882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 sz="2800"/>
              <a:t>Fichier=module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Commentaires</a:t>
            </a:r>
            <a:endParaRPr/>
          </a:p>
        </p:txBody>
      </p:sp>
      <p:sp>
        <p:nvSpPr>
          <p:cNvPr id="57" name="Google Shape;57;p4"/>
          <p:cNvSpPr txBox="1"/>
          <p:nvPr>
            <p:ph idx="1" type="body"/>
          </p:nvPr>
        </p:nvSpPr>
        <p:spPr>
          <a:xfrm>
            <a:off x="152400" y="1131888"/>
            <a:ext cx="8839200" cy="3233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Les commentaires seront inclus pour faciliter la lecture du code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b="1" lang="fr-FR"/>
              <a:t>Ligne en commentaire</a:t>
            </a:r>
            <a:r>
              <a:rPr lang="fr-FR"/>
              <a:t> : on mettra au début de la ligne le symbole </a:t>
            </a:r>
            <a:r>
              <a:rPr b="1" lang="fr-FR" sz="3600"/>
              <a:t>#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b="1" lang="fr-FR"/>
              <a:t>Plusieurs lignes en commentaire: '''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b="1" lang="fr-FR"/>
              <a:t>Texte en commentaire</a:t>
            </a:r>
            <a:r>
              <a:rPr lang="fr-FR"/>
              <a:t> sera ignoré par l'interpréteur de python</a:t>
            </a:r>
            <a:endParaRPr b="1"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3132138" y="4365625"/>
            <a:ext cx="4248150" cy="1830388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comments.py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author Alain Flouclair</a:t>
            </a:r>
            <a:endParaRPr b="0" i="0" sz="20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main():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print ("Bonjour Monde")</a:t>
            </a:r>
            <a:endParaRPr b="0" i="0" sz="48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Nommage</a:t>
            </a:r>
            <a:endParaRPr/>
          </a:p>
        </p:txBody>
      </p:sp>
      <p:sp>
        <p:nvSpPr>
          <p:cNvPr id="65" name="Google Shape;65;p5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Voir </a:t>
            </a:r>
            <a:r>
              <a:rPr lang="fr-FR" u="sng">
                <a:solidFill>
                  <a:schemeClr val="hlink"/>
                </a:solidFill>
                <a:hlinkClick r:id="rId3"/>
              </a:rPr>
              <a:t>PEP 8 - Style Guide for Python Code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Notation similaire à </a:t>
            </a:r>
            <a:r>
              <a:rPr b="1" lang="fr-FR"/>
              <a:t>CamelCase</a:t>
            </a:r>
            <a:r>
              <a:rPr lang="fr-FR"/>
              <a:t> pour les noms de variables (première lettre en minuscule et les mots suivants avec première lettre en majuscule)</a:t>
            </a:r>
            <a:br>
              <a:rPr lang="fr-FR"/>
            </a:br>
            <a:r>
              <a:rPr lang="fr-FR"/>
              <a:t>ex: </a:t>
            </a:r>
            <a:r>
              <a:rPr b="1" lang="fr-FR"/>
              <a:t>m</a:t>
            </a:r>
            <a:r>
              <a:rPr lang="fr-FR"/>
              <a:t>on</a:t>
            </a:r>
            <a:r>
              <a:rPr b="1" lang="fr-FR"/>
              <a:t>_t</a:t>
            </a:r>
            <a:r>
              <a:rPr lang="fr-FR"/>
              <a:t>aux</a:t>
            </a:r>
            <a:r>
              <a:rPr b="1" lang="fr-FR"/>
              <a:t>_i</a:t>
            </a:r>
            <a:r>
              <a:rPr lang="fr-FR"/>
              <a:t>nteret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Notation majuscule séparée par le symbole _ pour les constantes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Ex: TAUX_INTERET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Convention de nommage: peut être choisie selon la compagnie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Instructions</a:t>
            </a:r>
            <a:endParaRPr/>
          </a:p>
        </p:txBody>
      </p:sp>
      <p:sp>
        <p:nvSpPr>
          <p:cNvPr id="72" name="Google Shape;72;p6"/>
          <p:cNvSpPr txBox="1"/>
          <p:nvPr>
            <p:ph idx="1" type="body"/>
          </p:nvPr>
        </p:nvSpPr>
        <p:spPr>
          <a:xfrm>
            <a:off x="152400" y="1131888"/>
            <a:ext cx="8839200" cy="1289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Le code python est constitué d’une suite d’instructions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Une instruction peut être sur une ou plusieurs lignes: utiliser \ pour plusieurs lignes 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1116013" y="2708275"/>
            <a:ext cx="7127875" cy="1939925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#cahier2_1:exercice 23: conversion explicite</a:t>
            </a:r>
            <a:br>
              <a:rPr b="0" i="1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b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heure_courante=time.time()</a:t>
            </a:r>
            <a:b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1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#secondes</a:t>
            </a:r>
            <a:br>
              <a:rPr b="0" i="1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total_secondes=int(heure_courante)</a:t>
            </a:r>
            <a:endParaRPr b="0" i="0" sz="20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Fonctions</a:t>
            </a:r>
            <a:endParaRPr/>
          </a:p>
        </p:txBody>
      </p:sp>
      <p:sp>
        <p:nvSpPr>
          <p:cNvPr id="79" name="Google Shape;79;p7"/>
          <p:cNvSpPr txBox="1"/>
          <p:nvPr>
            <p:ph idx="1" type="body"/>
          </p:nvPr>
        </p:nvSpPr>
        <p:spPr>
          <a:xfrm>
            <a:off x="152400" y="1131888"/>
            <a:ext cx="8839200" cy="164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Une fonction python regroupe un certain nombre d'instructions pour réaliser une fonctionnalité donnée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lang="fr-FR"/>
              <a:t>Utilise le mot clé </a:t>
            </a:r>
            <a:r>
              <a:rPr b="1" lang="fr-FR" u="sng"/>
              <a:t>def</a:t>
            </a:r>
            <a:r>
              <a:rPr lang="fr-FR"/>
              <a:t> pour déclarer une fonction</a:t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611188" y="3213100"/>
            <a:ext cx="7705725" cy="163195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afficher_message(message):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''' interface GUI de base'''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fenetre = Tk()  #créer la fenetre container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#label avec notre message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label = Label(fenetre, text=message)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Fonction/Méthode</a:t>
            </a:r>
            <a:endParaRPr/>
          </a:p>
        </p:txBody>
      </p:sp>
      <p:sp>
        <p:nvSpPr>
          <p:cNvPr id="87" name="Google Shape;87;p8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 sz="2800"/>
              <a:t>Par convention, le nom d'une </a:t>
            </a:r>
            <a:r>
              <a:rPr b="1" lang="fr-FR" sz="2800"/>
              <a:t>fonction</a:t>
            </a:r>
            <a:r>
              <a:rPr lang="fr-FR" sz="2800"/>
              <a:t>/</a:t>
            </a:r>
            <a:r>
              <a:rPr b="1" lang="fr-FR" sz="2800"/>
              <a:t>méthode</a:t>
            </a:r>
            <a:r>
              <a:rPr lang="fr-FR" sz="2800"/>
              <a:t> commence toujours par une </a:t>
            </a:r>
            <a:r>
              <a:rPr b="1" lang="fr-FR" sz="2800"/>
              <a:t>minuscule</a:t>
            </a:r>
            <a:r>
              <a:rPr lang="fr-FR" sz="2800"/>
              <a:t>.</a:t>
            </a:r>
            <a:endParaRPr/>
          </a:p>
          <a:p>
            <a:pPr indent="-285750" lvl="2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 sz="2800" u="sng"/>
              <a:t>Fonction/Méthode</a:t>
            </a:r>
            <a:r>
              <a:rPr lang="fr-FR" sz="2800"/>
              <a:t>: une suite d'instructions python qui réalisent une fonctionnalité précise</a:t>
            </a:r>
            <a:endParaRPr/>
          </a:p>
          <a:p>
            <a:pPr indent="-285750" lvl="2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 sz="2800" u="sng"/>
              <a:t>Méthode</a:t>
            </a:r>
            <a:r>
              <a:rPr lang="fr-FR" sz="2800"/>
              <a:t>: Similaire à une fonction sauf qu'une méthode appartient à une classe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 sz="2800"/>
              <a:t>Une méthode peut avoir des </a:t>
            </a:r>
            <a:r>
              <a:rPr b="1" lang="fr-FR" sz="2800"/>
              <a:t>paramètres</a:t>
            </a:r>
            <a:r>
              <a:rPr lang="fr-FR" sz="2800"/>
              <a:t> et ceux-ci obéissent aux mêmes règles de nommage</a:t>
            </a:r>
            <a:endParaRPr sz="2800"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233363" y="1584325"/>
            <a:ext cx="8686800" cy="446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258888" y="5084763"/>
            <a:ext cx="7345362" cy="10160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afficher_message(message):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# interface GUI de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fenetre = Tk()  #créer la fenetre container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Bloc d’Instructions et indentation</a:t>
            </a:r>
            <a:endParaRPr/>
          </a:p>
        </p:txBody>
      </p:sp>
      <p:sp>
        <p:nvSpPr>
          <p:cNvPr id="96" name="Google Shape;96;p9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Un bloc d’instructions sera délimité en utilisant une indentation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Comparer avec Java qui utilise </a:t>
            </a:r>
            <a:r>
              <a:rPr b="1" lang="fr-FR"/>
              <a:t>{ }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Comparer avec PL-SQL qui utilise </a:t>
            </a:r>
            <a:r>
              <a:rPr b="1" lang="fr-FR"/>
              <a:t>begin-end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Accroissement de l'indentation: se fait après certaines instructions tel que</a:t>
            </a:r>
            <a:r>
              <a:rPr b="1" lang="fr-FR" u="sng"/>
              <a:t> if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Décroissement de l'indentation: signifie la fin du bloc courant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Python: 4 espaces sont recommandés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2700338" y="5373688"/>
            <a:ext cx="5111750" cy="708025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 age &gt; 18: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('Personne adulte') </a:t>
            </a:r>
            <a:endParaRPr b="0" i="0" sz="20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Délimiteurs</a:t>
            </a:r>
            <a:endParaRPr/>
          </a:p>
        </p:txBody>
      </p: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152400" y="1131888"/>
            <a:ext cx="8839200" cy="157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Ce sont des marqueurs d'un ou plusieurs caractères pour spécifier la limite ou frontière entre plusieurs régions dans du texte ou autre stream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Utile dans la construction d'expressions, chaine de caractères, dictionnaires, liste, etc.</a:t>
            </a:r>
            <a:endParaRPr/>
          </a:p>
        </p:txBody>
      </p:sp>
      <p:sp>
        <p:nvSpPr>
          <p:cNvPr id="104" name="Google Shape;104;p10"/>
          <p:cNvSpPr/>
          <p:nvPr/>
        </p:nvSpPr>
        <p:spPr>
          <a:xfrm>
            <a:off x="2484438" y="2492375"/>
            <a:ext cx="5110162" cy="2554288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fr-FR" sz="32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( ) [ ] { 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fr-FR" sz="32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, : . ` = 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fr-FR" sz="32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+= -= *= /= //= %=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fr-FR" sz="32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&lt;= |= ^= &gt;&gt;= &lt;&lt;= **=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fr-FR" sz="32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' " \ @</a:t>
            </a:r>
            <a:r>
              <a:rPr b="0" i="0" lang="fr-F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6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Mots clés de python</a:t>
            </a:r>
            <a:endParaRPr/>
          </a:p>
        </p:txBody>
      </p:sp>
      <p:sp>
        <p:nvSpPr>
          <p:cNvPr id="110" name="Google Shape;110;p11"/>
          <p:cNvSpPr/>
          <p:nvPr/>
        </p:nvSpPr>
        <p:spPr>
          <a:xfrm>
            <a:off x="1116013" y="1700213"/>
            <a:ext cx="6480175" cy="3540125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fr-FR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del from not while as elif global 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fr-FR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with assert else if pass yield break 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fr-FR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except import print class exec in 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fr-FR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raise continue finally is return def for lambda try 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Types primitifs de données</a:t>
            </a:r>
            <a:endParaRPr/>
          </a:p>
        </p:txBody>
      </p:sp>
      <p:sp>
        <p:nvSpPr>
          <p:cNvPr id="116" name="Google Shape;116;p12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Numérique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Chaine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date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Déclaration de variables</a:t>
            </a:r>
            <a:endParaRPr/>
          </a:p>
        </p:txBody>
      </p:sp>
      <p:sp>
        <p:nvSpPr>
          <p:cNvPr id="123" name="Google Shape;123;p13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Une variable peut contenir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une chaine,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un numérique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Objet ou fonction ou classe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Le nom de la variable peut être composé de caractères alphanumériques et le caractère _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Le nom ne peut pas commencer par un nombre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La casse est importante (Nom, nom et NOM ne sont pas les mèmes)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Déclaration de constante</a:t>
            </a:r>
            <a:endParaRPr/>
          </a:p>
        </p:txBody>
      </p:sp>
      <p:sp>
        <p:nvSpPr>
          <p:cNvPr id="130" name="Google Shape;130;p14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b="1" lang="fr-FR"/>
              <a:t>La notion de constante n'existe pas en tant que tel en python.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b="1" lang="fr-FR"/>
              <a:t>Déclarer comme variable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b="1" lang="fr-FR"/>
              <a:t>Cas d’une seule constante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NOM_CONSTANTE = valeur1 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b="1" lang="fr-FR"/>
              <a:t>Cas de plusieurs constantes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NOM_CONST = val1 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NOM_CONST_2 = val2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NOM_CONST_N = valn  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Exemple:</a:t>
            </a:r>
            <a:br>
              <a:rPr lang="fr-FR"/>
            </a:br>
            <a:r>
              <a:rPr lang="fr-FR"/>
              <a:t>TAUX_INTERET = 0.12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Expressions python et </a:t>
            </a:r>
            <a:br>
              <a:rPr lang="fr-FR"/>
            </a:br>
            <a:r>
              <a:rPr lang="fr-FR"/>
              <a:t>opérations arithmétiques</a:t>
            </a:r>
            <a:endParaRPr/>
          </a:p>
        </p:txBody>
      </p:sp>
      <p:grpSp>
        <p:nvGrpSpPr>
          <p:cNvPr id="137" name="Google Shape;137;p15"/>
          <p:cNvGrpSpPr/>
          <p:nvPr/>
        </p:nvGrpSpPr>
        <p:grpSpPr>
          <a:xfrm>
            <a:off x="250825" y="1628775"/>
            <a:ext cx="8637588" cy="1806575"/>
            <a:chOff x="2520" y="1110"/>
            <a:chExt cx="7200" cy="1506"/>
          </a:xfrm>
        </p:grpSpPr>
        <p:sp>
          <p:nvSpPr>
            <p:cNvPr id="138" name="Google Shape;138;p15"/>
            <p:cNvSpPr/>
            <p:nvPr/>
          </p:nvSpPr>
          <p:spPr>
            <a:xfrm>
              <a:off x="2520" y="1110"/>
              <a:ext cx="7200" cy="15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5"/>
            <p:cNvSpPr txBox="1"/>
            <p:nvPr/>
          </p:nvSpPr>
          <p:spPr>
            <a:xfrm>
              <a:off x="3815" y="1681"/>
              <a:ext cx="1492" cy="39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fr-FR" sz="1200" u="none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Destination</a:t>
              </a:r>
              <a:endPara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5"/>
            <p:cNvSpPr txBox="1"/>
            <p:nvPr/>
          </p:nvSpPr>
          <p:spPr>
            <a:xfrm>
              <a:off x="7018" y="1681"/>
              <a:ext cx="1367" cy="43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fr-FR" sz="1200" u="none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Expression</a:t>
              </a:r>
              <a:endPara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1" name="Google Shape;141;p15"/>
            <p:cNvGrpSpPr/>
            <p:nvPr/>
          </p:nvGrpSpPr>
          <p:grpSpPr>
            <a:xfrm>
              <a:off x="5687" y="1428"/>
              <a:ext cx="918" cy="919"/>
              <a:chOff x="5859" y="3472"/>
              <a:chExt cx="918" cy="920"/>
            </a:xfrm>
          </p:grpSpPr>
          <p:sp>
            <p:nvSpPr>
              <p:cNvPr id="142" name="Google Shape;142;p15"/>
              <p:cNvSpPr/>
              <p:nvPr/>
            </p:nvSpPr>
            <p:spPr>
              <a:xfrm>
                <a:off x="5859" y="3472"/>
                <a:ext cx="918" cy="92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3" name="Google Shape;143;p15"/>
              <p:cNvCxnSpPr/>
              <p:nvPr/>
            </p:nvCxnSpPr>
            <p:spPr>
              <a:xfrm flipH="1">
                <a:off x="5973" y="3922"/>
                <a:ext cx="689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</p:grpSp>
      <p:sp>
        <p:nvSpPr>
          <p:cNvPr id="144" name="Google Shape;144;p15"/>
          <p:cNvSpPr/>
          <p:nvPr/>
        </p:nvSpPr>
        <p:spPr>
          <a:xfrm>
            <a:off x="611188" y="3519488"/>
            <a:ext cx="7632700" cy="267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Quattrocento Sans"/>
              <a:buChar char="•"/>
            </a:pPr>
            <a:r>
              <a:rPr b="0" i="0" lang="fr-FR" sz="24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Opérateur d’affectation en python est le symbole</a:t>
            </a:r>
            <a:r>
              <a:rPr b="0" i="0" lang="fr-FR" sz="2400" u="none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fr-FR" sz="2400" u="none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</a:t>
            </a:r>
            <a:r>
              <a:rPr b="0" i="0" lang="fr-FR" sz="24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Quattrocento Sans"/>
              <a:buChar char="•"/>
            </a:pPr>
            <a:r>
              <a:rPr b="0" i="0" lang="fr-FR" sz="2400" u="sng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Destination</a:t>
            </a:r>
            <a:r>
              <a:rPr b="0" i="0" lang="fr-FR" sz="24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 une variable, plusieurs variables ou constante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Quattrocento Sans"/>
              <a:buChar char="•"/>
            </a:pPr>
            <a:r>
              <a:rPr b="0" i="0" lang="fr-FR" sz="2400" u="sng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Expression</a:t>
            </a:r>
            <a:r>
              <a:rPr b="0" i="0" lang="fr-FR" sz="24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peut être une variable, une constante ou une composition de variables et constantes reliés par des opérateurs.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Opérateurs</a:t>
            </a:r>
            <a:endParaRPr/>
          </a:p>
        </p:txBody>
      </p:sp>
      <p:sp>
        <p:nvSpPr>
          <p:cNvPr id="150" name="Google Shape;150;p16"/>
          <p:cNvSpPr txBox="1"/>
          <p:nvPr>
            <p:ph idx="1" type="body"/>
          </p:nvPr>
        </p:nvSpPr>
        <p:spPr>
          <a:xfrm>
            <a:off x="152400" y="1131888"/>
            <a:ext cx="8839200" cy="1360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Un opérateur est un symbole utilisé pour effectuer une action sur une certaine valeur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1042988" y="2349500"/>
            <a:ext cx="7092950" cy="2862263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fr-FR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	 - 	~ 	* 	** 	/	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fr-FR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&lt;&lt;	 &gt;&gt; 	&amp; 	| 	^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fr-FR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	or 	not in 	not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fr-FR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	is not 	&lt; &gt; 	!= 	&lt;&gt;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fr-FR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== 	&lt;= 	&gt;=</a:t>
            </a:r>
            <a:r>
              <a:rPr b="0" i="0" lang="fr-FR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7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30175" y="152400"/>
            <a:ext cx="9013825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Opérateurs arithmétiques-précédence</a:t>
            </a:r>
            <a:endParaRPr/>
          </a:p>
        </p:txBody>
      </p:sp>
      <p:graphicFrame>
        <p:nvGraphicFramePr>
          <p:cNvPr id="158" name="Google Shape;158;p17"/>
          <p:cNvGraphicFramePr/>
          <p:nvPr/>
        </p:nvGraphicFramePr>
        <p:xfrm>
          <a:off x="304800" y="1484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{EFF941C0-4D7E-4977-843E-E89DEB6D93A2}</a:tableStyleId>
              </a:tblPr>
              <a:tblGrid>
                <a:gridCol w="1999875"/>
                <a:gridCol w="3780700"/>
                <a:gridCol w="2447450"/>
              </a:tblGrid>
              <a:tr h="647700"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i="0" lang="fr-FR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Opérateur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i="0" lang="fr-FR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Opération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i="0" lang="fr-FR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Ordre d’évaluation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7159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 )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Permet des regroupements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Gauche - droite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74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*, / , //,  %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Multiplication, division, division entière, modulo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Gauche - droite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+, - 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Addition, soustraction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Gauche - droite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59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affectation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Droite - gauche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Précédence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Ordre de précédence des différents opérateurs disponibles en partant de la première ligne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Dans le cas d’ambiguïté dans l’ordre d’évaluation, il sera préférable de recourir aux parenthèses et de regrouper ensemble les opérations nécessaires.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30175" y="152400"/>
            <a:ext cx="9013825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Conversion de type lors des opérations</a:t>
            </a:r>
            <a:endParaRPr/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152400" y="1131888"/>
            <a:ext cx="8839200" cy="3521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il arrive souvent que les variables et constantes utilisées dans le calcul ne soient pas toutes du même type.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En python, l'approche utilisée est basée sur la conversion (</a:t>
            </a:r>
            <a:r>
              <a:rPr b="1" lang="fr-FR"/>
              <a:t>casting</a:t>
            </a:r>
            <a:r>
              <a:rPr lang="fr-FR"/>
              <a:t>) de type lors des </a:t>
            </a:r>
            <a:r>
              <a:rPr i="1" lang="fr-FR"/>
              <a:t>calculs</a:t>
            </a:r>
            <a:r>
              <a:rPr lang="fr-FR"/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Conversion explicite</a:t>
            </a:r>
            <a:endParaRPr/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La syntaxe python pour la conversion explicite est:</a:t>
            </a:r>
            <a:br>
              <a:rPr lang="fr-FR"/>
            </a:br>
            <a:br>
              <a:rPr lang="fr-FR"/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Type: un des types de python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2927350" y="1844675"/>
            <a:ext cx="2800350" cy="40005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0" i="1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expression</a:t>
            </a: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20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Exemple casting explicite</a:t>
            </a:r>
            <a:endParaRPr/>
          </a:p>
        </p:txBody>
      </p:sp>
      <p:sp>
        <p:nvSpPr>
          <p:cNvPr id="187" name="Google Shape;187;p21"/>
          <p:cNvSpPr/>
          <p:nvPr/>
        </p:nvSpPr>
        <p:spPr>
          <a:xfrm>
            <a:off x="1331913" y="1916113"/>
            <a:ext cx="6696075" cy="1201737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heure_courante=time.time()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#secondes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total_secondes=int(heure_courante)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Autres notations utiles en python</a:t>
            </a: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Dans le cas d’opérations sur une seule valeur comme dans l’exemple suivant :</a:t>
            </a:r>
            <a:br>
              <a:rPr lang="fr-FR"/>
            </a:br>
            <a:r>
              <a:rPr b="1" lang="fr-FR"/>
              <a:t>var1 = var1 + 13 </a:t>
            </a:r>
            <a:br>
              <a:rPr b="1" lang="fr-FR"/>
            </a:br>
            <a:endParaRPr b="1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On peut recourir à une notation beaucoup plus courte mais qui est équivalente soit :</a:t>
            </a:r>
            <a:br>
              <a:rPr lang="fr-FR"/>
            </a:br>
            <a:r>
              <a:rPr b="1" lang="fr-FR"/>
              <a:t>var1 += 13 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Conclusion</a:t>
            </a:r>
            <a:endParaRPr/>
          </a:p>
        </p:txBody>
      </p:sp>
      <p:sp>
        <p:nvSpPr>
          <p:cNvPr id="201" name="Google Shape;201;p23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Dans cette présentation, on a vu les points suivants:</a:t>
            </a:r>
            <a:br>
              <a:rPr lang="fr-FR"/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Structure d’une application python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Types de données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Variables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Constantes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Opérateurs arithmétiques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Conversion de type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ython_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2009-03-25T15:44:22Z</dcterms:created>
  <dc:creator>HafedB</dc:creator>
</cp:coreProperties>
</file>