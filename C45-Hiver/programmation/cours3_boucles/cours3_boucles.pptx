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315200" cy="9601200"/>
  <p:embeddedFontLst>
    <p:embeddedFont>
      <p:font typeface="Arimo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Q5RXqGOa1JJyU9LqGBugGURPo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"/>
          <p:cNvPicPr preferRelativeResize="0"/>
          <p:nvPr/>
        </p:nvPicPr>
        <p:blipFill rotWithShape="1">
          <a:blip r:embed="rId2">
            <a:alphaModFix/>
          </a:blip>
          <a:srcRect b="15790" l="12449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02/04/2016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Bases du langage Python </a:t>
            </a:r>
            <a:br>
              <a:rPr lang="en-US"/>
            </a:br>
            <a:r>
              <a:rPr lang="en-US"/>
              <a:t>2. structure de Boucles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bouclage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Structures répétitives</a:t>
            </a:r>
            <a:endParaRPr/>
          </a:p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répétitives permettent l’exécution d’instructions un certain nombre de fois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Structure répétitive: boucle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utilise des expression booléennes pour le controle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python a les structure répétitives suivantes: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212365" y="4293096"/>
            <a:ext cx="4189544" cy="52322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Boucle </a:t>
            </a: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0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Boucle </a:t>
            </a: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–while-</a:t>
            </a:r>
            <a:endParaRPr/>
          </a:p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3059113" y="1552575"/>
            <a:ext cx="3941762" cy="8318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  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67544" y="2349500"/>
            <a:ext cx="8428806" cy="410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la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true, 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condition est évaluée de nouveau et si toujours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 une nouvelle fois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L’instruction sera exécutée jusqu’à ce que la condition devienne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Logique de la boucle - while -</a:t>
            </a:r>
            <a:endParaRPr/>
          </a:p>
        </p:txBody>
      </p:sp>
      <p:grpSp>
        <p:nvGrpSpPr>
          <p:cNvPr id="62" name="Google Shape;62;p5"/>
          <p:cNvGrpSpPr/>
          <p:nvPr/>
        </p:nvGrpSpPr>
        <p:grpSpPr>
          <a:xfrm>
            <a:off x="3768725" y="3124200"/>
            <a:ext cx="1600200" cy="1295400"/>
            <a:chOff x="2112" y="1968"/>
            <a:chExt cx="1008" cy="816"/>
          </a:xfrm>
        </p:grpSpPr>
        <p:grpSp>
          <p:nvGrpSpPr>
            <p:cNvPr id="63" name="Google Shape;63;p5"/>
            <p:cNvGrpSpPr/>
            <p:nvPr/>
          </p:nvGrpSpPr>
          <p:grpSpPr>
            <a:xfrm>
              <a:off x="2112" y="2544"/>
              <a:ext cx="1008" cy="240"/>
              <a:chOff x="2112" y="2544"/>
              <a:chExt cx="1008" cy="240"/>
            </a:xfrm>
          </p:grpSpPr>
          <p:sp>
            <p:nvSpPr>
              <p:cNvPr id="64" name="Google Shape;64;p5"/>
              <p:cNvSpPr/>
              <p:nvPr/>
            </p:nvSpPr>
            <p:spPr>
              <a:xfrm>
                <a:off x="2112" y="2544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 txBox="1"/>
              <p:nvPr/>
            </p:nvSpPr>
            <p:spPr>
              <a:xfrm>
                <a:off x="2186" y="2544"/>
                <a:ext cx="86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instruction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66" name="Google Shape;66;p5"/>
            <p:cNvCxnSpPr>
              <a:stCxn id="67" idx="2"/>
              <a:endCxn id="64" idx="0"/>
            </p:cNvCxnSpPr>
            <p:nvPr/>
          </p:nvCxnSpPr>
          <p:spPr>
            <a:xfrm>
              <a:off x="2616" y="1968"/>
              <a:ext cx="0" cy="6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" name="Google Shape;68;p5"/>
            <p:cNvSpPr txBox="1"/>
            <p:nvPr/>
          </p:nvSpPr>
          <p:spPr>
            <a:xfrm>
              <a:off x="2630" y="2111"/>
              <a:ext cx="41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True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cxnSp>
        <p:nvCxnSpPr>
          <p:cNvPr id="69" name="Google Shape;69;p5"/>
          <p:cNvCxnSpPr>
            <a:stCxn id="64" idx="1"/>
            <a:endCxn id="67" idx="1"/>
          </p:cNvCxnSpPr>
          <p:nvPr/>
        </p:nvCxnSpPr>
        <p:spPr>
          <a:xfrm rot="10800000">
            <a:off x="3540125" y="2590800"/>
            <a:ext cx="228600" cy="1638300"/>
          </a:xfrm>
          <a:prstGeom prst="bentConnector3">
            <a:avLst>
              <a:gd fmla="val 200000" name="adj1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70" name="Google Shape;70;p5"/>
          <p:cNvGrpSpPr/>
          <p:nvPr/>
        </p:nvGrpSpPr>
        <p:grpSpPr>
          <a:xfrm>
            <a:off x="4645026" y="2590800"/>
            <a:ext cx="1852613" cy="2453409"/>
            <a:chOff x="2664" y="1680"/>
            <a:chExt cx="1167" cy="1500"/>
          </a:xfrm>
        </p:grpSpPr>
        <p:cxnSp>
          <p:nvCxnSpPr>
            <p:cNvPr id="71" name="Google Shape;71;p5"/>
            <p:cNvCxnSpPr>
              <a:stCxn id="67" idx="3"/>
            </p:cNvCxnSpPr>
            <p:nvPr/>
          </p:nvCxnSpPr>
          <p:spPr>
            <a:xfrm flipH="1">
              <a:off x="2664" y="1680"/>
              <a:ext cx="600" cy="1500"/>
            </a:xfrm>
            <a:prstGeom prst="bentConnector4">
              <a:avLst>
                <a:gd fmla="val 544809" name="adj1"/>
                <a:gd fmla="val -99884" name="adj2"/>
              </a:avLst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2" name="Google Shape;72;p5"/>
            <p:cNvSpPr txBox="1"/>
            <p:nvPr/>
          </p:nvSpPr>
          <p:spPr>
            <a:xfrm>
              <a:off x="3359" y="2114"/>
              <a:ext cx="472" cy="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3540125" y="1581150"/>
            <a:ext cx="2057400" cy="1543050"/>
            <a:chOff x="1968" y="996"/>
            <a:chExt cx="1296" cy="972"/>
          </a:xfrm>
        </p:grpSpPr>
        <p:cxnSp>
          <p:nvCxnSpPr>
            <p:cNvPr id="74" name="Google Shape;74;p5"/>
            <p:cNvCxnSpPr>
              <a:endCxn id="67" idx="0"/>
            </p:cNvCxnSpPr>
            <p:nvPr/>
          </p:nvCxnSpPr>
          <p:spPr>
            <a:xfrm>
              <a:off x="2616" y="996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5" name="Google Shape;75;p5"/>
            <p:cNvGrpSpPr/>
            <p:nvPr/>
          </p:nvGrpSpPr>
          <p:grpSpPr>
            <a:xfrm>
              <a:off x="1968" y="1296"/>
              <a:ext cx="1296" cy="672"/>
              <a:chOff x="1968" y="1296"/>
              <a:chExt cx="1296" cy="672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1968" y="1296"/>
                <a:ext cx="1296" cy="672"/>
              </a:xfrm>
              <a:prstGeom prst="diamond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 txBox="1"/>
              <p:nvPr/>
            </p:nvSpPr>
            <p:spPr>
              <a:xfrm>
                <a:off x="2234" y="1429"/>
                <a:ext cx="7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Évaluer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condition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–while-</a:t>
            </a:r>
            <a:endParaRPr/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2286000" y="2049830"/>
            <a:ext cx="3108600" cy="1631700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 = 1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while  count &lt;= 5 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print (count)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count += 1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–do-while</a:t>
            </a:r>
            <a:endParaRPr/>
          </a:p>
        </p:txBody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boucle do-while n'existe pas dans python.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95" name="Google Shape;95;p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1263650" y="3638620"/>
            <a:ext cx="48013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valeur in range(in,fi,st):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7" name="Google Shape;97;p8"/>
          <p:cNvGrpSpPr/>
          <p:nvPr/>
        </p:nvGrpSpPr>
        <p:grpSpPr>
          <a:xfrm>
            <a:off x="1439863" y="2117725"/>
            <a:ext cx="2987675" cy="1527175"/>
            <a:chOff x="907" y="1286"/>
            <a:chExt cx="1882" cy="962"/>
          </a:xfrm>
        </p:grpSpPr>
        <p:sp>
          <p:nvSpPr>
            <p:cNvPr id="98" name="Google Shape;98;p8"/>
            <p:cNvSpPr txBox="1"/>
            <p:nvPr/>
          </p:nvSpPr>
          <p:spPr>
            <a:xfrm>
              <a:off x="907" y="1286"/>
              <a:ext cx="1870" cy="6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initialization</a:t>
              </a:r>
              <a:endParaRPr b="1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est exécutée avant que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la boucle démarre</a:t>
              </a:r>
              <a:endPara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99" name="Google Shape;99;p8"/>
            <p:cNvCxnSpPr/>
            <p:nvPr/>
          </p:nvCxnSpPr>
          <p:spPr>
            <a:xfrm>
              <a:off x="1824" y="1920"/>
              <a:ext cx="965" cy="32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0" name="Google Shape;100;p8"/>
          <p:cNvGrpSpPr/>
          <p:nvPr/>
        </p:nvGrpSpPr>
        <p:grpSpPr>
          <a:xfrm>
            <a:off x="4924425" y="2117725"/>
            <a:ext cx="3141663" cy="1527175"/>
            <a:chOff x="3102" y="1248"/>
            <a:chExt cx="1979" cy="962"/>
          </a:xfrm>
        </p:grpSpPr>
        <p:sp>
          <p:nvSpPr>
            <p:cNvPr id="101" name="Google Shape;101;p8"/>
            <p:cNvSpPr txBox="1"/>
            <p:nvPr/>
          </p:nvSpPr>
          <p:spPr>
            <a:xfrm>
              <a:off x="3102" y="1248"/>
              <a:ext cx="1979" cy="63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instruction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Exécutée jusqu’à ce que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que </a:t>
              </a: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soit </a:t>
              </a:r>
              <a:r>
                <a:rPr b="1" lang="en-US" sz="20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02" name="Google Shape;102;p8"/>
            <p:cNvCxnSpPr/>
            <p:nvPr/>
          </p:nvCxnSpPr>
          <p:spPr>
            <a:xfrm flipH="1">
              <a:off x="3243" y="1872"/>
              <a:ext cx="597" cy="33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3" name="Google Shape;103;p8"/>
          <p:cNvGrpSpPr/>
          <p:nvPr/>
        </p:nvGrpSpPr>
        <p:grpSpPr>
          <a:xfrm>
            <a:off x="4114800" y="4005264"/>
            <a:ext cx="4586288" cy="1328738"/>
            <a:chOff x="2592" y="2437"/>
            <a:chExt cx="2889" cy="837"/>
          </a:xfrm>
        </p:grpSpPr>
        <p:sp>
          <p:nvSpPr>
            <p:cNvPr id="104" name="Google Shape;104;p8"/>
            <p:cNvSpPr txBox="1"/>
            <p:nvPr/>
          </p:nvSpPr>
          <p:spPr>
            <a:xfrm>
              <a:off x="2592" y="2832"/>
              <a:ext cx="2889" cy="442"/>
            </a:xfrm>
            <a:prstGeom prst="rect">
              <a:avLst/>
            </a:prstGeom>
            <a:solidFill>
              <a:srgbClr val="CCFF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increment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est exécuté à la fin de chaque itération</a:t>
              </a:r>
              <a:endParaRPr/>
            </a:p>
          </p:txBody>
        </p:sp>
        <p:cxnSp>
          <p:nvCxnSpPr>
            <p:cNvPr id="105" name="Google Shape;105;p8"/>
            <p:cNvCxnSpPr/>
            <p:nvPr/>
          </p:nvCxnSpPr>
          <p:spPr>
            <a:xfrm rot="10800000">
              <a:off x="3606" y="2437"/>
              <a:ext cx="611" cy="395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Logique de la boucle - for -</a:t>
            </a:r>
            <a:endParaRPr/>
          </a:p>
        </p:txBody>
      </p:sp>
      <p:grpSp>
        <p:nvGrpSpPr>
          <p:cNvPr id="111" name="Google Shape;111;p9"/>
          <p:cNvGrpSpPr/>
          <p:nvPr/>
        </p:nvGrpSpPr>
        <p:grpSpPr>
          <a:xfrm>
            <a:off x="3848100" y="3505200"/>
            <a:ext cx="1600200" cy="1066800"/>
            <a:chOff x="2424" y="2208"/>
            <a:chExt cx="1008" cy="672"/>
          </a:xfrm>
        </p:grpSpPr>
        <p:sp>
          <p:nvSpPr>
            <p:cNvPr id="112" name="Google Shape;112;p9"/>
            <p:cNvSpPr/>
            <p:nvPr/>
          </p:nvSpPr>
          <p:spPr>
            <a:xfrm>
              <a:off x="2424" y="2640"/>
              <a:ext cx="1008" cy="240"/>
            </a:xfrm>
            <a:prstGeom prst="rect">
              <a:avLst/>
            </a:prstGeom>
            <a:solidFill>
              <a:srgbClr val="FFCC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9"/>
            <p:cNvSpPr txBox="1"/>
            <p:nvPr/>
          </p:nvSpPr>
          <p:spPr>
            <a:xfrm>
              <a:off x="2498" y="2640"/>
              <a:ext cx="8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instruction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14" name="Google Shape;114;p9"/>
            <p:cNvCxnSpPr>
              <a:stCxn id="115" idx="2"/>
              <a:endCxn id="112" idx="0"/>
            </p:cNvCxnSpPr>
            <p:nvPr/>
          </p:nvCxnSpPr>
          <p:spPr>
            <a:xfrm>
              <a:off x="2928" y="2208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6" name="Google Shape;116;p9"/>
            <p:cNvSpPr txBox="1"/>
            <p:nvPr/>
          </p:nvSpPr>
          <p:spPr>
            <a:xfrm>
              <a:off x="2923" y="2255"/>
              <a:ext cx="41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True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cxnSp>
        <p:nvCxnSpPr>
          <p:cNvPr id="117" name="Google Shape;117;p9"/>
          <p:cNvCxnSpPr>
            <a:stCxn id="118" idx="1"/>
            <a:endCxn id="115" idx="1"/>
          </p:cNvCxnSpPr>
          <p:nvPr/>
        </p:nvCxnSpPr>
        <p:spPr>
          <a:xfrm rot="10800000">
            <a:off x="3657600" y="3009900"/>
            <a:ext cx="190500" cy="2057400"/>
          </a:xfrm>
          <a:prstGeom prst="bentConnector3">
            <a:avLst>
              <a:gd fmla="val 220000" name="adj1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9" name="Google Shape;119;p9"/>
          <p:cNvGrpSpPr/>
          <p:nvPr/>
        </p:nvGrpSpPr>
        <p:grpSpPr>
          <a:xfrm>
            <a:off x="3657600" y="2195513"/>
            <a:ext cx="1981200" cy="1309687"/>
            <a:chOff x="2304" y="1383"/>
            <a:chExt cx="1248" cy="825"/>
          </a:xfrm>
        </p:grpSpPr>
        <p:grpSp>
          <p:nvGrpSpPr>
            <p:cNvPr id="120" name="Google Shape;120;p9"/>
            <p:cNvGrpSpPr/>
            <p:nvPr/>
          </p:nvGrpSpPr>
          <p:grpSpPr>
            <a:xfrm>
              <a:off x="2304" y="1584"/>
              <a:ext cx="1248" cy="624"/>
              <a:chOff x="1968" y="1632"/>
              <a:chExt cx="1248" cy="624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1968" y="1632"/>
                <a:ext cx="1248" cy="624"/>
              </a:xfrm>
              <a:prstGeom prst="diamond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9"/>
              <p:cNvSpPr txBox="1"/>
              <p:nvPr/>
            </p:nvSpPr>
            <p:spPr>
              <a:xfrm>
                <a:off x="2210" y="1741"/>
                <a:ext cx="7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Évaluer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condition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122" name="Google Shape;122;p9"/>
            <p:cNvCxnSpPr>
              <a:stCxn id="123" idx="2"/>
              <a:endCxn id="115" idx="0"/>
            </p:cNvCxnSpPr>
            <p:nvPr/>
          </p:nvCxnSpPr>
          <p:spPr>
            <a:xfrm>
              <a:off x="2928" y="1383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24" name="Google Shape;124;p9"/>
          <p:cNvGrpSpPr/>
          <p:nvPr/>
        </p:nvGrpSpPr>
        <p:grpSpPr>
          <a:xfrm>
            <a:off x="4686301" y="3009900"/>
            <a:ext cx="1928813" cy="2857500"/>
            <a:chOff x="2952" y="1896"/>
            <a:chExt cx="1215" cy="1800"/>
          </a:xfrm>
        </p:grpSpPr>
        <p:cxnSp>
          <p:nvCxnSpPr>
            <p:cNvPr id="125" name="Google Shape;125;p9"/>
            <p:cNvCxnSpPr>
              <a:stCxn id="115" idx="3"/>
            </p:cNvCxnSpPr>
            <p:nvPr/>
          </p:nvCxnSpPr>
          <p:spPr>
            <a:xfrm flipH="1">
              <a:off x="2952" y="1896"/>
              <a:ext cx="600" cy="1800"/>
            </a:xfrm>
            <a:prstGeom prst="bentConnector4">
              <a:avLst>
                <a:gd fmla="val 568858" name="adj1"/>
                <a:gd fmla="val -103827" name="adj2"/>
              </a:avLst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6" name="Google Shape;126;p9"/>
            <p:cNvSpPr txBox="1"/>
            <p:nvPr/>
          </p:nvSpPr>
          <p:spPr>
            <a:xfrm>
              <a:off x="3695" y="2255"/>
              <a:ext cx="4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27" name="Google Shape;127;p9"/>
          <p:cNvGrpSpPr/>
          <p:nvPr/>
        </p:nvGrpSpPr>
        <p:grpSpPr>
          <a:xfrm>
            <a:off x="3848100" y="4572000"/>
            <a:ext cx="1600200" cy="685800"/>
            <a:chOff x="2424" y="2880"/>
            <a:chExt cx="1008" cy="432"/>
          </a:xfrm>
        </p:grpSpPr>
        <p:sp>
          <p:nvSpPr>
            <p:cNvPr id="118" name="Google Shape;118;p9"/>
            <p:cNvSpPr/>
            <p:nvPr/>
          </p:nvSpPr>
          <p:spPr>
            <a:xfrm>
              <a:off x="2424" y="3072"/>
              <a:ext cx="1008" cy="240"/>
            </a:xfrm>
            <a:prstGeom prst="rect">
              <a:avLst/>
            </a:prstGeom>
            <a:solidFill>
              <a:srgbClr val="FFCC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9"/>
            <p:cNvSpPr txBox="1"/>
            <p:nvPr/>
          </p:nvSpPr>
          <p:spPr>
            <a:xfrm>
              <a:off x="2519" y="3072"/>
              <a:ext cx="81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increment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29" name="Google Shape;129;p9"/>
            <p:cNvCxnSpPr>
              <a:stCxn id="112" idx="2"/>
              <a:endCxn id="128" idx="0"/>
            </p:cNvCxnSpPr>
            <p:nvPr/>
          </p:nvCxnSpPr>
          <p:spPr>
            <a:xfrm>
              <a:off x="2928" y="2880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0" name="Google Shape;130;p9"/>
          <p:cNvGrpSpPr/>
          <p:nvPr/>
        </p:nvGrpSpPr>
        <p:grpSpPr>
          <a:xfrm>
            <a:off x="3848100" y="1352550"/>
            <a:ext cx="1600200" cy="857250"/>
            <a:chOff x="2424" y="852"/>
            <a:chExt cx="1008" cy="540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2424" y="1152"/>
              <a:ext cx="1008" cy="240"/>
              <a:chOff x="2112" y="1200"/>
              <a:chExt cx="1008" cy="240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2112" y="1200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9"/>
              <p:cNvSpPr txBox="1"/>
              <p:nvPr/>
            </p:nvSpPr>
            <p:spPr>
              <a:xfrm>
                <a:off x="2139" y="1200"/>
                <a:ext cx="95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initialisation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133" name="Google Shape;133;p9"/>
            <p:cNvCxnSpPr>
              <a:endCxn id="123" idx="0"/>
            </p:cNvCxnSpPr>
            <p:nvPr/>
          </p:nvCxnSpPr>
          <p:spPr>
            <a:xfrm>
              <a:off x="2928" y="852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Boucle for est une boucle while deguisée !: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3092450" y="2507029"/>
            <a:ext cx="3336925" cy="16312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initialisation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increment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152400" y="1171255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</p:txBody>
      </p:sp>
      <p:sp>
        <p:nvSpPr>
          <p:cNvPr id="147" name="Google Shape;147;p11"/>
          <p:cNvSpPr txBox="1"/>
          <p:nvPr/>
        </p:nvSpPr>
        <p:spPr>
          <a:xfrm>
            <a:off x="1828800" y="1978095"/>
            <a:ext cx="4031873" cy="707886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count in range(1, 5):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(count)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90600" y="3048000"/>
            <a:ext cx="79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Initialisation: peut être utilisée pour la déclaration de variable</a:t>
            </a:r>
            <a:endParaRPr/>
          </a:p>
          <a:p>
            <a:pPr indent="-342900" lvl="0" marL="3429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condition de la boucle </a:t>
            </a: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testée avant d’exécuter les instructions</a:t>
            </a:r>
            <a:endParaRPr/>
          </a:p>
          <a:p>
            <a:pPr indent="-342900" lvl="0" marL="34290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Increment: expression quelconque</a:t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683568" y="2132856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Interet boucle for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exécution un nombre de fois déterminé.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et continue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 u="sng"/>
              <a:t>break</a:t>
            </a:r>
            <a:r>
              <a:rPr lang="en-US"/>
              <a:t>: peut être utilisé dans une boucle pour terminer la boucle de façon immédiate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 u="sng"/>
              <a:t>continue</a:t>
            </a:r>
            <a:r>
              <a:rPr lang="en-US"/>
              <a:t>: </a:t>
            </a:r>
            <a:r>
              <a:rPr lang="en-US" sz="2400"/>
              <a:t>peut être utilisé dans une boucle pour terminer l'itération courante et ramène l'exécution à la fin de la boucle sans sortir de la boucle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2051720" y="2060848"/>
            <a:ext cx="4647426" cy="1631216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count in range(1, 5):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(count)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break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('suite du programme')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3"/>
          <p:cNvSpPr/>
          <p:nvPr/>
        </p:nvSpPr>
        <p:spPr>
          <a:xfrm flipH="1">
            <a:off x="2195736" y="2780928"/>
            <a:ext cx="1008112" cy="720080"/>
          </a:xfrm>
          <a:prstGeom prst="arc">
            <a:avLst>
              <a:gd fmla="val 18328742" name="adj1"/>
              <a:gd fmla="val 2153776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572000" y="4437112"/>
            <a:ext cx="4182555" cy="2031325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count == 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continue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('val:',count)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('suite du programme') 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3"/>
          <p:cNvSpPr/>
          <p:nvPr/>
        </p:nvSpPr>
        <p:spPr>
          <a:xfrm flipH="1">
            <a:off x="4356192" y="5435225"/>
            <a:ext cx="1080120" cy="720080"/>
          </a:xfrm>
          <a:prstGeom prst="arc">
            <a:avLst>
              <a:gd fmla="val 14648499" name="adj1"/>
              <a:gd fmla="val 8173546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2" name="Google Shape;172;p1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a vu dans cette présentation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bouclage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2009-04-18T11:47:21Z</dcterms:created>
  <dc:creator>HafedB</dc:creator>
</cp:coreProperties>
</file>