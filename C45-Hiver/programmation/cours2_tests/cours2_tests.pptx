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9144000"/>
  <p:notesSz cx="7315200" cy="9601200"/>
  <p:embeddedFontLst>
    <p:embeddedFont>
      <p:font typeface="Arimo"/>
      <p:regular r:id="rId29"/>
      <p:bold r:id="rId30"/>
      <p:italic r:id="rId31"/>
      <p:boldItalic r:id="rId32"/>
    </p:embeddedFont>
    <p:embeddedFont>
      <p:font typeface="Quattrocento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7" roundtripDataSignature="AMtx7mgA59vxsk7OFcBqZjE7fZPNBhcP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2121EC-1A69-4DB9-A901-048A88D5B0D6}">
  <a:tblStyle styleId="{A52121EC-1A69-4DB9-A901-048A88D5B0D6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1">
              <a:alpha val="40000"/>
            </a:schemeClr>
          </a:solidFill>
        </a:fill>
      </a:tcStyle>
    </a:band1H>
    <a:band2H>
      <a:tcTxStyle b="off" i="off"/>
    </a:band2H>
    <a:band1V>
      <a:tcTxStyle b="off" i="off"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 b="off" i="off"/>
    </a:band2V>
    <a:la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06824A1-DFED-4C20-9B8A-38D8686F5CE5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AEEFF"/>
          </a:solidFill>
        </a:fill>
      </a:tcStyle>
    </a:wholeTbl>
    <a:band1H>
      <a:tcTxStyle b="off" i="off"/>
      <a:tcStyle>
        <a:fill>
          <a:solidFill>
            <a:srgbClr val="D1DBFE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1DBFE"/>
          </a:solidFill>
        </a:fill>
      </a:tcStyle>
    </a:band1V>
    <a:band2V>
      <a:tcTxStyle b="off" i="off"/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m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mo-italic.fntdata"/><Relationship Id="rId30" Type="http://schemas.openxmlformats.org/officeDocument/2006/relationships/font" Target="fonts/Arimo-bold.fntdata"/><Relationship Id="rId11" Type="http://schemas.openxmlformats.org/officeDocument/2006/relationships/slide" Target="slides/slide5.xml"/><Relationship Id="rId33" Type="http://schemas.openxmlformats.org/officeDocument/2006/relationships/font" Target="fonts/QuattrocentoSans-regular.fntdata"/><Relationship Id="rId10" Type="http://schemas.openxmlformats.org/officeDocument/2006/relationships/slide" Target="slides/slide4.xml"/><Relationship Id="rId32" Type="http://schemas.openxmlformats.org/officeDocument/2006/relationships/font" Target="fonts/Arimo-boldItalic.fntdata"/><Relationship Id="rId13" Type="http://schemas.openxmlformats.org/officeDocument/2006/relationships/slide" Target="slides/slide7.xml"/><Relationship Id="rId35" Type="http://schemas.openxmlformats.org/officeDocument/2006/relationships/font" Target="fonts/QuattrocentoSans-italic.fntdata"/><Relationship Id="rId12" Type="http://schemas.openxmlformats.org/officeDocument/2006/relationships/slide" Target="slides/slide6.xml"/><Relationship Id="rId34" Type="http://schemas.openxmlformats.org/officeDocument/2006/relationships/font" Target="fonts/QuattrocentoSans-bold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QuattrocentoSa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2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4"/>
          <p:cNvPicPr preferRelativeResize="0"/>
          <p:nvPr/>
        </p:nvPicPr>
        <p:blipFill rotWithShape="1">
          <a:blip r:embed="rId2">
            <a:alphaModFix/>
          </a:blip>
          <a:srcRect b="15790" l="12447" r="5742" t="10527"/>
          <a:stretch/>
        </p:blipFill>
        <p:spPr>
          <a:xfrm>
            <a:off x="207963" y="228600"/>
            <a:ext cx="4953000" cy="150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25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–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" name="Google Shape;2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/>
          <p:nvPr/>
        </p:nvSpPr>
        <p:spPr>
          <a:xfrm>
            <a:off x="0" y="6496050"/>
            <a:ext cx="9144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3"/>
          <p:cNvSpPr/>
          <p:nvPr/>
        </p:nvSpPr>
        <p:spPr>
          <a:xfrm>
            <a:off x="0" y="6524625"/>
            <a:ext cx="530225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3"/>
          <p:cNvSpPr/>
          <p:nvPr/>
        </p:nvSpPr>
        <p:spPr>
          <a:xfrm>
            <a:off x="481013" y="6464300"/>
            <a:ext cx="8662987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20/10/2015    </a:t>
            </a:r>
            <a:r>
              <a:rPr b="1" i="0" lang="en-US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Initiation POO - Python-  Hafed Benteftifa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Bases du langage Python </a:t>
            </a:r>
            <a:br>
              <a:rPr lang="en-US"/>
            </a:br>
            <a:r>
              <a:rPr lang="en-US"/>
              <a:t> 1. structure de tests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41" name="Google Shape;41;p2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Les objectifs de cette présentation sont les suivants: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Structures de tests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Instruction if et conditions </a:t>
            </a:r>
            <a:endParaRPr/>
          </a:p>
        </p:txBody>
      </p:sp>
      <p:sp>
        <p:nvSpPr>
          <p:cNvPr id="47" name="Google Shape;47;p3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Une structure conditionnnelle nous permet de choisir lesquelles des prochaines instructions peuvent être exécutées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Les structures conditionnelles nous permettent de gérer des décisions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Instruction if et conditions </a:t>
            </a:r>
            <a:endParaRPr/>
          </a:p>
        </p:txBody>
      </p:sp>
      <p:sp>
        <p:nvSpPr>
          <p:cNvPr id="53" name="Google Shape;53;p4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Les structures conditionnelles en python sont les suivantes: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if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if-else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if-elif-else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Structure conditionnelle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Instruction –if-</a:t>
            </a:r>
            <a:endParaRPr/>
          </a:p>
        </p:txBody>
      </p:sp>
      <p:sp>
        <p:nvSpPr>
          <p:cNvPr id="59" name="Google Shape;59;p5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La structure  if a la syntaxe suivante: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/>
        </p:nvSpPr>
        <p:spPr>
          <a:xfrm>
            <a:off x="3522663" y="3486220"/>
            <a:ext cx="2800767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  </a:t>
            </a:r>
            <a:r>
              <a:rPr b="1" i="1" lang="en-US" sz="20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1" lang="en-US" sz="20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1292225" y="2495620"/>
            <a:ext cx="2340705" cy="7078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b="1" i="0" lang="en-US" sz="20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est un mot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Réservé de python</a:t>
            </a:r>
            <a:endParaRPr b="1" i="0" sz="2000" u="none" cap="none" strike="noStrike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2913063" y="3260725"/>
            <a:ext cx="722312" cy="312738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" name="Google Shape;63;p5"/>
          <p:cNvSpPr txBox="1"/>
          <p:nvPr/>
        </p:nvSpPr>
        <p:spPr>
          <a:xfrm>
            <a:off x="4140200" y="1773238"/>
            <a:ext cx="4200525" cy="1311275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La </a:t>
            </a:r>
            <a:r>
              <a:rPr b="1" i="1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 doit être impérativement une expression booléenne. Elle doit s’évaluer soit à </a:t>
            </a:r>
            <a:r>
              <a:rPr b="1" i="0" lang="en-US" sz="2000" u="sng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true</a:t>
            </a: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 ou </a:t>
            </a:r>
            <a:r>
              <a:rPr b="1" i="0" lang="en-US" sz="2000" u="sng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false</a:t>
            </a: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p5"/>
          <p:cNvCxnSpPr/>
          <p:nvPr/>
        </p:nvCxnSpPr>
        <p:spPr>
          <a:xfrm flipH="1">
            <a:off x="5148263" y="3068638"/>
            <a:ext cx="152400" cy="4572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" name="Google Shape;65;p5"/>
          <p:cNvSpPr txBox="1"/>
          <p:nvPr/>
        </p:nvSpPr>
        <p:spPr>
          <a:xfrm>
            <a:off x="642938" y="4857750"/>
            <a:ext cx="7826375" cy="708025"/>
          </a:xfrm>
          <a:prstGeom prst="rect">
            <a:avLst/>
          </a:prstGeom>
          <a:solidFill>
            <a:srgbClr val="CCFF33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Si la </a:t>
            </a:r>
            <a:r>
              <a:rPr b="1" i="1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 est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true</a:t>
            </a: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,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 qui suit</a:t>
            </a: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 est exécuté.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Si c’est 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false</a:t>
            </a: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,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 qui suit</a:t>
            </a: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  ne sera pas exécuté.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" name="Google Shape;66;p5"/>
          <p:cNvCxnSpPr/>
          <p:nvPr/>
        </p:nvCxnSpPr>
        <p:spPr>
          <a:xfrm flipH="1" rot="10800000">
            <a:off x="4818063" y="4149725"/>
            <a:ext cx="41275" cy="6350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Logique de l’instruction –if-</a:t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3203575" y="2060575"/>
            <a:ext cx="2498725" cy="1295400"/>
          </a:xfrm>
          <a:prstGeom prst="diamond">
            <a:avLst/>
          </a:prstGeom>
          <a:solidFill>
            <a:srgbClr val="FFCC99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3622675" y="2420938"/>
            <a:ext cx="16700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Évaluation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La condition</a:t>
            </a:r>
            <a:endParaRPr b="0" i="0" sz="24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74" name="Google Shape;74;p6"/>
          <p:cNvCxnSpPr/>
          <p:nvPr/>
        </p:nvCxnSpPr>
        <p:spPr>
          <a:xfrm>
            <a:off x="4457700" y="1371600"/>
            <a:ext cx="0" cy="6858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" name="Google Shape;75;p6"/>
          <p:cNvCxnSpPr/>
          <p:nvPr/>
        </p:nvCxnSpPr>
        <p:spPr>
          <a:xfrm>
            <a:off x="4457700" y="4405313"/>
            <a:ext cx="0" cy="1081087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" name="Google Shape;76;p6"/>
          <p:cNvCxnSpPr>
            <a:stCxn id="72" idx="2"/>
            <a:endCxn id="77" idx="0"/>
          </p:cNvCxnSpPr>
          <p:nvPr/>
        </p:nvCxnSpPr>
        <p:spPr>
          <a:xfrm>
            <a:off x="4452938" y="3355975"/>
            <a:ext cx="4800" cy="7080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" name="Google Shape;78;p6"/>
          <p:cNvSpPr txBox="1"/>
          <p:nvPr/>
        </p:nvSpPr>
        <p:spPr>
          <a:xfrm>
            <a:off x="4480551" y="3461025"/>
            <a:ext cx="91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True</a:t>
            </a:r>
            <a:endParaRPr b="0" i="0" sz="2400" u="none" cap="none" strike="noStrike">
              <a:solidFill>
                <a:schemeClr val="hlink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9" name="Google Shape;79;p6"/>
          <p:cNvSpPr txBox="1"/>
          <p:nvPr/>
        </p:nvSpPr>
        <p:spPr>
          <a:xfrm>
            <a:off x="5978733" y="3642000"/>
            <a:ext cx="131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False</a:t>
            </a:r>
            <a:endParaRPr b="0" i="0" sz="2400" u="none" cap="none" strike="noStrike">
              <a:solidFill>
                <a:schemeClr val="hlink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80" name="Google Shape;80;p6"/>
          <p:cNvCxnSpPr>
            <a:stCxn id="72" idx="3"/>
            <a:endCxn id="77" idx="0"/>
          </p:cNvCxnSpPr>
          <p:nvPr/>
        </p:nvCxnSpPr>
        <p:spPr>
          <a:xfrm flipH="1">
            <a:off x="4457600" y="2708275"/>
            <a:ext cx="1244700" cy="1355700"/>
          </a:xfrm>
          <a:prstGeom prst="bentConnector4">
            <a:avLst>
              <a:gd fmla="val -18365" name="adj1"/>
              <a:gd fmla="val 145549" name="adj2"/>
            </a:avLst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" name="Google Shape;81;p6"/>
          <p:cNvSpPr/>
          <p:nvPr/>
        </p:nvSpPr>
        <p:spPr>
          <a:xfrm>
            <a:off x="3635375" y="4103688"/>
            <a:ext cx="1600200" cy="333375"/>
          </a:xfrm>
          <a:prstGeom prst="rect">
            <a:avLst/>
          </a:prstGeom>
          <a:solidFill>
            <a:srgbClr val="FFCC99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3775075" y="4064000"/>
            <a:ext cx="1365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instruction</a:t>
            </a:r>
            <a:endParaRPr b="0" i="0" sz="24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82" name="Google Shape;82;p6"/>
          <p:cNvCxnSpPr/>
          <p:nvPr/>
        </p:nvCxnSpPr>
        <p:spPr>
          <a:xfrm>
            <a:off x="8172450" y="4149725"/>
            <a:ext cx="914400" cy="914400"/>
          </a:xfrm>
          <a:prstGeom prst="straightConnector1">
            <a:avLst/>
          </a:prstGeom>
          <a:noFill/>
          <a:ln>
            <a:noFill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Expression booléenne</a:t>
            </a:r>
            <a:endParaRPr/>
          </a:p>
        </p:txBody>
      </p:sp>
      <p:sp>
        <p:nvSpPr>
          <p:cNvPr id="88" name="Google Shape;88;p7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En général, l’expression utilise un opérateur  relationnel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Ces opérateurs retournent des valeurs booléennes:</a:t>
            </a:r>
            <a:endParaRPr/>
          </a:p>
          <a:p>
            <a:pPr indent="-101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None/>
            </a:pPr>
            <a:r>
              <a:t/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None/>
            </a:pPr>
            <a:r>
              <a:rPr lang="en-US"/>
              <a:t>==		equal to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None/>
            </a:pPr>
            <a:r>
              <a:rPr lang="en-US"/>
              <a:t>!=			not equal to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None/>
            </a:pPr>
            <a:r>
              <a:rPr lang="en-US"/>
              <a:t>&lt;			less than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None/>
            </a:pPr>
            <a:r>
              <a:rPr lang="en-US"/>
              <a:t>&gt;			greater than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None/>
            </a:pPr>
            <a:r>
              <a:rPr lang="en-US"/>
              <a:t>&lt;=		less than or equal to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None/>
            </a:pPr>
            <a:r>
              <a:rPr lang="en-US"/>
              <a:t>&gt;=		greater than or equal to</a:t>
            </a:r>
            <a:endParaRPr/>
          </a:p>
          <a:p>
            <a:pPr indent="-101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Note: L’opérateur d’égalité (==) est différent de l’opérateur d’affectation (=)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Instruction if- exemple</a:t>
            </a:r>
            <a:endParaRPr/>
          </a:p>
        </p:txBody>
      </p:sp>
      <p:sp>
        <p:nvSpPr>
          <p:cNvPr id="94" name="Google Shape;94;p8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Étape 1: la condition est evaluée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Si la condition est true, delta = sum - MAX est executé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Si la condition est false, delta = sum - MAX est ignoré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95" name="Google Shape;95;p8"/>
          <p:cNvSpPr txBox="1"/>
          <p:nvPr/>
        </p:nvSpPr>
        <p:spPr>
          <a:xfrm>
            <a:off x="1691674" y="3548100"/>
            <a:ext cx="6070800" cy="1569900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 sum == MAX :</a:t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delta = sum - MAX</a:t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("La somme est:" , sum)</a:t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Operateurs logiques</a:t>
            </a:r>
            <a:endParaRPr/>
          </a:p>
        </p:txBody>
      </p:sp>
      <p:sp>
        <p:nvSpPr>
          <p:cNvPr id="101" name="Google Shape;101;p9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Les expressions booléennes peuvent aussi utiliser les opérateurs logiques: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			</a:t>
            </a:r>
            <a:r>
              <a:rPr b="1" lang="en-US"/>
              <a:t>not</a:t>
            </a:r>
            <a:r>
              <a:rPr lang="en-US"/>
              <a:t>	Logical NOT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			</a:t>
            </a:r>
            <a:r>
              <a:rPr b="1" lang="en-US"/>
              <a:t>and</a:t>
            </a:r>
            <a:r>
              <a:rPr lang="en-US"/>
              <a:t>	Logical AND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			</a:t>
            </a:r>
            <a:r>
              <a:rPr b="1" lang="en-US"/>
              <a:t>or</a:t>
            </a:r>
            <a:r>
              <a:rPr lang="en-US"/>
              <a:t>	Logical 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Opérandes: booléen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Résultat: booleen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Opérateur Logique </a:t>
            </a:r>
            <a:r>
              <a:rPr lang="en-US" u="sng"/>
              <a:t>not</a:t>
            </a:r>
            <a:endParaRPr/>
          </a:p>
        </p:txBody>
      </p:sp>
      <p:graphicFrame>
        <p:nvGraphicFramePr>
          <p:cNvPr id="107" name="Google Shape;107;p10"/>
          <p:cNvGraphicFramePr/>
          <p:nvPr/>
        </p:nvGraphicFramePr>
        <p:xfrm>
          <a:off x="1187624" y="1196752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89ADFF"/>
                    </a:gs>
                    <a:gs pos="35000">
                      <a:srgbClr val="ABC7FF"/>
                    </a:gs>
                    <a:gs pos="100000">
                      <a:srgbClr val="DBE5FF"/>
                    </a:gs>
                  </a:gsLst>
                  <a:lin ang="16200000" scaled="0"/>
                </a:gradFill>
                <a:tableStyleId>{A52121EC-1A69-4DB9-A901-048A88D5B0D6}</a:tableStyleId>
              </a:tblPr>
              <a:tblGrid>
                <a:gridCol w="3568350"/>
                <a:gridCol w="3560450"/>
              </a:tblGrid>
              <a:tr h="49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/>
                        <a:t>A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281600" marL="281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/>
                        <a:t>not A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281600" marL="281600" anchor="ctr"/>
                </a:tc>
              </a:tr>
              <a:tr h="49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/>
                        <a:t>True</a:t>
                      </a:r>
                      <a:endParaRPr b="0" i="0" sz="28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81600" marL="281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/>
                        <a:t>False</a:t>
                      </a:r>
                      <a:endParaRPr b="0" i="0" sz="28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81600" marL="281600" anchor="ctr"/>
                </a:tc>
              </a:tr>
              <a:tr h="49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/>
                        <a:t>False</a:t>
                      </a:r>
                      <a:endParaRPr b="0" i="0" sz="28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81600" marL="281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/>
                        <a:t>True</a:t>
                      </a:r>
                      <a:endParaRPr b="0" i="0" sz="28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81600" marL="281600" anchor="ctr"/>
                </a:tc>
              </a:tr>
            </a:tbl>
          </a:graphicData>
        </a:graphic>
      </p:graphicFrame>
      <p:sp>
        <p:nvSpPr>
          <p:cNvPr id="108" name="Google Shape;108;p10"/>
          <p:cNvSpPr txBox="1"/>
          <p:nvPr>
            <p:ph idx="1" type="body"/>
          </p:nvPr>
        </p:nvSpPr>
        <p:spPr>
          <a:xfrm>
            <a:off x="0" y="2997200"/>
            <a:ext cx="8077200" cy="253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L’opérateur logique</a:t>
            </a:r>
            <a:r>
              <a:rPr b="1" i="1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not </a:t>
            </a:r>
            <a:r>
              <a:rPr b="0" i="1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 très utile dans les structures de test et boucle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Notation: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</a:t>
            </a:r>
            <a:endParaRPr b="1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 une  condition booléenne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alors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 A</a:t>
            </a: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</a:t>
            </a: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  Si </a:t>
            </a:r>
            <a:r>
              <a:rPr b="1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</a:t>
            </a: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alors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notA</a:t>
            </a: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endParaRPr b="1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ransition>
    <p:wheel spokes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Opérateur logique </a:t>
            </a:r>
            <a:r>
              <a:rPr lang="en-US" u="sng"/>
              <a:t>and</a:t>
            </a:r>
            <a:endParaRPr/>
          </a:p>
        </p:txBody>
      </p:sp>
      <p:graphicFrame>
        <p:nvGraphicFramePr>
          <p:cNvPr id="114" name="Google Shape;114;p11"/>
          <p:cNvGraphicFramePr/>
          <p:nvPr/>
        </p:nvGraphicFramePr>
        <p:xfrm>
          <a:off x="4788025" y="14847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{A52121EC-1A69-4DB9-A901-048A88D5B0D6}</a:tableStyleId>
              </a:tblPr>
              <a:tblGrid>
                <a:gridCol w="1192375"/>
                <a:gridCol w="1255900"/>
                <a:gridCol w="1484050"/>
              </a:tblGrid>
              <a:tr h="438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A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238800" marL="2388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238800" marL="2388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A and B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238800" marL="238800" anchor="ctr"/>
                </a:tc>
              </a:tr>
              <a:tr h="687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</a:tr>
              <a:tr h="799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</a:tr>
              <a:tr h="438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</a:tr>
              <a:tr h="799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</a:tr>
            </a:tbl>
          </a:graphicData>
        </a:graphic>
      </p:graphicFrame>
      <p:sp>
        <p:nvSpPr>
          <p:cNvPr id="115" name="Google Shape;115;p11"/>
          <p:cNvSpPr txBox="1"/>
          <p:nvPr>
            <p:ph idx="1" type="body"/>
          </p:nvPr>
        </p:nvSpPr>
        <p:spPr>
          <a:xfrm>
            <a:off x="0" y="1600200"/>
            <a:ext cx="47625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Notation: </a:t>
            </a:r>
            <a:r>
              <a:rPr b="1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</a:t>
            </a:r>
            <a:endParaRPr b="0" i="0" sz="2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L’expression logique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and B</a:t>
            </a: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est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si  A est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et B est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sinon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</a:t>
            </a: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si un des opérandes est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</a:t>
            </a:r>
            <a:endParaRPr b="0" i="0" sz="2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Opérateur logique </a:t>
            </a:r>
            <a:r>
              <a:rPr lang="en-US" u="sng"/>
              <a:t>or</a:t>
            </a:r>
            <a:endParaRPr/>
          </a:p>
        </p:txBody>
      </p:sp>
      <p:graphicFrame>
        <p:nvGraphicFramePr>
          <p:cNvPr id="121" name="Google Shape;121;p12"/>
          <p:cNvGraphicFramePr/>
          <p:nvPr/>
        </p:nvGraphicFramePr>
        <p:xfrm>
          <a:off x="4796408" y="14127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{A52121EC-1A69-4DB9-A901-048A88D5B0D6}</a:tableStyleId>
              </a:tblPr>
              <a:tblGrid>
                <a:gridCol w="1132800"/>
                <a:gridCol w="1140225"/>
                <a:gridCol w="1751050"/>
              </a:tblGrid>
              <a:tr h="48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A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234200" marL="234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234200" marL="234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A or B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234200" marL="234200" anchor="ctr"/>
                </a:tc>
              </a:tr>
              <a:tr h="865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</a:tr>
              <a:tr h="90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</a:tr>
              <a:tr h="48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</a:tr>
              <a:tr h="48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</a:tr>
            </a:tbl>
          </a:graphicData>
        </a:graphic>
      </p:graphicFrame>
      <p:sp>
        <p:nvSpPr>
          <p:cNvPr id="122" name="Google Shape;122;p12"/>
          <p:cNvSpPr txBox="1"/>
          <p:nvPr>
            <p:ph idx="1" type="body"/>
          </p:nvPr>
        </p:nvSpPr>
        <p:spPr>
          <a:xfrm>
            <a:off x="0" y="1600200"/>
            <a:ext cx="469106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Notation: </a:t>
            </a:r>
            <a:r>
              <a:rPr b="1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</a:t>
            </a:r>
            <a:endParaRPr b="0" i="0" sz="2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L’expression logique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or B</a:t>
            </a: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est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si  A est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ou B est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sinon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</a:t>
            </a: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si les 2  opérandes sont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</a:t>
            </a:r>
            <a:endParaRPr b="1" i="0" sz="2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Operateurs et conditions complexes</a:t>
            </a:r>
            <a:endParaRPr/>
          </a:p>
        </p:txBody>
      </p:sp>
      <p:sp>
        <p:nvSpPr>
          <p:cNvPr id="128" name="Google Shape;128;p13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On peut former des conditions complexes: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1835696" y="1999293"/>
            <a:ext cx="6821098" cy="830997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  (total &lt; MAX+5) and not found : </a:t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 ("Processing…")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990600" y="3352800"/>
            <a:ext cx="79248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Les opérateurs logique ont une priorité moindre que les opérateurs relationnels</a:t>
            </a:r>
            <a:endParaRPr b="0" i="0" sz="3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Opérateur NOT a une plus grande priorité que AND et 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Utiliser ( ) pour regrouper les conditions 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Précédence des opérateurs</a:t>
            </a:r>
            <a:endParaRPr/>
          </a:p>
        </p:txBody>
      </p:sp>
      <p:graphicFrame>
        <p:nvGraphicFramePr>
          <p:cNvPr id="136" name="Google Shape;136;p14"/>
          <p:cNvGraphicFramePr/>
          <p:nvPr/>
        </p:nvGraphicFramePr>
        <p:xfrm>
          <a:off x="611560" y="10527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{906824A1-DFED-4C20-9B8A-38D8686F5CE5}</a:tableStyleId>
              </a:tblPr>
              <a:tblGrid>
                <a:gridCol w="1674900"/>
                <a:gridCol w="6336700"/>
              </a:tblGrid>
              <a:tr h="50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Précédence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Opérateur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424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b="1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** </a:t>
                      </a: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(Exponentiation)</a:t>
                      </a:r>
                      <a:endParaRPr b="1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*, /, //, %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(Multiplication, division, division entière division, reste de division)</a:t>
                      </a:r>
                      <a:endParaRPr b="1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+, -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(addition, soustraction)</a:t>
                      </a:r>
                      <a:endParaRPr b="1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&lt;, &lt;=, &gt;, &gt;=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(Comparaison)</a:t>
                      </a:r>
                      <a:endParaRPr b="1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==, !=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(égalité)</a:t>
                      </a:r>
                      <a:endParaRPr b="1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=, +=, -=, *=, /=, //=, %=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(opérateur d'affectation)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37" name="Google Shape;137;p14"/>
          <p:cNvCxnSpPr/>
          <p:nvPr/>
        </p:nvCxnSpPr>
        <p:spPr>
          <a:xfrm>
            <a:off x="1403648" y="1700808"/>
            <a:ext cx="0" cy="3456384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Structure if-else</a:t>
            </a:r>
            <a:endParaRPr/>
          </a:p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Une clause </a:t>
            </a:r>
            <a:r>
              <a:rPr lang="en-US" u="sng"/>
              <a:t>else</a:t>
            </a:r>
            <a:r>
              <a:rPr lang="en-US"/>
              <a:t> peut être ajoutée à une structure </a:t>
            </a:r>
            <a:r>
              <a:rPr lang="en-US" u="sng"/>
              <a:t>if</a:t>
            </a:r>
            <a:r>
              <a:rPr lang="en-US"/>
              <a:t> existante pour faire une structure if-else statement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5435600" y="2420938"/>
            <a:ext cx="2994025" cy="1311275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  </a:t>
            </a:r>
            <a:r>
              <a:rPr b="1" i="1" lang="en-US" sz="20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1" lang="en-US" sz="20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 1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1" lang="en-US" sz="20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 2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468313" y="3716338"/>
            <a:ext cx="8370887" cy="2379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 la </a:t>
            </a:r>
            <a:r>
              <a:rPr b="0" i="1" lang="en-US" sz="3200" u="none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condition</a:t>
            </a: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</a:t>
            </a:r>
            <a:r>
              <a:rPr b="1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b="0" i="1" lang="en-US" sz="3200" u="none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instruction 1</a:t>
            </a: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exécutée;  Si la condition est </a:t>
            </a:r>
            <a:r>
              <a:rPr b="1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</a:t>
            </a: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b="0" i="1" lang="en-US" sz="3200" u="none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instruction 2</a:t>
            </a: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exécutée</a:t>
            </a:r>
            <a:endParaRPr b="0" i="0" sz="3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Une seule des instructions est exécutée mais pas les deux</a:t>
            </a:r>
            <a:endParaRPr b="0" i="0" sz="3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Logique de la structure  if-else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2627313" y="2060575"/>
            <a:ext cx="2498725" cy="1295400"/>
          </a:xfrm>
          <a:prstGeom prst="diamond">
            <a:avLst/>
          </a:prstGeom>
          <a:solidFill>
            <a:srgbClr val="FFCC99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3046413" y="2420938"/>
            <a:ext cx="16700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Évaluation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La condition</a:t>
            </a:r>
            <a:endParaRPr b="0" i="0" sz="24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153" name="Google Shape;153;p16"/>
          <p:cNvCxnSpPr/>
          <p:nvPr/>
        </p:nvCxnSpPr>
        <p:spPr>
          <a:xfrm>
            <a:off x="3881438" y="1371600"/>
            <a:ext cx="0" cy="6858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4" name="Google Shape;154;p16"/>
          <p:cNvCxnSpPr/>
          <p:nvPr/>
        </p:nvCxnSpPr>
        <p:spPr>
          <a:xfrm>
            <a:off x="3881438" y="4405313"/>
            <a:ext cx="0" cy="1081087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" name="Google Shape;155;p16"/>
          <p:cNvCxnSpPr>
            <a:stCxn id="151" idx="2"/>
            <a:endCxn id="156" idx="0"/>
          </p:cNvCxnSpPr>
          <p:nvPr/>
        </p:nvCxnSpPr>
        <p:spPr>
          <a:xfrm>
            <a:off x="3876676" y="3355975"/>
            <a:ext cx="58800" cy="7065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" name="Google Shape;157;p16"/>
          <p:cNvSpPr txBox="1"/>
          <p:nvPr/>
        </p:nvSpPr>
        <p:spPr>
          <a:xfrm>
            <a:off x="3904269" y="3461025"/>
            <a:ext cx="99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True</a:t>
            </a:r>
            <a:endParaRPr b="0" i="0" sz="2400" u="none" cap="none" strike="noStrike">
              <a:solidFill>
                <a:schemeClr val="hlink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6193023" y="3499125"/>
            <a:ext cx="14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False</a:t>
            </a:r>
            <a:endParaRPr b="0" i="0" sz="2400" u="none" cap="none" strike="noStrike">
              <a:solidFill>
                <a:schemeClr val="hlink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159" name="Google Shape;159;p16"/>
          <p:cNvCxnSpPr>
            <a:stCxn id="160" idx="0"/>
            <a:endCxn id="151" idx="3"/>
          </p:cNvCxnSpPr>
          <p:nvPr/>
        </p:nvCxnSpPr>
        <p:spPr>
          <a:xfrm flipH="1" rot="5400000">
            <a:off x="4902188" y="2932100"/>
            <a:ext cx="1355700" cy="908100"/>
          </a:xfrm>
          <a:prstGeom prst="bentConnector2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16"/>
          <p:cNvSpPr/>
          <p:nvPr/>
        </p:nvSpPr>
        <p:spPr>
          <a:xfrm>
            <a:off x="3043238" y="4076700"/>
            <a:ext cx="1600200" cy="333375"/>
          </a:xfrm>
          <a:prstGeom prst="rect">
            <a:avLst/>
          </a:prstGeom>
          <a:solidFill>
            <a:srgbClr val="FFCC99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3135326" y="4062425"/>
            <a:ext cx="16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instruction 1 </a:t>
            </a:r>
            <a:endParaRPr b="0" i="0" sz="24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5211763" y="4103688"/>
            <a:ext cx="1600200" cy="333375"/>
          </a:xfrm>
          <a:prstGeom prst="rect">
            <a:avLst/>
          </a:prstGeom>
          <a:solidFill>
            <a:srgbClr val="FFCC99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5256213" y="4064000"/>
            <a:ext cx="1555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instruction 2</a:t>
            </a:r>
            <a:endParaRPr b="0" i="0" sz="24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ransition>
    <p:wheel spokes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Bloc d’instructions</a:t>
            </a:r>
            <a:endParaRPr/>
          </a:p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Il n’est pas requis d’avoir une seule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Peut utiliser des blocs  délimité par des indentations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763688" y="2976630"/>
            <a:ext cx="6585000" cy="2678100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  total &gt; MAX :</a:t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1</a:t>
            </a:r>
            <a:r>
              <a:rPr b="1" lang="en-US" sz="24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 ("Erreur!!") </a:t>
            </a:r>
            <a:endParaRPr b="1" sz="24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compteur +=</a:t>
            </a: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 ("Total: " , total) </a:t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current = total*2 </a:t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Structure if-elif-else</a:t>
            </a:r>
            <a:endParaRPr/>
          </a:p>
        </p:txBody>
      </p:sp>
      <p:sp>
        <p:nvSpPr>
          <p:cNvPr id="175" name="Google Shape;175;p18"/>
          <p:cNvSpPr txBox="1"/>
          <p:nvPr>
            <p:ph idx="1" type="body"/>
          </p:nvPr>
        </p:nvSpPr>
        <p:spPr>
          <a:xfrm>
            <a:off x="152400" y="1132114"/>
            <a:ext cx="8839200" cy="467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Une clause </a:t>
            </a:r>
            <a:r>
              <a:rPr lang="en-US" u="sng"/>
              <a:t>elif</a:t>
            </a:r>
            <a:r>
              <a:rPr lang="en-US"/>
              <a:t> peut être ajoutée à une structure </a:t>
            </a:r>
            <a:r>
              <a:rPr lang="en-US" u="sng"/>
              <a:t>if-else</a:t>
            </a:r>
            <a:r>
              <a:rPr lang="en-US"/>
              <a:t> existante pour faire une structure </a:t>
            </a:r>
            <a:r>
              <a:rPr lang="en-US" u="sng"/>
              <a:t>if-elif-else</a:t>
            </a:r>
            <a:r>
              <a:rPr lang="en-US"/>
              <a:t>  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Peut etre utile dans le cas de plusieurs alternatives pour le déroulement du programme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2699792" y="2132856"/>
            <a:ext cx="2994025" cy="19389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  </a:t>
            </a:r>
            <a:r>
              <a:rPr b="1" i="1" lang="en-US" sz="20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1" lang="en-US" sz="20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b="1" i="1" lang="en-US" sz="20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 condition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   instruction 3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1" lang="en-US" sz="20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 2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468313" y="4293096"/>
            <a:ext cx="8370887" cy="1802904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Operateur conditionnel</a:t>
            </a:r>
            <a:endParaRPr/>
          </a:p>
        </p:txBody>
      </p:sp>
      <p:sp>
        <p:nvSpPr>
          <p:cNvPr id="183" name="Google Shape;183;p19"/>
          <p:cNvSpPr txBox="1"/>
          <p:nvPr>
            <p:ph idx="1" type="body"/>
          </p:nvPr>
        </p:nvSpPr>
        <p:spPr>
          <a:xfrm>
            <a:off x="152400" y="1132115"/>
            <a:ext cx="8839200" cy="366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python dispose d’un opérateur conditionnel qui utilise une condition booléene pour choisir laquelle de 2 expressions est utilisée pour une affectation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Syntaxe: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Si la condition est true, expression1 est utilisée;  Si false, expression2 est utilisée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1691680" y="2996952"/>
            <a:ext cx="6280887" cy="523220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expression 1 </a:t>
            </a:r>
            <a:r>
              <a:rPr b="0" i="0" lang="en-US" sz="28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condition  </a:t>
            </a:r>
            <a:r>
              <a:rPr b="0" i="0" lang="en-US" sz="28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expression2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Operateur conditionnel</a:t>
            </a:r>
            <a:endParaRPr/>
          </a:p>
        </p:txBody>
      </p:sp>
      <p:sp>
        <p:nvSpPr>
          <p:cNvPr id="190" name="Google Shape;190;p20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La valeur retournée est la valeur de l’expression sélectionnée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Opérateur conditionnel: similaire à la structure  if-else sauf qu’il retourne une valeur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Operateur conditionnel</a:t>
            </a:r>
            <a:endParaRPr/>
          </a:p>
        </p:txBody>
      </p:sp>
      <p:sp>
        <p:nvSpPr>
          <p:cNvPr id="196" name="Google Shape;196;p21"/>
          <p:cNvSpPr txBox="1"/>
          <p:nvPr>
            <p:ph idx="1" type="body"/>
          </p:nvPr>
        </p:nvSpPr>
        <p:spPr>
          <a:xfrm>
            <a:off x="152400" y="1132115"/>
            <a:ext cx="8839200" cy="3160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Exemple: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rPr lang="en-US"/>
              <a:t>		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Si num1 est sup à num2, alors num1 est affecté à  maVar;  sinon, num2 est affecté à maVar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1115616" y="4365104"/>
            <a:ext cx="6912768" cy="523220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maVar = num1 if  taux &gt; 5  else num2 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04" name="Google Shape;204;p22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On a vu dans cette présentation les points suivants: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Structures de tests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ython_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2009-04-18T11:47:21Z</dcterms:created>
  <dc:creator>HafedB</dc:creator>
</cp:coreProperties>
</file>