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303" r:id="rId8"/>
    <p:sldId id="305" r:id="rId9"/>
    <p:sldId id="266" r:id="rId10"/>
    <p:sldId id="304" r:id="rId11"/>
    <p:sldId id="271" r:id="rId12"/>
    <p:sldId id="272" r:id="rId13"/>
    <p:sldId id="273" r:id="rId14"/>
    <p:sldId id="306" r:id="rId15"/>
    <p:sldId id="307" r:id="rId16"/>
    <p:sldId id="308" r:id="rId17"/>
    <p:sldId id="274" r:id="rId18"/>
    <p:sldId id="275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48" autoAdjust="0"/>
  </p:normalViewPr>
  <p:slideViewPr>
    <p:cSldViewPr>
      <p:cViewPr varScale="1">
        <p:scale>
          <a:sx n="71" d="100"/>
          <a:sy n="71" d="100"/>
        </p:scale>
        <p:origin x="-1709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A525E-C899-4DFB-9159-395E4D74FBB7}" type="datetimeFigureOut">
              <a:rPr lang="fr-CA" smtClean="0"/>
              <a:t>2025-02-20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139A2-8B9B-4B30-A369-706EDA2D0F5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2641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168275"/>
            <a:ext cx="5938837" cy="4452938"/>
          </a:xfrm>
          <a:ln cap="flat"/>
        </p:spPr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655" y="4732617"/>
            <a:ext cx="5947857" cy="3802314"/>
          </a:xfrm>
          <a:noFill/>
          <a:ln/>
        </p:spPr>
        <p:txBody>
          <a:bodyPr/>
          <a:lstStyle/>
          <a:p>
            <a:endParaRPr lang="fr-FR" b="0" dirty="0" smtClean="0">
              <a:latin typeface="Times New Roman" pitchFamily="18" charset="0"/>
            </a:endParaRPr>
          </a:p>
        </p:txBody>
      </p:sp>
      <p:graphicFrame>
        <p:nvGraphicFramePr>
          <p:cNvPr id="1026" name="Object 4"/>
          <p:cNvGraphicFramePr>
            <a:graphicFrameLocks/>
          </p:cNvGraphicFramePr>
          <p:nvPr/>
        </p:nvGraphicFramePr>
        <p:xfrm>
          <a:off x="546085" y="5876015"/>
          <a:ext cx="6165015" cy="2951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Document" r:id="rId4" imgW="6129000" imgH="2946240" progId="Word.Document.8">
                  <p:embed/>
                </p:oleObj>
              </mc:Choice>
              <mc:Fallback>
                <p:oleObj name="Document" r:id="rId4" imgW="6129000" imgH="294624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85" y="5876015"/>
                        <a:ext cx="6165015" cy="2951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2256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F13F-2297-47E6-9545-E1C6A286A2B7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29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F13F-2297-47E6-9545-E1C6A286A2B7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0488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F13F-2297-47E6-9545-E1C6A286A2B7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21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F13F-2297-47E6-9545-E1C6A286A2B7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7617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35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Connecteur droit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riangle isocè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20/02/2025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28" name="Connecteur droit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Connecteur droit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le isocè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87624" y="3573016"/>
            <a:ext cx="6984776" cy="1231776"/>
          </a:xfrm>
        </p:spPr>
        <p:txBody>
          <a:bodyPr>
            <a:normAutofit fontScale="90000"/>
          </a:bodyPr>
          <a:lstStyle/>
          <a:p>
            <a:r>
              <a:rPr lang="fr-CA" sz="3100" dirty="0" smtClean="0"/>
              <a:t>DML</a:t>
            </a:r>
            <a:br>
              <a:rPr lang="fr-CA" sz="3100" dirty="0" smtClean="0"/>
            </a:br>
            <a:r>
              <a:rPr lang="fr-CA" sz="3100" dirty="0" smtClean="0"/>
              <a:t>(</a:t>
            </a:r>
            <a:r>
              <a:rPr lang="fr-CA" sz="3100" b="1" dirty="0"/>
              <a:t>L</a:t>
            </a:r>
            <a:r>
              <a:rPr lang="fr-CA" sz="3100" dirty="0"/>
              <a:t>angage de </a:t>
            </a:r>
            <a:r>
              <a:rPr lang="fr-CA" sz="3100" b="1" dirty="0"/>
              <a:t>m</a:t>
            </a:r>
            <a:r>
              <a:rPr lang="fr-CA" sz="3100" dirty="0"/>
              <a:t>anipulation </a:t>
            </a:r>
            <a:r>
              <a:rPr lang="fr-CA" sz="3100" dirty="0" smtClean="0"/>
              <a:t/>
            </a:r>
            <a:br>
              <a:rPr lang="fr-CA" sz="3100" dirty="0" smtClean="0"/>
            </a:br>
            <a:r>
              <a:rPr lang="fr-CA" sz="3100" dirty="0" smtClean="0"/>
              <a:t>de </a:t>
            </a:r>
            <a:r>
              <a:rPr lang="fr-CA" sz="3100" b="1" dirty="0" smtClean="0"/>
              <a:t>d</a:t>
            </a:r>
            <a:r>
              <a:rPr lang="fr-CA" sz="3100" dirty="0" smtClean="0"/>
              <a:t>onnées</a:t>
            </a:r>
            <a:r>
              <a:rPr lang="fr-CA" dirty="0" smtClean="0"/>
              <a:t>)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(Insert, update, </a:t>
            </a:r>
            <a:r>
              <a:rPr lang="fr-CA" dirty="0" err="1"/>
              <a:t>delete</a:t>
            </a:r>
            <a:r>
              <a:rPr lang="fr-CA" dirty="0"/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268760"/>
            <a:ext cx="3975117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12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2" name="Rectangle 8"/>
          <p:cNvSpPr>
            <a:spLocks noGrp="1" noChangeArrowheads="1"/>
          </p:cNvSpPr>
          <p:nvPr>
            <p:ph type="title"/>
          </p:nvPr>
        </p:nvSpPr>
        <p:spPr>
          <a:xfrm>
            <a:off x="1143001" y="384763"/>
            <a:ext cx="7058024" cy="68558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dirty="0" smtClean="0"/>
              <a:t>Les catégories d'instructions   SQL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779" y="1219083"/>
            <a:ext cx="4093369" cy="488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09778" y="2692088"/>
            <a:ext cx="4038485" cy="1963039"/>
          </a:xfrm>
          <a:prstGeom prst="rect">
            <a:avLst/>
          </a:prstGeom>
          <a:solidFill>
            <a:schemeClr val="accent1">
              <a:alpha val="16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Flèche droite 5"/>
          <p:cNvSpPr/>
          <p:nvPr/>
        </p:nvSpPr>
        <p:spPr>
          <a:xfrm>
            <a:off x="1724892" y="3269670"/>
            <a:ext cx="1011085" cy="748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94696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instructions DML</a:t>
            </a:r>
            <a:r>
              <a:rPr lang="fr-CA" dirty="0" smtClean="0"/>
              <a:t> 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5346" y="1732450"/>
            <a:ext cx="6625541" cy="4058751"/>
          </a:xfrm>
        </p:spPr>
        <p:txBody>
          <a:bodyPr>
            <a:normAutofit/>
          </a:bodyPr>
          <a:lstStyle/>
          <a:p>
            <a:r>
              <a:rPr lang="fr-FR" dirty="0"/>
              <a:t>Les instructions DML (Data Manipulation </a:t>
            </a:r>
            <a:r>
              <a:rPr lang="fr-FR" dirty="0" err="1"/>
              <a:t>Language</a:t>
            </a:r>
            <a:r>
              <a:rPr lang="fr-FR" dirty="0"/>
              <a:t>) accèdent aux données et les </a:t>
            </a:r>
            <a:r>
              <a:rPr lang="fr-FR" dirty="0" smtClean="0"/>
              <a:t>manipulent dans les tables existantes</a:t>
            </a:r>
          </a:p>
          <a:p>
            <a:r>
              <a:rPr lang="fr-FR" dirty="0" smtClean="0"/>
              <a:t>Instructions DML:</a:t>
            </a:r>
          </a:p>
          <a:p>
            <a:pPr lvl="1"/>
            <a:r>
              <a:rPr lang="fr-FR" dirty="0" smtClean="0"/>
              <a:t>INSERT</a:t>
            </a:r>
          </a:p>
          <a:p>
            <a:pPr lvl="1"/>
            <a:r>
              <a:rPr lang="fr-FR" dirty="0" smtClean="0"/>
              <a:t>UPDATE</a:t>
            </a:r>
          </a:p>
          <a:p>
            <a:pPr lvl="1"/>
            <a:r>
              <a:rPr lang="fr-FR" dirty="0" smtClean="0"/>
              <a:t>DELETE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0454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fr-CA" dirty="0"/>
              <a:t>Ajout d’un enregistrement dans une table</a:t>
            </a:r>
          </a:p>
        </p:txBody>
      </p:sp>
      <p:sp>
        <p:nvSpPr>
          <p:cNvPr id="512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DF2BA9-3F39-4C36-B44B-B8DBDB47F0F9}" type="slidenum">
              <a:rPr lang="fr-CA" smtClean="0"/>
              <a:pPr/>
              <a:t>4</a:t>
            </a:fld>
            <a:endParaRPr lang="fr-CA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19256" cy="105767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lvl="1"/>
            <a:r>
              <a:rPr lang="fr-CA" dirty="0" smtClean="0"/>
              <a:t>Un nouvel employé vient d’être recruté</a:t>
            </a:r>
          </a:p>
          <a:p>
            <a:pPr lvl="2"/>
            <a:r>
              <a:rPr lang="fr-CA" dirty="0" smtClean="0"/>
              <a:t>On doit « l’ajouter » dans la table des employés:</a:t>
            </a:r>
          </a:p>
          <a:p>
            <a:pPr lvl="3"/>
            <a:r>
              <a:rPr lang="fr-CA" dirty="0" smtClean="0"/>
              <a:t>INSERT</a:t>
            </a:r>
            <a:endParaRPr lang="fr-CA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551" y="2924944"/>
            <a:ext cx="4017162" cy="28579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544" y="3176990"/>
            <a:ext cx="3826768" cy="23538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 smtClean="0"/>
              <a:t>On a 2 syntaxes:</a:t>
            </a:r>
          </a:p>
          <a:p>
            <a:pPr lvl="1"/>
            <a:r>
              <a:rPr lang="fr-CA" dirty="0" smtClean="0"/>
              <a:t>Pour insérer une ligne à la fois  dans une table</a:t>
            </a:r>
          </a:p>
          <a:p>
            <a:pPr lvl="1"/>
            <a:r>
              <a:rPr lang="fr-CA" dirty="0" smtClean="0"/>
              <a:t>Pour insérer des lignes dans différentes tables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6976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Insertion dans une table</a:t>
            </a:r>
            <a:endParaRPr lang="fr-CA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58072"/>
          </a:xfrm>
        </p:spPr>
        <p:txBody>
          <a:bodyPr>
            <a:normAutofit/>
          </a:bodyPr>
          <a:lstStyle/>
          <a:p>
            <a:r>
              <a:rPr lang="fr-CA" dirty="0"/>
              <a:t>Syntaxe:</a:t>
            </a:r>
          </a:p>
          <a:p>
            <a:pPr lvl="1"/>
            <a:r>
              <a:rPr lang="fr-CA" dirty="0"/>
              <a:t>L’instruction précédente insère un enregistrement à la fois dans une table</a:t>
            </a:r>
          </a:p>
          <a:p>
            <a:pPr lvl="2">
              <a:buFont typeface="Wingdings" pitchFamily="2" charset="2"/>
              <a:buNone/>
            </a:pPr>
            <a:r>
              <a:rPr lang="fr-CA" sz="2000" b="1" dirty="0"/>
              <a:t>INSERT</a:t>
            </a:r>
            <a:r>
              <a:rPr lang="fr-CA" sz="2000" dirty="0"/>
              <a:t> </a:t>
            </a:r>
            <a:r>
              <a:rPr lang="fr-CA" sz="2000" b="1" dirty="0"/>
              <a:t>INTO</a:t>
            </a:r>
            <a:r>
              <a:rPr lang="fr-CA" sz="2000" dirty="0"/>
              <a:t> </a:t>
            </a:r>
            <a:r>
              <a:rPr lang="fr-CA" sz="2000" dirty="0" err="1"/>
              <a:t>nomTable</a:t>
            </a:r>
            <a:r>
              <a:rPr lang="fr-CA" sz="2000" dirty="0"/>
              <a:t> (</a:t>
            </a:r>
            <a:r>
              <a:rPr lang="fr-FR" sz="2000" dirty="0" err="1"/>
              <a:t>liste_de_colonnes</a:t>
            </a:r>
            <a:r>
              <a:rPr lang="fr-CA" sz="2000" dirty="0"/>
              <a:t>)</a:t>
            </a:r>
          </a:p>
          <a:p>
            <a:pPr lvl="2">
              <a:buFont typeface="Wingdings" pitchFamily="2" charset="2"/>
              <a:buNone/>
            </a:pPr>
            <a:r>
              <a:rPr lang="fr-CA" sz="2000" b="1" dirty="0"/>
              <a:t>VALUES </a:t>
            </a:r>
            <a:r>
              <a:rPr lang="fr-CA" sz="2000" b="1" dirty="0" smtClean="0"/>
              <a:t>(</a:t>
            </a:r>
            <a:r>
              <a:rPr lang="fr-FR" sz="2000" dirty="0" err="1" smtClean="0"/>
              <a:t>liste_de_valeurs</a:t>
            </a:r>
            <a:r>
              <a:rPr lang="fr-CA" sz="2000" dirty="0"/>
              <a:t>)</a:t>
            </a:r>
          </a:p>
          <a:p>
            <a:r>
              <a:rPr lang="fr-FR" sz="2400" dirty="0"/>
              <a:t>Chaque colonne de </a:t>
            </a:r>
            <a:r>
              <a:rPr lang="fr-FR" sz="2400" b="1" dirty="0" err="1"/>
              <a:t>liste_de_colonnes</a:t>
            </a:r>
            <a:r>
              <a:rPr lang="fr-FR" sz="2400" dirty="0"/>
              <a:t> doit avoir une valeur valide </a:t>
            </a:r>
            <a:r>
              <a:rPr lang="fr-FR" sz="2400" dirty="0" smtClean="0"/>
              <a:t>dans </a:t>
            </a:r>
            <a:r>
              <a:rPr lang="fr-FR" sz="2400" b="1" dirty="0" err="1"/>
              <a:t>liste_de_valeurs</a:t>
            </a:r>
            <a:endParaRPr lang="fr-FR" sz="2400" b="1" dirty="0"/>
          </a:p>
          <a:p>
            <a:r>
              <a:rPr lang="fr-FR" dirty="0"/>
              <a:t>Avant d'insérer une ligne dans une table, vous devez connaître les colonnes de la table et leurs valeurs </a:t>
            </a:r>
            <a:r>
              <a:rPr lang="fr-FR" dirty="0" smtClean="0"/>
              <a:t>valides</a:t>
            </a:r>
          </a:p>
          <a:p>
            <a:pPr lvl="1"/>
            <a:r>
              <a:rPr lang="fr-FR" dirty="0" smtClean="0"/>
              <a:t>Consultez la structure de la table dans SSMS</a:t>
            </a:r>
            <a:endParaRPr lang="fr-FR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7045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35157" y="188640"/>
            <a:ext cx="7897283" cy="844660"/>
          </a:xfrm>
        </p:spPr>
        <p:txBody>
          <a:bodyPr>
            <a:noAutofit/>
          </a:bodyPr>
          <a:lstStyle/>
          <a:p>
            <a:pPr eaLnBrk="1" hangingPunct="1"/>
            <a:r>
              <a:rPr lang="fr-CA" sz="2800" dirty="0" smtClean="0"/>
              <a:t>INSERT Exemple 1: </a:t>
            </a:r>
            <a:br>
              <a:rPr lang="fr-CA" sz="2800" dirty="0" smtClean="0"/>
            </a:br>
            <a:r>
              <a:rPr lang="fr-CA" sz="2800" dirty="0" smtClean="0"/>
              <a:t>Fournir une valeur pour chaque attribut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340768"/>
            <a:ext cx="7992888" cy="129614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eaLnBrk="1" hangingPunct="1"/>
            <a:r>
              <a:rPr lang="fr-CA" dirty="0" smtClean="0"/>
              <a:t>Ajouter un nouveau département dans la table </a:t>
            </a:r>
            <a:r>
              <a:rPr lang="fr-CA" dirty="0" err="1" smtClean="0"/>
              <a:t>dept</a:t>
            </a:r>
            <a:endParaRPr lang="fr-CA" dirty="0" smtClean="0"/>
          </a:p>
          <a:p>
            <a:pPr eaLnBrk="1" hangingPunct="1"/>
            <a:r>
              <a:rPr lang="fr-CA" dirty="0" smtClean="0"/>
              <a:t>Toutes les colonnes sont renseignées car nous n’avons pas spécifié de colonnes</a:t>
            </a:r>
          </a:p>
          <a:p>
            <a:pPr lvl="1"/>
            <a:r>
              <a:rPr lang="fr-CA" dirty="0" smtClean="0"/>
              <a:t>Les valeurs sont fournies dans l’ordre de définition de la structure de la table</a:t>
            </a:r>
          </a:p>
        </p:txBody>
      </p:sp>
      <p:sp>
        <p:nvSpPr>
          <p:cNvPr id="6149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448A4-1EAD-42EF-969B-CECEC6A7144C}" type="slidenum">
              <a:rPr lang="fr-CA" smtClean="0"/>
              <a:pPr/>
              <a:t>6</a:t>
            </a:fld>
            <a:endParaRPr lang="fr-CA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71586"/>
            <a:ext cx="5760640" cy="33756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563" y="3825174"/>
            <a:ext cx="2828925" cy="12096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7623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2400" dirty="0"/>
              <a:t>INSERT Exemple </a:t>
            </a:r>
            <a:r>
              <a:rPr lang="fr-CA" sz="2400" dirty="0" smtClean="0"/>
              <a:t>2: </a:t>
            </a:r>
            <a:r>
              <a:rPr lang="fr-CA" sz="2400" dirty="0"/>
              <a:t/>
            </a:r>
            <a:br>
              <a:rPr lang="fr-CA" sz="2400" dirty="0"/>
            </a:br>
            <a:r>
              <a:rPr lang="fr-CA" sz="2400" dirty="0"/>
              <a:t>Fournir une valeur pour </a:t>
            </a:r>
            <a:r>
              <a:rPr lang="fr-CA" sz="2400" dirty="0" smtClean="0"/>
              <a:t>certains attributs seulement</a:t>
            </a:r>
            <a:endParaRPr lang="fr-CA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45704"/>
          </a:xfrm>
        </p:spPr>
        <p:txBody>
          <a:bodyPr/>
          <a:lstStyle/>
          <a:p>
            <a:r>
              <a:rPr lang="fr-CA" dirty="0" smtClean="0"/>
              <a:t>On peut utiliser la syntaxe qui nous permet de spécifier les colonnes(attributs) qu’on veut renseigner.</a:t>
            </a:r>
          </a:p>
          <a:p>
            <a:pPr lvl="1"/>
            <a:r>
              <a:rPr lang="fr-CA" dirty="0" smtClean="0"/>
              <a:t>Ceux qui ne sont pas obligatoires peuvent rester vides</a:t>
            </a:r>
            <a:endParaRPr lang="fr-CA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64904"/>
            <a:ext cx="7991475" cy="163619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437112"/>
            <a:ext cx="5095875" cy="173089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7160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Insertion de dates dans une table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8496944" cy="720080"/>
          </a:xfrm>
        </p:spPr>
        <p:txBody>
          <a:bodyPr>
            <a:normAutofit fontScale="55000" lnSpcReduction="20000"/>
          </a:bodyPr>
          <a:lstStyle/>
          <a:p>
            <a:r>
              <a:rPr lang="fr-CA" dirty="0" smtClean="0"/>
              <a:t>Ajout d’un employé recruté: </a:t>
            </a:r>
          </a:p>
          <a:p>
            <a:pPr lvl="1"/>
            <a:r>
              <a:rPr lang="fr-CA" dirty="0" smtClean="0"/>
              <a:t>en date du jour: </a:t>
            </a:r>
            <a:r>
              <a:rPr lang="fr-CA" dirty="0" err="1" smtClean="0"/>
              <a:t>getDate</a:t>
            </a:r>
            <a:r>
              <a:rPr lang="fr-CA" dirty="0" smtClean="0"/>
              <a:t>()</a:t>
            </a:r>
          </a:p>
          <a:p>
            <a:pPr lvl="1"/>
            <a:r>
              <a:rPr lang="fr-CA" dirty="0" smtClean="0"/>
              <a:t>À une date spécifique: on utilise </a:t>
            </a:r>
            <a:endParaRPr lang="fr-CA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132856"/>
            <a:ext cx="4785314" cy="2160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991" y="2381537"/>
            <a:ext cx="3738129" cy="144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405313"/>
            <a:ext cx="8191500" cy="19526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21664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35587" y="332656"/>
            <a:ext cx="7765322" cy="54483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CA" dirty="0" smtClean="0"/>
              <a:t>Violation des contraintes d'intégrité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10436" y="2996952"/>
            <a:ext cx="7912872" cy="79208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fr-CA" sz="1800" dirty="0"/>
              <a:t>Si on essaye d’insérer une deuxième fois un département avec le même numéro </a:t>
            </a:r>
            <a:r>
              <a:rPr lang="fr-CA" sz="1800" dirty="0" smtClean="0"/>
              <a:t>(10</a:t>
            </a:r>
            <a:r>
              <a:rPr lang="fr-CA" sz="1800" dirty="0"/>
              <a:t>), on a un message d’erreur, car le champ </a:t>
            </a:r>
            <a:r>
              <a:rPr lang="fr-CA" sz="1800" dirty="0" err="1"/>
              <a:t>deptno</a:t>
            </a:r>
            <a:r>
              <a:rPr lang="fr-CA" sz="1800" dirty="0"/>
              <a:t> doit être unique pour chaque département (</a:t>
            </a:r>
            <a:r>
              <a:rPr lang="fr-CA" sz="1800" b="1" dirty="0"/>
              <a:t>clé primaire</a:t>
            </a:r>
            <a:r>
              <a:rPr lang="fr-CA" sz="1800" dirty="0"/>
              <a:t>).</a:t>
            </a:r>
          </a:p>
        </p:txBody>
      </p:sp>
      <p:sp>
        <p:nvSpPr>
          <p:cNvPr id="9221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C93E19-E464-4B0D-8AF1-8675D4683842}" type="slidenum">
              <a:rPr lang="fr-CA" smtClean="0"/>
              <a:pPr/>
              <a:t>9</a:t>
            </a:fld>
            <a:endParaRPr lang="fr-CA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83568" y="1196752"/>
            <a:ext cx="7912872" cy="16561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fr-CA" sz="1600" dirty="0" smtClean="0"/>
              <a:t>Lorsqu’on crée les tables, on peut définir des règles qui vont garantir l’intégrité des données. D’où le nom</a:t>
            </a:r>
          </a:p>
          <a:p>
            <a:pPr lvl="1">
              <a:lnSpc>
                <a:spcPct val="80000"/>
              </a:lnSpc>
            </a:pPr>
            <a:r>
              <a:rPr lang="fr-CA" sz="1600" dirty="0" smtClean="0"/>
              <a:t>Contraintes d’intégrité</a:t>
            </a:r>
          </a:p>
          <a:p>
            <a:pPr lvl="2">
              <a:lnSpc>
                <a:spcPct val="80000"/>
              </a:lnSpc>
            </a:pPr>
            <a:r>
              <a:rPr lang="fr-CA" sz="1600" dirty="0" smtClean="0"/>
              <a:t>Clé primaire, Not </a:t>
            </a:r>
            <a:r>
              <a:rPr lang="fr-CA" sz="1600" dirty="0" err="1" smtClean="0"/>
              <a:t>null</a:t>
            </a:r>
            <a:r>
              <a:rPr lang="fr-CA" sz="1600" dirty="0" smtClean="0"/>
              <a:t>, Unique,….</a:t>
            </a:r>
          </a:p>
          <a:p>
            <a:pPr>
              <a:lnSpc>
                <a:spcPct val="80000"/>
              </a:lnSpc>
            </a:pPr>
            <a:r>
              <a:rPr lang="fr-CA" sz="2200" dirty="0" smtClean="0"/>
              <a:t>Lorsqu’on ajoute de nouvelles données, le SGBD, valide qu’elles respectent les règles, sinon elles sont refusées</a:t>
            </a:r>
            <a:endParaRPr lang="fr-CA" sz="2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05064"/>
            <a:ext cx="2016224" cy="1944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067" y="3995765"/>
            <a:ext cx="6360294" cy="207078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903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Violation des contraintes d'intégrité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9763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fr-CA" dirty="0" smtClean="0"/>
              <a:t>Ajout d’un employé dans un département inexistant </a:t>
            </a:r>
            <a:endParaRPr lang="fr-CA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2581274"/>
            <a:ext cx="8470900" cy="315198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6599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278130"/>
            <a:ext cx="7765322" cy="704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CA" dirty="0"/>
              <a:t>Modification (Mise à jour) des données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8280920" cy="4058751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fr-CA" dirty="0" smtClean="0"/>
              <a:t>Modifier les enregistrements </a:t>
            </a:r>
            <a:r>
              <a:rPr lang="fr-CA" b="1" dirty="0" smtClean="0"/>
              <a:t>existants</a:t>
            </a:r>
            <a:r>
              <a:rPr lang="fr-CA" dirty="0" smtClean="0"/>
              <a:t>.</a:t>
            </a:r>
          </a:p>
          <a:p>
            <a:pPr eaLnBrk="1" hangingPunct="1"/>
            <a:r>
              <a:rPr lang="fr-CA" dirty="0" smtClean="0"/>
              <a:t>Un employé change de département: c’est une opération de mise à jour sur la table </a:t>
            </a:r>
            <a:r>
              <a:rPr lang="fr-CA" dirty="0" err="1" smtClean="0"/>
              <a:t>emp</a:t>
            </a:r>
            <a:endParaRPr lang="fr-CA" dirty="0" smtClean="0"/>
          </a:p>
          <a:p>
            <a:pPr eaLnBrk="1" hangingPunct="1"/>
            <a:r>
              <a:rPr lang="fr-CA" dirty="0" smtClean="0"/>
              <a:t>Instruction :</a:t>
            </a:r>
          </a:p>
          <a:p>
            <a:pPr eaLnBrk="1" hangingPunct="1">
              <a:buFont typeface="Wingdings" pitchFamily="2" charset="2"/>
              <a:buNone/>
            </a:pPr>
            <a:r>
              <a:rPr lang="fr-CA" dirty="0" smtClean="0"/>
              <a:t>		</a:t>
            </a:r>
            <a:r>
              <a:rPr lang="fr-CA" b="1" dirty="0">
                <a:latin typeface="Courier New" pitchFamily="49" charset="0"/>
                <a:cs typeface="Courier New" pitchFamily="49" charset="0"/>
              </a:rPr>
              <a:t>UPDATE</a:t>
            </a:r>
            <a:r>
              <a:rPr lang="fr-CA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CA" dirty="0" err="1">
                <a:latin typeface="Courier New" pitchFamily="49" charset="0"/>
                <a:cs typeface="Courier New" pitchFamily="49" charset="0"/>
              </a:rPr>
              <a:t>nomTable</a:t>
            </a:r>
            <a:endParaRPr lang="fr-CA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C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fr-CA" b="1" dirty="0">
                <a:latin typeface="Courier New" pitchFamily="49" charset="0"/>
                <a:cs typeface="Courier New" pitchFamily="49" charset="0"/>
              </a:rPr>
              <a:t>SET</a:t>
            </a:r>
            <a:r>
              <a:rPr lang="fr-CA" dirty="0">
                <a:latin typeface="Courier New" pitchFamily="49" charset="0"/>
                <a:cs typeface="Courier New" pitchFamily="49" charset="0"/>
              </a:rPr>
              <a:t> colonne1=valeur1, colonne2=valeur2,…</a:t>
            </a:r>
          </a:p>
          <a:p>
            <a:pPr eaLnBrk="1" hangingPunct="1">
              <a:buFont typeface="Wingdings" pitchFamily="2" charset="2"/>
              <a:buNone/>
            </a:pPr>
            <a:r>
              <a:rPr lang="fr-C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fr-CA" b="1" dirty="0">
                <a:latin typeface="Courier New" pitchFamily="49" charset="0"/>
                <a:cs typeface="Courier New" pitchFamily="49" charset="0"/>
              </a:rPr>
              <a:t>WHERE</a:t>
            </a:r>
            <a:r>
              <a:rPr lang="fr-CA" dirty="0">
                <a:latin typeface="Courier New" pitchFamily="49" charset="0"/>
                <a:cs typeface="Courier New" pitchFamily="49" charset="0"/>
              </a:rPr>
              <a:t> condition</a:t>
            </a:r>
          </a:p>
          <a:p>
            <a:pPr eaLnBrk="1" hangingPunct="1"/>
            <a:r>
              <a:rPr lang="fr-CA" dirty="0" smtClean="0">
                <a:cs typeface="Courier New" pitchFamily="49" charset="0"/>
              </a:rPr>
              <a:t>Permet de </a:t>
            </a:r>
            <a:r>
              <a:rPr lang="fr-CA" b="1" dirty="0" smtClean="0">
                <a:cs typeface="Courier New" pitchFamily="49" charset="0"/>
              </a:rPr>
              <a:t>modifier</a:t>
            </a:r>
            <a:r>
              <a:rPr lang="fr-CA" dirty="0" smtClean="0">
                <a:cs typeface="Courier New" pitchFamily="49" charset="0"/>
              </a:rPr>
              <a:t> plusieurs </a:t>
            </a:r>
            <a:r>
              <a:rPr lang="fr-CA" b="1" dirty="0">
                <a:cs typeface="Courier New" pitchFamily="49" charset="0"/>
              </a:rPr>
              <a:t>enregistrements</a:t>
            </a:r>
            <a:r>
              <a:rPr lang="fr-CA" dirty="0" smtClean="0">
                <a:cs typeface="Courier New" pitchFamily="49" charset="0"/>
              </a:rPr>
              <a:t> à la fois</a:t>
            </a:r>
          </a:p>
          <a:p>
            <a:pPr eaLnBrk="1" hangingPunct="1"/>
            <a:r>
              <a:rPr lang="fr-CA" dirty="0" smtClean="0">
                <a:cs typeface="Courier New" pitchFamily="49" charset="0"/>
              </a:rPr>
              <a:t>La clause </a:t>
            </a:r>
            <a:r>
              <a:rPr lang="fr-CA" b="1" dirty="0">
                <a:cs typeface="Courier New" pitchFamily="49" charset="0"/>
              </a:rPr>
              <a:t>WHERE</a:t>
            </a:r>
            <a:r>
              <a:rPr lang="fr-CA" dirty="0" smtClean="0">
                <a:cs typeface="Courier New" pitchFamily="49" charset="0"/>
              </a:rPr>
              <a:t> permet de </a:t>
            </a:r>
            <a:r>
              <a:rPr lang="fr-CA" b="1" dirty="0">
                <a:cs typeface="Courier New" pitchFamily="49" charset="0"/>
              </a:rPr>
              <a:t>filtrer</a:t>
            </a:r>
            <a:r>
              <a:rPr lang="fr-CA" dirty="0" smtClean="0">
                <a:cs typeface="Courier New" pitchFamily="49" charset="0"/>
              </a:rPr>
              <a:t> les </a:t>
            </a:r>
            <a:r>
              <a:rPr lang="fr-CA" b="1" dirty="0">
                <a:cs typeface="Courier New" pitchFamily="49" charset="0"/>
              </a:rPr>
              <a:t>enregistrements</a:t>
            </a:r>
            <a:r>
              <a:rPr lang="fr-CA" dirty="0" smtClean="0">
                <a:cs typeface="Courier New" pitchFamily="49" charset="0"/>
              </a:rPr>
              <a:t> </a:t>
            </a:r>
            <a:r>
              <a:rPr lang="fr-CA" b="1" dirty="0">
                <a:cs typeface="Courier New" pitchFamily="49" charset="0"/>
              </a:rPr>
              <a:t>qui</a:t>
            </a:r>
            <a:r>
              <a:rPr lang="fr-CA" dirty="0" smtClean="0">
                <a:cs typeface="Courier New" pitchFamily="49" charset="0"/>
              </a:rPr>
              <a:t> </a:t>
            </a:r>
            <a:r>
              <a:rPr lang="fr-CA" b="1" dirty="0">
                <a:cs typeface="Courier New" pitchFamily="49" charset="0"/>
              </a:rPr>
              <a:t>vont</a:t>
            </a:r>
            <a:r>
              <a:rPr lang="fr-CA" dirty="0" smtClean="0">
                <a:cs typeface="Courier New" pitchFamily="49" charset="0"/>
              </a:rPr>
              <a:t> </a:t>
            </a:r>
            <a:r>
              <a:rPr lang="fr-CA" b="1" dirty="0">
                <a:cs typeface="Courier New" pitchFamily="49" charset="0"/>
              </a:rPr>
              <a:t>être</a:t>
            </a:r>
            <a:r>
              <a:rPr lang="fr-CA" dirty="0" smtClean="0">
                <a:cs typeface="Courier New" pitchFamily="49" charset="0"/>
              </a:rPr>
              <a:t> </a:t>
            </a:r>
            <a:r>
              <a:rPr lang="fr-CA" b="1" dirty="0">
                <a:cs typeface="Courier New" pitchFamily="49" charset="0"/>
              </a:rPr>
              <a:t>modifiés</a:t>
            </a:r>
          </a:p>
        </p:txBody>
      </p:sp>
      <p:sp>
        <p:nvSpPr>
          <p:cNvPr id="1638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E26E57-0873-461F-A971-EA7370974F93}" type="slidenum">
              <a:rPr lang="fr-CA" smtClean="0"/>
              <a:pPr/>
              <a:t>11</a:t>
            </a:fld>
            <a:endParaRPr lang="fr-CA" smtClean="0"/>
          </a:p>
        </p:txBody>
      </p:sp>
    </p:spTree>
    <p:extLst>
      <p:ext uri="{BB962C8B-B14F-4D97-AF65-F5344CB8AC3E}">
        <p14:creationId xmlns:p14="http://schemas.microsoft.com/office/powerpoint/2010/main" val="286525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472440"/>
            <a:ext cx="7765322" cy="54483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CA" dirty="0"/>
              <a:t>Modification (Mise à jour) des données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12777"/>
            <a:ext cx="8064896" cy="86409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eaLnBrk="1" hangingPunct="1"/>
            <a:r>
              <a:rPr lang="fr-CA" dirty="0" smtClean="0"/>
              <a:t>L’employé numéro 7782 a été transféré au département 20. Faire le changement dans la table </a:t>
            </a:r>
            <a:r>
              <a:rPr lang="fr-CA" dirty="0" err="1" smtClean="0"/>
              <a:t>emp</a:t>
            </a:r>
            <a:r>
              <a:rPr lang="fr-CA" dirty="0" smtClean="0"/>
              <a:t>.</a:t>
            </a:r>
          </a:p>
          <a:p>
            <a:pPr eaLnBrk="1" hangingPunct="1"/>
            <a:r>
              <a:rPr lang="fr-CA" dirty="0" smtClean="0"/>
              <a:t>Le département 20 DOIT exister dans la table </a:t>
            </a:r>
            <a:r>
              <a:rPr lang="fr-CA" dirty="0" err="1" smtClean="0"/>
              <a:t>dept</a:t>
            </a:r>
            <a:r>
              <a:rPr lang="fr-CA" dirty="0" smtClean="0"/>
              <a:t>, sinon il y aura erreur</a:t>
            </a:r>
          </a:p>
        </p:txBody>
      </p:sp>
      <p:sp>
        <p:nvSpPr>
          <p:cNvPr id="17413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868EB1-5A24-4843-B858-78B6D60EB116}" type="slidenum">
              <a:rPr lang="fr-CA" smtClean="0"/>
              <a:pPr/>
              <a:t>12</a:t>
            </a:fld>
            <a:endParaRPr lang="fr-CA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86" y="2636912"/>
            <a:ext cx="7416824" cy="22290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9414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6" y="388620"/>
            <a:ext cx="7765322" cy="6543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CA" dirty="0"/>
              <a:t>Modification (Mise à jour) des données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268760"/>
            <a:ext cx="7162800" cy="36004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eaLnBrk="1" hangingPunct="1"/>
            <a:r>
              <a:rPr lang="fr-CA" dirty="0" smtClean="0">
                <a:cs typeface="Courier New" pitchFamily="49" charset="0"/>
              </a:rPr>
              <a:t>Si la clause WHERE est omise, </a:t>
            </a:r>
            <a:r>
              <a:rPr lang="fr-CA" b="1" u="sng" dirty="0" smtClean="0">
                <a:cs typeface="Courier New" pitchFamily="49" charset="0"/>
              </a:rPr>
              <a:t>toute la table est modifiée</a:t>
            </a:r>
            <a:endParaRPr lang="en-US" b="1" u="sng" dirty="0" smtClean="0">
              <a:cs typeface="Courier New" pitchFamily="49" charset="0"/>
            </a:endParaRPr>
          </a:p>
        </p:txBody>
      </p:sp>
      <p:sp>
        <p:nvSpPr>
          <p:cNvPr id="1843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6ABBEA-DD96-4294-8DA5-0BABB462181C}" type="slidenum">
              <a:rPr lang="fr-CA" smtClean="0"/>
              <a:pPr/>
              <a:t>13</a:t>
            </a:fld>
            <a:endParaRPr lang="fr-CA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72816"/>
            <a:ext cx="5439844" cy="19442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853577"/>
            <a:ext cx="2876618" cy="178269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8" y="4335756"/>
            <a:ext cx="4513756" cy="16855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363482"/>
            <a:ext cx="3957811" cy="15857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82852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Modification (Mise à jour)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76964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fr-CA" dirty="0" smtClean="0"/>
              <a:t>On peut  avoir des expressions de calcul dans la clause set</a:t>
            </a:r>
            <a:endParaRPr lang="fr-CA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2276872"/>
            <a:ext cx="7353300" cy="34563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64017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00336"/>
          </a:xfrm>
        </p:spPr>
        <p:txBody>
          <a:bodyPr/>
          <a:lstStyle/>
          <a:p>
            <a:r>
              <a:rPr lang="fr-CA" dirty="0"/>
              <a:t>Modification (Mise à jour)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8160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CA" sz="1800" dirty="0" smtClean="0"/>
              <a:t>On peut  modifier plusieurs colonnes dans la clause set</a:t>
            </a:r>
            <a:endParaRPr lang="fr-CA" sz="1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20" y="2780928"/>
            <a:ext cx="8136904" cy="25202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Espace réservé du contenu 2"/>
          <p:cNvSpPr txBox="1">
            <a:spLocks/>
          </p:cNvSpPr>
          <p:nvPr/>
        </p:nvSpPr>
        <p:spPr>
          <a:xfrm>
            <a:off x="442689" y="1844824"/>
            <a:ext cx="8229600" cy="4816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1800" dirty="0" smtClean="0"/>
              <a:t>Les données avant les changements</a:t>
            </a:r>
            <a:endParaRPr lang="fr-CA" sz="1800" dirty="0"/>
          </a:p>
        </p:txBody>
      </p:sp>
    </p:spTree>
    <p:extLst>
      <p:ext uri="{BB962C8B-B14F-4D97-AF65-F5344CB8AC3E}">
        <p14:creationId xmlns:p14="http://schemas.microsoft.com/office/powerpoint/2010/main" val="160966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00336"/>
          </a:xfrm>
        </p:spPr>
        <p:txBody>
          <a:bodyPr/>
          <a:lstStyle/>
          <a:p>
            <a:r>
              <a:rPr lang="fr-CA" dirty="0"/>
              <a:t>Modification (Mise à jour)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8160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CA" sz="1800" dirty="0" smtClean="0"/>
              <a:t>On peut  modifier plusieurs colonnes dans la clause set</a:t>
            </a:r>
            <a:endParaRPr lang="fr-CA" sz="1800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442689" y="1844824"/>
            <a:ext cx="8229600" cy="4816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1800" dirty="0" smtClean="0"/>
              <a:t>Les changements:</a:t>
            </a:r>
            <a:endParaRPr lang="fr-CA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38" y="2492896"/>
            <a:ext cx="5976664" cy="24781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442689" y="5517232"/>
            <a:ext cx="8229600" cy="4816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1800" dirty="0" smtClean="0"/>
              <a:t>Vérifier qu’il n’ y a plus aucun employé dans le </a:t>
            </a:r>
            <a:r>
              <a:rPr lang="fr-CA" sz="1800" dirty="0" err="1" smtClean="0"/>
              <a:t>dept</a:t>
            </a:r>
            <a:r>
              <a:rPr lang="fr-CA" sz="1800" dirty="0" smtClean="0"/>
              <a:t> 10 !!!:</a:t>
            </a:r>
            <a:endParaRPr lang="fr-CA" sz="1800" dirty="0"/>
          </a:p>
        </p:txBody>
      </p:sp>
    </p:spTree>
    <p:extLst>
      <p:ext uri="{BB962C8B-B14F-4D97-AF65-F5344CB8AC3E}">
        <p14:creationId xmlns:p14="http://schemas.microsoft.com/office/powerpoint/2010/main" val="106899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438150"/>
            <a:ext cx="7765322" cy="5302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CA" dirty="0"/>
              <a:t>Violation des contraintes d’intégrité</a:t>
            </a:r>
          </a:p>
        </p:txBody>
      </p:sp>
      <p:sp>
        <p:nvSpPr>
          <p:cNvPr id="20485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2269CB-6C61-460D-938D-11ACF5C16D92}" type="slidenum">
              <a:rPr lang="fr-CA" smtClean="0"/>
              <a:pPr/>
              <a:t>17</a:t>
            </a:fld>
            <a:endParaRPr lang="fr-CA" smtClean="0"/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683568" y="1412776"/>
            <a:ext cx="7704856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100" dirty="0"/>
              <a:t>L’erreur dans l’exemple suivant est que le département </a:t>
            </a:r>
            <a:r>
              <a:rPr lang="fr-CA" sz="2100" dirty="0" smtClean="0"/>
              <a:t>33 </a:t>
            </a:r>
            <a:r>
              <a:rPr lang="fr-CA" sz="2100" dirty="0"/>
              <a:t>n’existe pas, alors on ne peut y affecter un </a:t>
            </a:r>
            <a:r>
              <a:rPr lang="fr-CA" sz="2100" dirty="0" smtClean="0"/>
              <a:t>employé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2852936"/>
            <a:ext cx="8413750" cy="22862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6122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/>
          <p:cNvSpPr>
            <a:spLocks noGrp="1" noChangeAspec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Violation des contraintes d’intégrité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9339" y="1340768"/>
            <a:ext cx="7765322" cy="1216491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>
              <a:spcBef>
                <a:spcPct val="50000"/>
              </a:spcBef>
            </a:pPr>
            <a:r>
              <a:rPr lang="fr-CA" dirty="0"/>
              <a:t>L’erreur dans l’exemple suivant est qu'il y a des employés affectés au département 20. </a:t>
            </a:r>
            <a:endParaRPr lang="fr-CA" dirty="0" smtClean="0"/>
          </a:p>
          <a:p>
            <a:pPr>
              <a:spcBef>
                <a:spcPct val="50000"/>
              </a:spcBef>
            </a:pPr>
            <a:r>
              <a:rPr lang="fr-CA" dirty="0" smtClean="0"/>
              <a:t>Si </a:t>
            </a:r>
            <a:r>
              <a:rPr lang="fr-CA" dirty="0"/>
              <a:t>on modifie ce numéro, ces derniers employés ne seront plus affectés à un département </a:t>
            </a:r>
            <a:r>
              <a:rPr lang="fr-CA" dirty="0" smtClean="0"/>
              <a:t>valide car le </a:t>
            </a:r>
            <a:r>
              <a:rPr lang="fr-CA" dirty="0" err="1" smtClean="0"/>
              <a:t>num</a:t>
            </a:r>
            <a:r>
              <a:rPr lang="fr-CA" dirty="0" smtClean="0"/>
              <a:t> 33 n’existe pas.</a:t>
            </a:r>
            <a:endParaRPr lang="fr-CA" dirty="0"/>
          </a:p>
          <a:p>
            <a:endParaRPr lang="fr-CA" dirty="0"/>
          </a:p>
        </p:txBody>
      </p:sp>
      <p:sp>
        <p:nvSpPr>
          <p:cNvPr id="2150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2B33D2-3210-484D-8D76-51C1FA82D7F9}" type="slidenum">
              <a:rPr lang="fr-CA" smtClean="0"/>
              <a:pPr/>
              <a:t>18</a:t>
            </a:fld>
            <a:endParaRPr lang="fr-CA" smtClean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68960"/>
            <a:ext cx="8299450" cy="20162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472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 smtClean="0"/>
              <a:t>Suppression de données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CA" dirty="0" smtClean="0"/>
              <a:t>Un </a:t>
            </a:r>
            <a:r>
              <a:rPr lang="fr-CA" dirty="0" err="1" smtClean="0"/>
              <a:t>emploé</a:t>
            </a:r>
            <a:r>
              <a:rPr lang="fr-CA" dirty="0" smtClean="0"/>
              <a:t> quitte la compagnie, alors on supprime son enregistrement de la table </a:t>
            </a:r>
            <a:r>
              <a:rPr lang="fr-CA" dirty="0" err="1" smtClean="0"/>
              <a:t>emp</a:t>
            </a:r>
            <a:r>
              <a:rPr lang="fr-CA" dirty="0" smtClean="0"/>
              <a:t>.</a:t>
            </a:r>
          </a:p>
          <a:p>
            <a:pPr eaLnBrk="1" hangingPunct="1"/>
            <a:r>
              <a:rPr lang="fr-CA" dirty="0" smtClean="0"/>
              <a:t>Instruction:</a:t>
            </a:r>
          </a:p>
          <a:p>
            <a:pPr eaLnBrk="1" hangingPunct="1">
              <a:buFont typeface="Wingdings" pitchFamily="2" charset="2"/>
              <a:buNone/>
            </a:pPr>
            <a:r>
              <a:rPr lang="fr-CA" dirty="0" smtClean="0"/>
              <a:t>		</a:t>
            </a:r>
            <a:r>
              <a:rPr lang="fr-CA" b="1" dirty="0" smtClean="0">
                <a:latin typeface="Courier New" pitchFamily="49" charset="0"/>
                <a:cs typeface="Courier New" pitchFamily="49" charset="0"/>
              </a:rPr>
              <a:t>DELETE</a:t>
            </a:r>
            <a:r>
              <a:rPr lang="fr-CA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A" b="1" dirty="0" smtClean="0">
                <a:latin typeface="Courier New" pitchFamily="49" charset="0"/>
                <a:cs typeface="Courier New" pitchFamily="49" charset="0"/>
              </a:rPr>
              <a:t>FROM</a:t>
            </a:r>
            <a:r>
              <a:rPr lang="fr-CA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A" dirty="0" err="1" smtClean="0">
                <a:latin typeface="Courier New" pitchFamily="49" charset="0"/>
                <a:cs typeface="Courier New" pitchFamily="49" charset="0"/>
              </a:rPr>
              <a:t>nomTable</a:t>
            </a:r>
            <a:endParaRPr lang="fr-CA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CA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fr-CA" b="1" dirty="0" smtClean="0">
                <a:latin typeface="Courier New" pitchFamily="49" charset="0"/>
                <a:cs typeface="Courier New" pitchFamily="49" charset="0"/>
              </a:rPr>
              <a:t>WHERE</a:t>
            </a:r>
            <a:r>
              <a:rPr lang="fr-CA" dirty="0" smtClean="0">
                <a:latin typeface="Courier New" pitchFamily="49" charset="0"/>
                <a:cs typeface="Courier New" pitchFamily="49" charset="0"/>
              </a:rPr>
              <a:t> condition</a:t>
            </a:r>
          </a:p>
          <a:p>
            <a:pPr eaLnBrk="1" hangingPunct="1"/>
            <a:r>
              <a:rPr lang="fr-CA" dirty="0" smtClean="0"/>
              <a:t>Permet de supprimer un ou plusieurs enregistrements grâce à la clause WHERE.</a:t>
            </a:r>
          </a:p>
          <a:p>
            <a:pPr eaLnBrk="1" hangingPunct="1"/>
            <a:r>
              <a:rPr lang="fr-CA" dirty="0" smtClean="0"/>
              <a:t>En absence de la clause WHERE, </a:t>
            </a:r>
            <a:r>
              <a:rPr lang="fr-CA" u="sng" dirty="0" smtClean="0"/>
              <a:t>tous les enregistrements de la table sont supprimés</a:t>
            </a:r>
          </a:p>
        </p:txBody>
      </p:sp>
      <p:sp>
        <p:nvSpPr>
          <p:cNvPr id="2253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B0BAFC-0830-48A0-BBAB-4CAADCF78C60}" type="slidenum">
              <a:rPr lang="fr-CA" smtClean="0"/>
              <a:pPr/>
              <a:t>19</a:t>
            </a:fld>
            <a:endParaRPr lang="fr-CA" smtClean="0"/>
          </a:p>
        </p:txBody>
      </p:sp>
    </p:spTree>
    <p:extLst>
      <p:ext uri="{BB962C8B-B14F-4D97-AF65-F5344CB8AC3E}">
        <p14:creationId xmlns:p14="http://schemas.microsoft.com/office/powerpoint/2010/main" val="426277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7634" y="155448"/>
            <a:ext cx="6380466" cy="825280"/>
          </a:xfrm>
        </p:spPr>
        <p:txBody>
          <a:bodyPr/>
          <a:lstStyle/>
          <a:p>
            <a:pPr eaLnBrk="1" hangingPunct="1"/>
            <a:r>
              <a:rPr lang="fr-CA" dirty="0" smtClean="0"/>
              <a:t>Suppression de données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59532" y="3933056"/>
            <a:ext cx="8280920" cy="43204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eaLnBrk="1" hangingPunct="1"/>
            <a:r>
              <a:rPr lang="fr-CA" dirty="0" smtClean="0"/>
              <a:t>Supprimer l’employé numéro 4444(Il ne travaille plus à la compagnie)</a:t>
            </a:r>
          </a:p>
        </p:txBody>
      </p:sp>
      <p:sp>
        <p:nvSpPr>
          <p:cNvPr id="2355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B2884D-8BD3-47FB-8D50-FC9B29081FED}" type="slidenum">
              <a:rPr lang="fr-CA" smtClean="0"/>
              <a:pPr/>
              <a:t>20</a:t>
            </a:fld>
            <a:endParaRPr lang="fr-CA" smtClean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68761"/>
            <a:ext cx="7344816" cy="25202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478885"/>
            <a:ext cx="4467225" cy="17438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601393"/>
            <a:ext cx="3514660" cy="15639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844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392041"/>
            <a:ext cx="7765322" cy="624840"/>
          </a:xfrm>
        </p:spPr>
        <p:txBody>
          <a:bodyPr>
            <a:normAutofit/>
          </a:bodyPr>
          <a:lstStyle/>
          <a:p>
            <a:r>
              <a:rPr lang="fr-CA" dirty="0"/>
              <a:t>Violation des contraintes d’intégrité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424936" cy="100811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eaLnBrk="1" hangingPunct="1"/>
            <a:r>
              <a:rPr lang="fr-CA" sz="2400" dirty="0"/>
              <a:t>Essayer de supprimer le département 10(on ne pourra pas car il y a des employés qui travaillent dans ce département</a:t>
            </a:r>
            <a:r>
              <a:rPr lang="fr-CA" sz="2400" dirty="0" smtClean="0"/>
              <a:t>)</a:t>
            </a:r>
            <a:endParaRPr lang="fr-CA" sz="2400" dirty="0"/>
          </a:p>
        </p:txBody>
      </p:sp>
      <p:sp>
        <p:nvSpPr>
          <p:cNvPr id="24581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BADC21-A01B-4ED2-9486-E86E49DDF634}" type="slidenum">
              <a:rPr lang="fr-CA" smtClean="0"/>
              <a:pPr/>
              <a:t>21</a:t>
            </a:fld>
            <a:endParaRPr lang="fr-CA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2644774"/>
            <a:ext cx="8350250" cy="229639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8258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e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rigine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8537</TotalTime>
  <Words>646</Words>
  <Application>Microsoft Office PowerPoint</Application>
  <PresentationFormat>Affichage à l'écran (4:3)</PresentationFormat>
  <Paragraphs>98</Paragraphs>
  <Slides>21</Slides>
  <Notes>6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3" baseType="lpstr">
      <vt:lpstr>Origine</vt:lpstr>
      <vt:lpstr>Document</vt:lpstr>
      <vt:lpstr>DML (Langage de manipulation  de données)</vt:lpstr>
      <vt:lpstr>Les catégories d'instructions   SQL</vt:lpstr>
      <vt:lpstr>Les instructions DML </vt:lpstr>
      <vt:lpstr>Ajout d’un enregistrement dans une table</vt:lpstr>
      <vt:lpstr>Insertion dans une table</vt:lpstr>
      <vt:lpstr>INSERT Exemple 1:  Fournir une valeur pour chaque attribut</vt:lpstr>
      <vt:lpstr>INSERT Exemple 2:  Fournir une valeur pour certains attributs seulement</vt:lpstr>
      <vt:lpstr>Insertion de dates dans une table</vt:lpstr>
      <vt:lpstr>Violation des contraintes d'intégrité</vt:lpstr>
      <vt:lpstr>Violation des contraintes d'intégrité</vt:lpstr>
      <vt:lpstr>Modification (Mise à jour) des données</vt:lpstr>
      <vt:lpstr>Modification (Mise à jour) des données</vt:lpstr>
      <vt:lpstr>Modification (Mise à jour) des données</vt:lpstr>
      <vt:lpstr>Modification (Mise à jour) des données</vt:lpstr>
      <vt:lpstr>Modification (Mise à jour) des données</vt:lpstr>
      <vt:lpstr>Modification (Mise à jour) des données</vt:lpstr>
      <vt:lpstr>Violation des contraintes d’intégrité</vt:lpstr>
      <vt:lpstr>Violation des contraintes d’intégrité</vt:lpstr>
      <vt:lpstr>Suppression de données</vt:lpstr>
      <vt:lpstr>Suppression de données</vt:lpstr>
      <vt:lpstr>Violation des contraintes d’intégrité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asma mokt</dc:creator>
  <cp:lastModifiedBy>asma mokt</cp:lastModifiedBy>
  <cp:revision>50</cp:revision>
  <dcterms:created xsi:type="dcterms:W3CDTF">2022-05-20T09:44:17Z</dcterms:created>
  <dcterms:modified xsi:type="dcterms:W3CDTF">2025-02-20T22:58:45Z</dcterms:modified>
</cp:coreProperties>
</file>