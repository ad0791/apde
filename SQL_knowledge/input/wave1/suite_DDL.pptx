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62" r:id="rId3"/>
    <p:sldId id="267" r:id="rId4"/>
    <p:sldId id="288" r:id="rId5"/>
    <p:sldId id="259" r:id="rId6"/>
    <p:sldId id="260" r:id="rId7"/>
    <p:sldId id="261" r:id="rId8"/>
    <p:sldId id="264" r:id="rId9"/>
    <p:sldId id="286" r:id="rId10"/>
    <p:sldId id="266" r:id="rId11"/>
    <p:sldId id="279" r:id="rId12"/>
    <p:sldId id="274" r:id="rId13"/>
    <p:sldId id="287" r:id="rId14"/>
    <p:sldId id="289" r:id="rId15"/>
    <p:sldId id="290" r:id="rId16"/>
    <p:sldId id="269" r:id="rId17"/>
    <p:sldId id="270" r:id="rId18"/>
    <p:sldId id="271" r:id="rId19"/>
    <p:sldId id="275" r:id="rId20"/>
    <p:sldId id="272" r:id="rId21"/>
    <p:sldId id="273" r:id="rId22"/>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A107856-5554-42FB-B03E-39F5DBC370BA}" styleName="Style moyen 4 - Accentuation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019" autoAdjust="0"/>
  </p:normalViewPr>
  <p:slideViewPr>
    <p:cSldViewPr>
      <p:cViewPr varScale="1">
        <p:scale>
          <a:sx n="53" d="100"/>
          <a:sy n="53" d="100"/>
        </p:scale>
        <p:origin x="96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EA525E-C899-4DFB-9159-395E4D74FBB7}" type="datetimeFigureOut">
              <a:rPr lang="fr-CA" smtClean="0"/>
              <a:t>2026-01-25</a:t>
            </a:fld>
            <a:endParaRPr lang="fr-CA"/>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7139A2-8B9B-4B30-A369-706EDA2D0F51}" type="slidenum">
              <a:rPr lang="fr-CA" smtClean="0"/>
              <a:t>‹n°›</a:t>
            </a:fld>
            <a:endParaRPr lang="fr-CA"/>
          </a:p>
        </p:txBody>
      </p:sp>
    </p:spTree>
    <p:extLst>
      <p:ext uri="{BB962C8B-B14F-4D97-AF65-F5344CB8AC3E}">
        <p14:creationId xmlns:p14="http://schemas.microsoft.com/office/powerpoint/2010/main" val="1526418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image" Target="../media/image4.wmf"/></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Rot="1" noChangeAspect="1" noChangeArrowheads="1" noTextEdit="1"/>
          </p:cNvSpPr>
          <p:nvPr>
            <p:ph type="sldImg"/>
          </p:nvPr>
        </p:nvSpPr>
        <p:spPr>
          <a:xfrm>
            <a:off x="458788" y="168275"/>
            <a:ext cx="5938837" cy="4452938"/>
          </a:xfrm>
          <a:ln cap="flat"/>
        </p:spPr>
      </p:sp>
      <p:sp>
        <p:nvSpPr>
          <p:cNvPr id="1028" name="Rectangle 3"/>
          <p:cNvSpPr>
            <a:spLocks noGrp="1" noChangeArrowheads="1"/>
          </p:cNvSpPr>
          <p:nvPr>
            <p:ph type="body" idx="1"/>
          </p:nvPr>
        </p:nvSpPr>
        <p:spPr>
          <a:xfrm>
            <a:off x="365655" y="4732617"/>
            <a:ext cx="5947857" cy="3802314"/>
          </a:xfrm>
          <a:noFill/>
          <a:ln/>
        </p:spPr>
        <p:txBody>
          <a:bodyPr/>
          <a:lstStyle/>
          <a:p>
            <a:endParaRPr lang="fr-FR" b="0" dirty="0">
              <a:latin typeface="Times New Roman" pitchFamily="18" charset="0"/>
            </a:endParaRPr>
          </a:p>
        </p:txBody>
      </p:sp>
      <p:graphicFrame>
        <p:nvGraphicFramePr>
          <p:cNvPr id="1026" name="Object 4"/>
          <p:cNvGraphicFramePr>
            <a:graphicFrameLocks/>
          </p:cNvGraphicFramePr>
          <p:nvPr/>
        </p:nvGraphicFramePr>
        <p:xfrm>
          <a:off x="546085" y="5876015"/>
          <a:ext cx="6165015" cy="2951524"/>
        </p:xfrm>
        <a:graphic>
          <a:graphicData uri="http://schemas.openxmlformats.org/presentationml/2006/ole">
            <mc:AlternateContent xmlns:mc="http://schemas.openxmlformats.org/markup-compatibility/2006">
              <mc:Choice xmlns:v="urn:schemas-microsoft-com:vml" Requires="v">
                <p:oleObj name="Document" r:id="rId3" imgW="6129000" imgH="2946240" progId="Word.Document.8">
                  <p:embed/>
                </p:oleObj>
              </mc:Choice>
              <mc:Fallback>
                <p:oleObj name="Document" r:id="rId3" imgW="6129000" imgH="2946240" progId="Word.Document.8">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085" y="5876015"/>
                        <a:ext cx="6165015" cy="2951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472256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12" name="Rectangle 8"/>
          <p:cNvSpPr>
            <a:spLocks noGrp="1" noRot="1" noChangeAspect="1" noChangeArrowheads="1" noTextEdit="1"/>
          </p:cNvSpPr>
          <p:nvPr>
            <p:ph type="sldImg"/>
          </p:nvPr>
        </p:nvSpPr>
        <p:spPr>
          <a:ln/>
        </p:spPr>
      </p:sp>
      <p:sp>
        <p:nvSpPr>
          <p:cNvPr id="482313" name="Rectangle 9"/>
          <p:cNvSpPr>
            <a:spLocks noGrp="1" noChangeArrowheads="1"/>
          </p:cNvSpPr>
          <p:nvPr>
            <p:ph type="body" idx="1"/>
          </p:nvPr>
        </p:nvSpPr>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8" name="Rectangle 6"/>
          <p:cNvSpPr>
            <a:spLocks noGrp="1" noRot="1" noChangeAspect="1" noChangeArrowheads="1" noTextEdit="1"/>
          </p:cNvSpPr>
          <p:nvPr>
            <p:ph type="sldImg"/>
          </p:nvPr>
        </p:nvSpPr>
        <p:spPr>
          <a:ln/>
        </p:spPr>
      </p:sp>
      <p:sp>
        <p:nvSpPr>
          <p:cNvPr id="484359" name="Rectangle 7"/>
          <p:cNvSpPr>
            <a:spLocks noGrp="1" noChangeArrowheads="1"/>
          </p:cNvSpPr>
          <p:nvPr>
            <p:ph type="body" idx="1"/>
          </p:nvPr>
        </p:nvSpPr>
        <p:spPr/>
        <p:txBody>
          <a:bodyPr>
            <a:normAutofit/>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4" name="Rectangle 4"/>
          <p:cNvSpPr>
            <a:spLocks noGrp="1" noRot="1" noChangeAspect="1" noChangeArrowheads="1" noTextEdit="1"/>
          </p:cNvSpPr>
          <p:nvPr>
            <p:ph type="sldImg"/>
          </p:nvPr>
        </p:nvSpPr>
        <p:spPr>
          <a:ln/>
        </p:spPr>
      </p:sp>
      <p:sp>
        <p:nvSpPr>
          <p:cNvPr id="486405" name="Rectangle 5"/>
          <p:cNvSpPr>
            <a:spLocks noGrp="1" noChangeArrowheads="1"/>
          </p:cNvSpPr>
          <p:nvPr>
            <p:ph type="body" idx="1"/>
          </p:nvPr>
        </p:nvSpPr>
        <p:spPr/>
        <p:txBody>
          <a:bodyPr/>
          <a:lstStyle/>
          <a:p>
            <a:pPr lvl="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7" name="Rectangle 5"/>
          <p:cNvSpPr>
            <a:spLocks noGrp="1" noRot="1" noChangeAspect="1" noChangeArrowheads="1" noTextEdit="1"/>
          </p:cNvSpPr>
          <p:nvPr>
            <p:ph type="sldImg"/>
          </p:nvPr>
        </p:nvSpPr>
        <p:spPr>
          <a:ln/>
        </p:spPr>
      </p:sp>
      <p:sp>
        <p:nvSpPr>
          <p:cNvPr id="494598" name="Rectangle 6"/>
          <p:cNvSpPr>
            <a:spLocks noGrp="1" noChangeArrowheads="1"/>
          </p:cNvSpPr>
          <p:nvPr>
            <p:ph type="body" idx="1"/>
          </p:nvPr>
        </p:nvSpPr>
        <p:spPr/>
        <p:txBody>
          <a:bodyPr/>
          <a:lstStyle/>
          <a:p>
            <a:endParaRPr lang="en-US" dirty="0"/>
          </a:p>
        </p:txBody>
      </p:sp>
      <p:pic>
        <p:nvPicPr>
          <p:cNvPr id="494596" name="Picture 4"/>
          <p:cNvPicPr>
            <a:picLocks noChangeAspect="1" noChangeArrowheads="1"/>
          </p:cNvPicPr>
          <p:nvPr/>
        </p:nvPicPr>
        <p:blipFill>
          <a:blip r:embed="rId3"/>
          <a:srcRect/>
          <a:stretch>
            <a:fillRect/>
          </a:stretch>
        </p:blipFill>
        <p:spPr bwMode="auto">
          <a:xfrm>
            <a:off x="770825" y="6380626"/>
            <a:ext cx="5250948" cy="503569"/>
          </a:xfrm>
          <a:prstGeom prst="rect">
            <a:avLst/>
          </a:prstGeom>
          <a:noFill/>
          <a:ln w="25400">
            <a:noFill/>
            <a:miter lim="800000"/>
            <a:headEnd type="none" w="sm" len="sm"/>
            <a:tailEnd type="none" w="med" len="lg"/>
          </a:ln>
          <a:effectLst/>
        </p:spPr>
      </p:pic>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2" name="Rectangle 4"/>
          <p:cNvSpPr>
            <a:spLocks noGrp="1" noRot="1" noChangeAspect="1" noChangeArrowheads="1" noTextEdit="1"/>
          </p:cNvSpPr>
          <p:nvPr>
            <p:ph type="sldImg"/>
          </p:nvPr>
        </p:nvSpPr>
        <p:spPr>
          <a:ln/>
        </p:spPr>
      </p:sp>
      <p:sp>
        <p:nvSpPr>
          <p:cNvPr id="498693" name="Rectangle 5"/>
          <p:cNvSpPr>
            <a:spLocks noGrp="1" noChangeArrowheads="1"/>
          </p:cNvSpPr>
          <p:nvPr>
            <p:ph type="body" idx="1"/>
          </p:nvPr>
        </p:nvSpPr>
        <p:spPr/>
        <p:txBody>
          <a:bodyPr/>
          <a:lstStyle/>
          <a:p>
            <a:pPr>
              <a:spcBef>
                <a:spcPct val="30000"/>
              </a:spcBef>
            </a:pPr>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40" name="Rectangle 4"/>
          <p:cNvSpPr>
            <a:spLocks noGrp="1" noRot="1" noChangeAspect="1" noChangeArrowheads="1" noTextEdit="1"/>
          </p:cNvSpPr>
          <p:nvPr>
            <p:ph type="sldImg"/>
          </p:nvPr>
        </p:nvSpPr>
        <p:spPr>
          <a:ln/>
        </p:spPr>
      </p:sp>
      <p:sp>
        <p:nvSpPr>
          <p:cNvPr id="500741" name="Rectangle 5"/>
          <p:cNvSpPr>
            <a:spLocks noGrp="1" noChangeArrowheads="1"/>
          </p:cNvSpPr>
          <p:nvPr>
            <p:ph type="body" idx="1"/>
          </p:nvPr>
        </p:nvSpPr>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9E7139A2-8B9B-4B30-A369-706EDA2D0F51}" type="slidenum">
              <a:rPr lang="fr-CA" smtClean="0"/>
              <a:t>13</a:t>
            </a:fld>
            <a:endParaRPr lang="fr-CA"/>
          </a:p>
        </p:txBody>
      </p:sp>
    </p:spTree>
    <p:extLst>
      <p:ext uri="{BB962C8B-B14F-4D97-AF65-F5344CB8AC3E}">
        <p14:creationId xmlns:p14="http://schemas.microsoft.com/office/powerpoint/2010/main" val="4017706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ChangeArrowheads="1"/>
          </p:cNvSpPr>
          <p:nvPr/>
        </p:nvSpPr>
        <p:spPr bwMode="auto">
          <a:xfrm>
            <a:off x="3883709" y="1"/>
            <a:ext cx="2975849" cy="459780"/>
          </a:xfrm>
          <a:prstGeom prst="rect">
            <a:avLst/>
          </a:prstGeom>
          <a:noFill/>
          <a:ln w="9525">
            <a:noFill/>
            <a:miter lim="800000"/>
            <a:headEnd/>
            <a:tailEnd/>
          </a:ln>
          <a:effectLst/>
        </p:spPr>
        <p:txBody>
          <a:bodyPr wrap="none" lIns="89913" tIns="44956" rIns="89913" bIns="44956" anchor="ctr"/>
          <a:lstStyle/>
          <a:p>
            <a:endParaRPr lang="fr-CA"/>
          </a:p>
        </p:txBody>
      </p:sp>
      <p:sp>
        <p:nvSpPr>
          <p:cNvPr id="504835" name="Rectangle 3"/>
          <p:cNvSpPr>
            <a:spLocks noChangeArrowheads="1"/>
          </p:cNvSpPr>
          <p:nvPr/>
        </p:nvSpPr>
        <p:spPr bwMode="auto">
          <a:xfrm>
            <a:off x="-4672" y="1"/>
            <a:ext cx="2972735" cy="459780"/>
          </a:xfrm>
          <a:prstGeom prst="rect">
            <a:avLst/>
          </a:prstGeom>
          <a:noFill/>
          <a:ln w="9525">
            <a:noFill/>
            <a:miter lim="800000"/>
            <a:headEnd/>
            <a:tailEnd/>
          </a:ln>
          <a:effectLst/>
        </p:spPr>
        <p:txBody>
          <a:bodyPr wrap="none" lIns="89913" tIns="44956" rIns="89913" bIns="44956" anchor="ctr"/>
          <a:lstStyle/>
          <a:p>
            <a:endParaRPr lang="fr-CA"/>
          </a:p>
        </p:txBody>
      </p:sp>
      <p:sp>
        <p:nvSpPr>
          <p:cNvPr id="504838" name="Rectangle 6"/>
          <p:cNvSpPr>
            <a:spLocks noGrp="1" noRot="1" noChangeAspect="1" noChangeArrowheads="1" noTextEdit="1"/>
          </p:cNvSpPr>
          <p:nvPr>
            <p:ph type="sldImg"/>
          </p:nvPr>
        </p:nvSpPr>
        <p:spPr>
          <a:ln/>
        </p:spPr>
      </p:sp>
      <p:sp>
        <p:nvSpPr>
          <p:cNvPr id="504839" name="Rectangle 7"/>
          <p:cNvSpPr>
            <a:spLocks noGrp="1" noChangeArrowheads="1"/>
          </p:cNvSpPr>
          <p:nvPr>
            <p:ph type="body" idx="1"/>
          </p:nvPr>
        </p:nvSpPr>
        <p:spPr/>
        <p:txBody>
          <a:bodyPr/>
          <a:lstStyle/>
          <a:p>
            <a:r>
              <a:rPr lang="en-US" dirty="0"/>
              <a:t>Indexes (continued)</a:t>
            </a:r>
          </a:p>
          <a:p>
            <a:pPr lvl="1"/>
            <a:r>
              <a:rPr lang="en-US" dirty="0"/>
              <a:t>An   server </a:t>
            </a:r>
            <a:r>
              <a:rPr lang="en-US" dirty="0">
                <a:solidFill>
                  <a:schemeClr val="tx1"/>
                </a:solidFill>
              </a:rPr>
              <a:t>index</a:t>
            </a:r>
            <a:r>
              <a:rPr lang="en-US" dirty="0"/>
              <a:t> is a schema object that can speed up the retrieval of rows by using a pointer. Indexes can be created explicitly or automatically. If you do not have an index on the column, then a full table scan occurs.</a:t>
            </a:r>
          </a:p>
          <a:p>
            <a:pPr lvl="1"/>
            <a:r>
              <a:rPr lang="en-US" dirty="0"/>
              <a:t>An index provides direct and fast access to rows in a table. Its purpose is to reduce the necessity of disk I/O by using an indexed path to locate data quickly. The index is used and maintained automatically by the   server. After an index is created, no direct activity is required by the user.</a:t>
            </a:r>
          </a:p>
          <a:p>
            <a:pPr lvl="1"/>
            <a:r>
              <a:rPr lang="en-US" dirty="0"/>
              <a:t>Indexes are logically and physically independent of the table that they index. This means that they can be created or dropped at any time and have no effect on the base tables or other indexes.</a:t>
            </a:r>
          </a:p>
          <a:p>
            <a:pPr lvl="1"/>
            <a:r>
              <a:rPr lang="en-US" b="1" dirty="0"/>
              <a:t>Note:</a:t>
            </a:r>
            <a:r>
              <a:rPr lang="en-US" dirty="0"/>
              <a:t> When you drop a table, corresponding indexes are also dropped.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ChangeArrowheads="1"/>
          </p:cNvSpPr>
          <p:nvPr/>
        </p:nvSpPr>
        <p:spPr bwMode="auto">
          <a:xfrm>
            <a:off x="3883709" y="1"/>
            <a:ext cx="2975849" cy="459780"/>
          </a:xfrm>
          <a:prstGeom prst="rect">
            <a:avLst/>
          </a:prstGeom>
          <a:noFill/>
          <a:ln w="9525">
            <a:noFill/>
            <a:miter lim="800000"/>
            <a:headEnd/>
            <a:tailEnd/>
          </a:ln>
          <a:effectLst/>
        </p:spPr>
        <p:txBody>
          <a:bodyPr wrap="none" lIns="89913" tIns="44956" rIns="89913" bIns="44956" anchor="ctr"/>
          <a:lstStyle/>
          <a:p>
            <a:endParaRPr lang="fr-CA"/>
          </a:p>
        </p:txBody>
      </p:sp>
      <p:sp>
        <p:nvSpPr>
          <p:cNvPr id="506883" name="Rectangle 3"/>
          <p:cNvSpPr>
            <a:spLocks noChangeArrowheads="1"/>
          </p:cNvSpPr>
          <p:nvPr/>
        </p:nvSpPr>
        <p:spPr bwMode="auto">
          <a:xfrm>
            <a:off x="-4672" y="1"/>
            <a:ext cx="2972735" cy="459780"/>
          </a:xfrm>
          <a:prstGeom prst="rect">
            <a:avLst/>
          </a:prstGeom>
          <a:noFill/>
          <a:ln w="9525">
            <a:noFill/>
            <a:miter lim="800000"/>
            <a:headEnd/>
            <a:tailEnd/>
          </a:ln>
          <a:effectLst/>
        </p:spPr>
        <p:txBody>
          <a:bodyPr wrap="none" lIns="89913" tIns="44956" rIns="89913" bIns="44956" anchor="ctr"/>
          <a:lstStyle/>
          <a:p>
            <a:endParaRPr lang="fr-CA"/>
          </a:p>
        </p:txBody>
      </p:sp>
      <p:sp>
        <p:nvSpPr>
          <p:cNvPr id="506886" name="Rectangle 6"/>
          <p:cNvSpPr>
            <a:spLocks noGrp="1" noRot="1" noChangeAspect="1" noChangeArrowheads="1" noTextEdit="1"/>
          </p:cNvSpPr>
          <p:nvPr>
            <p:ph type="sldImg"/>
          </p:nvPr>
        </p:nvSpPr>
        <p:spPr>
          <a:ln/>
        </p:spPr>
      </p:sp>
      <p:sp>
        <p:nvSpPr>
          <p:cNvPr id="506887" name="Rectangle 7"/>
          <p:cNvSpPr>
            <a:spLocks noGrp="1" noChangeArrowheads="1"/>
          </p:cNvSpPr>
          <p:nvPr>
            <p:ph type="body" idx="1"/>
          </p:nvPr>
        </p:nvSpPr>
        <p:spPr/>
        <p:txBody>
          <a:bodyPr/>
          <a:lstStyle/>
          <a:p>
            <a:r>
              <a:rPr lang="en-US" dirty="0"/>
              <a:t>Types of Indexes</a:t>
            </a:r>
          </a:p>
          <a:p>
            <a:pPr lvl="1"/>
            <a:r>
              <a:rPr lang="en-US" dirty="0">
                <a:solidFill>
                  <a:schemeClr val="tx1"/>
                </a:solidFill>
              </a:rPr>
              <a:t>Two types of indexes</a:t>
            </a:r>
            <a:r>
              <a:rPr lang="en-US" dirty="0"/>
              <a:t> can be created. </a:t>
            </a:r>
          </a:p>
          <a:p>
            <a:pPr lvl="1"/>
            <a:r>
              <a:rPr lang="en-US" b="1" dirty="0">
                <a:solidFill>
                  <a:schemeClr val="tx1"/>
                </a:solidFill>
              </a:rPr>
              <a:t>Unique index</a:t>
            </a:r>
            <a:r>
              <a:rPr lang="en-US" b="1" dirty="0"/>
              <a:t>:</a:t>
            </a:r>
            <a:r>
              <a:rPr lang="en-US" dirty="0"/>
              <a:t> The   server automatically creates this index when you define a column in a table to have a </a:t>
            </a:r>
            <a:r>
              <a:rPr lang="en-US" dirty="0">
                <a:latin typeface="Courier New" pitchFamily="49" charset="0"/>
              </a:rPr>
              <a:t>PRIMARY KEY</a:t>
            </a:r>
            <a:r>
              <a:rPr lang="en-US" dirty="0"/>
              <a:t> or a </a:t>
            </a:r>
            <a:r>
              <a:rPr lang="en-US" dirty="0">
                <a:latin typeface="Courier New" pitchFamily="49" charset="0"/>
              </a:rPr>
              <a:t>UNIQUE</a:t>
            </a:r>
            <a:r>
              <a:rPr lang="en-US" dirty="0"/>
              <a:t> key constraint. The name of the index is the name that is given to the constraint.</a:t>
            </a:r>
          </a:p>
          <a:p>
            <a:pPr lvl="1"/>
            <a:r>
              <a:rPr lang="en-US" b="1" dirty="0">
                <a:solidFill>
                  <a:schemeClr val="tx1"/>
                </a:solidFill>
              </a:rPr>
              <a:t>Nonunique index</a:t>
            </a:r>
            <a:r>
              <a:rPr lang="en-US" b="1" dirty="0"/>
              <a:t>:</a:t>
            </a:r>
            <a:r>
              <a:rPr lang="en-US" dirty="0"/>
              <a:t> This is an index that a user can create. For example, you can create a </a:t>
            </a:r>
            <a:r>
              <a:rPr lang="en-US" dirty="0">
                <a:latin typeface="Courier New" pitchFamily="49" charset="0"/>
              </a:rPr>
              <a:t>FOREIGN KEY</a:t>
            </a:r>
            <a:r>
              <a:rPr lang="en-US" dirty="0"/>
              <a:t> column index for a join in a query to improve retrieval speed. </a:t>
            </a:r>
          </a:p>
          <a:p>
            <a:pPr lvl="1"/>
            <a:r>
              <a:rPr lang="en-US" b="1" dirty="0"/>
              <a:t>Note:</a:t>
            </a:r>
            <a:r>
              <a:rPr lang="en-US" dirty="0"/>
              <a:t> You can manually create a unique index, but it is recommended that you create a unique constraint, which implicitly creates a unique index.</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2" name="Rectangle 4"/>
          <p:cNvSpPr>
            <a:spLocks noGrp="1" noRot="1" noChangeAspect="1" noChangeArrowheads="1" noTextEdit="1"/>
          </p:cNvSpPr>
          <p:nvPr>
            <p:ph type="sldImg"/>
          </p:nvPr>
        </p:nvSpPr>
        <p:spPr>
          <a:ln/>
        </p:spPr>
      </p:sp>
      <p:sp>
        <p:nvSpPr>
          <p:cNvPr id="508933" name="Rectangle 5"/>
          <p:cNvSpPr>
            <a:spLocks noGrp="1" noChangeArrowheads="1"/>
          </p:cNvSpPr>
          <p:nvPr>
            <p:ph type="body" idx="1"/>
          </p:nvPr>
        </p:nvSpPr>
        <p:spPr/>
        <p:txBody>
          <a:bodyPr/>
          <a:lstStyle/>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80" name="Rectangle 4"/>
          <p:cNvSpPr>
            <a:spLocks noGrp="1" noRot="1" noChangeAspect="1" noChangeArrowheads="1" noTextEdit="1"/>
          </p:cNvSpPr>
          <p:nvPr>
            <p:ph type="sldImg"/>
          </p:nvPr>
        </p:nvSpPr>
        <p:spPr>
          <a:ln/>
        </p:spPr>
      </p:sp>
      <p:sp>
        <p:nvSpPr>
          <p:cNvPr id="510981" name="Rectangle 5"/>
          <p:cNvSpPr>
            <a:spLocks noGrp="1" noChangeArrowheads="1"/>
          </p:cNvSpPr>
          <p:nvPr>
            <p:ph type="body" idx="1"/>
          </p:nvPr>
        </p:nvSpPr>
        <p:spPr/>
        <p:txBody>
          <a:bodyPr/>
          <a:lstStyle/>
          <a:p>
            <a:r>
              <a:rPr lang="en-US" dirty="0"/>
              <a:t>More Is Not Always Better</a:t>
            </a:r>
          </a:p>
          <a:p>
            <a:pPr lvl="1"/>
            <a:r>
              <a:rPr lang="en-US" dirty="0"/>
              <a:t>Having more indexes on a table does not produce faster queries. Each DML operation that is committed on a table with indexes means that the indexes must be updated. The more indexes that you have associated with a table, the more effort the   server must make to update all the indexes after a DML operation.</a:t>
            </a:r>
          </a:p>
          <a:p>
            <a:pPr lvl="1"/>
            <a:r>
              <a:rPr lang="en-US" b="1" dirty="0">
                <a:solidFill>
                  <a:schemeClr val="tx1"/>
                </a:solidFill>
              </a:rPr>
              <a:t>When to Create an Index</a:t>
            </a:r>
            <a:endParaRPr lang="en-US" dirty="0">
              <a:solidFill>
                <a:schemeClr val="tx1"/>
              </a:solidFill>
            </a:endParaRPr>
          </a:p>
          <a:p>
            <a:pPr lvl="1"/>
            <a:r>
              <a:rPr lang="en-US" dirty="0"/>
              <a:t>Therefore, you should create indexes only if:</a:t>
            </a:r>
          </a:p>
          <a:p>
            <a:pPr lvl="2"/>
            <a:r>
              <a:rPr lang="en-US" dirty="0"/>
              <a:t>The column contains a wide range of values</a:t>
            </a:r>
          </a:p>
          <a:p>
            <a:pPr lvl="2"/>
            <a:r>
              <a:rPr lang="en-US" dirty="0"/>
              <a:t>The column contains a large number of null values</a:t>
            </a:r>
          </a:p>
          <a:p>
            <a:pPr lvl="2"/>
            <a:r>
              <a:rPr lang="en-US" dirty="0"/>
              <a:t>One or more columns are frequently used together in a </a:t>
            </a:r>
            <a:r>
              <a:rPr lang="en-US" dirty="0">
                <a:latin typeface="Courier New" pitchFamily="49" charset="0"/>
              </a:rPr>
              <a:t>WHERE</a:t>
            </a:r>
            <a:r>
              <a:rPr lang="en-US" dirty="0"/>
              <a:t> clause or join condition</a:t>
            </a:r>
          </a:p>
          <a:p>
            <a:pPr lvl="2"/>
            <a:r>
              <a:rPr lang="en-US" dirty="0"/>
              <a:t>The table is large and most queries are expected to retrieve less than 2% to 4% of the rows</a:t>
            </a:r>
          </a:p>
          <a:p>
            <a:pPr lvl="1"/>
            <a:r>
              <a:rPr lang="en-US" dirty="0"/>
              <a:t>Remember that if you want to enforce uniqueness, you should define a unique constraint in the table definition. A unique index is then created automatically.</a:t>
            </a:r>
            <a:endParaRPr lang="en-US" dirty="0">
              <a:solidFill>
                <a:schemeClr val="accent2"/>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20" name="Rectangle 4"/>
          <p:cNvSpPr>
            <a:spLocks noGrp="1" noRot="1" noChangeAspect="1" noChangeArrowheads="1" noTextEdit="1"/>
          </p:cNvSpPr>
          <p:nvPr>
            <p:ph type="sldImg"/>
          </p:nvPr>
        </p:nvSpPr>
        <p:spPr>
          <a:ln/>
        </p:spPr>
      </p:sp>
      <p:sp>
        <p:nvSpPr>
          <p:cNvPr id="521221" name="Rectangle 5"/>
          <p:cNvSpPr>
            <a:spLocks noGrp="1" noChangeArrowheads="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fr-FR"/>
              <a:t>Modifiez le style du titre</a:t>
            </a:r>
            <a:endParaRPr kumimoji="0" lang="en-US"/>
          </a:p>
        </p:txBody>
      </p:sp>
      <p:sp>
        <p:nvSpPr>
          <p:cNvPr id="9" name="Sous-titr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Modifiez le style des sous-titres du masque</a:t>
            </a:r>
            <a:endParaRPr kumimoji="0" lang="en-US"/>
          </a:p>
        </p:txBody>
      </p:sp>
      <p:sp>
        <p:nvSpPr>
          <p:cNvPr id="28" name="Espace réservé de la date 27"/>
          <p:cNvSpPr>
            <a:spLocks noGrp="1"/>
          </p:cNvSpPr>
          <p:nvPr>
            <p:ph type="dt" sz="half" idx="10"/>
          </p:nvPr>
        </p:nvSpPr>
        <p:spPr>
          <a:xfrm>
            <a:off x="6400800" y="6355080"/>
            <a:ext cx="2286000" cy="365760"/>
          </a:xfrm>
        </p:spPr>
        <p:txBody>
          <a:bodyPr/>
          <a:lstStyle>
            <a:lvl1pPr>
              <a:defRPr sz="1400"/>
            </a:lvl1pPr>
          </a:lstStyle>
          <a:p>
            <a:fld id="{AA309A6D-C09C-4548-B29A-6CF363A7E532}" type="datetimeFigureOut">
              <a:rPr lang="fr-FR" smtClean="0"/>
              <a:t>25/01/2026</a:t>
            </a:fld>
            <a:endParaRPr lang="fr-BE"/>
          </a:p>
        </p:txBody>
      </p:sp>
      <p:sp>
        <p:nvSpPr>
          <p:cNvPr id="17" name="Espace réservé du pied de page 16"/>
          <p:cNvSpPr>
            <a:spLocks noGrp="1"/>
          </p:cNvSpPr>
          <p:nvPr>
            <p:ph type="ftr" sz="quarter" idx="11"/>
          </p:nvPr>
        </p:nvSpPr>
        <p:spPr>
          <a:xfrm>
            <a:off x="2898648" y="6355080"/>
            <a:ext cx="3474720" cy="365760"/>
          </a:xfrm>
        </p:spPr>
        <p:txBody>
          <a:bodyPr/>
          <a:lstStyle/>
          <a:p>
            <a:endParaRPr lang="fr-BE"/>
          </a:p>
        </p:txBody>
      </p:sp>
      <p:sp>
        <p:nvSpPr>
          <p:cNvPr id="29" name="Espace réservé du numéro de diapositive 28"/>
          <p:cNvSpPr>
            <a:spLocks noGrp="1"/>
          </p:cNvSpPr>
          <p:nvPr>
            <p:ph type="sldNum" sz="quarter" idx="12"/>
          </p:nvPr>
        </p:nvSpPr>
        <p:spPr>
          <a:xfrm>
            <a:off x="1216152" y="6355080"/>
            <a:ext cx="1219200" cy="365760"/>
          </a:xfrm>
        </p:spPr>
        <p:txBody>
          <a:bodyPr/>
          <a:lstStyle/>
          <a:p>
            <a:fld id="{CF4668DC-857F-487D-BFFA-8C0CA5037977}" type="slidenum">
              <a:rPr lang="fr-BE" smtClean="0"/>
              <a:t>‹n°›</a:t>
            </a:fld>
            <a:endParaRPr lang="fr-BE"/>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Modifiez le style du titre</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t>25/01/2026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
        <p:nvSpPr>
          <p:cNvPr id="8" name="Espace réservé du contenu 7"/>
          <p:cNvSpPr>
            <a:spLocks noGrp="1"/>
          </p:cNvSpPr>
          <p:nvPr>
            <p:ph sz="quarter" idx="1"/>
          </p:nvPr>
        </p:nvSpPr>
        <p:spPr>
          <a:xfrm>
            <a:off x="457200" y="1219200"/>
            <a:ext cx="8229600" cy="493776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fr-FR"/>
              <a:t>Modifiez le style du titre</a:t>
            </a:r>
            <a:endParaRPr kumimoji="0" lang="en-US"/>
          </a:p>
        </p:txBody>
      </p:sp>
      <p:sp>
        <p:nvSpPr>
          <p:cNvPr id="3" name="Espace réservé du texte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Modifiez les styles du texte du masque</a:t>
            </a:r>
          </a:p>
        </p:txBody>
      </p:sp>
      <p:sp>
        <p:nvSpPr>
          <p:cNvPr id="4" name="Espace réservé de la date 3"/>
          <p:cNvSpPr>
            <a:spLocks noGrp="1"/>
          </p:cNvSpPr>
          <p:nvPr>
            <p:ph type="dt" sz="half" idx="10"/>
          </p:nvPr>
        </p:nvSpPr>
        <p:spPr>
          <a:xfrm>
            <a:off x="6400800" y="6355080"/>
            <a:ext cx="2286000" cy="365760"/>
          </a:xfrm>
        </p:spPr>
        <p:txBody>
          <a:bodyPr/>
          <a:lstStyle/>
          <a:p>
            <a:fld id="{AA309A6D-C09C-4548-B29A-6CF363A7E532}" type="datetimeFigureOut">
              <a:rPr lang="fr-FR" smtClean="0"/>
              <a:t>25/01/2026</a:t>
            </a:fld>
            <a:endParaRPr lang="fr-BE"/>
          </a:p>
        </p:txBody>
      </p:sp>
      <p:sp>
        <p:nvSpPr>
          <p:cNvPr id="5" name="Espace réservé du pied de page 4"/>
          <p:cNvSpPr>
            <a:spLocks noGrp="1"/>
          </p:cNvSpPr>
          <p:nvPr>
            <p:ph type="ftr" sz="quarter" idx="11"/>
          </p:nvPr>
        </p:nvSpPr>
        <p:spPr>
          <a:xfrm>
            <a:off x="2898648" y="6355080"/>
            <a:ext cx="3474720" cy="365760"/>
          </a:xfrm>
        </p:spPr>
        <p:txBody>
          <a:bodyPr/>
          <a:lstStyle/>
          <a:p>
            <a:endParaRPr lang="fr-BE"/>
          </a:p>
        </p:txBody>
      </p:sp>
      <p:sp>
        <p:nvSpPr>
          <p:cNvPr id="6" name="Espace réservé du numéro de diapositive 5"/>
          <p:cNvSpPr>
            <a:spLocks noGrp="1"/>
          </p:cNvSpPr>
          <p:nvPr>
            <p:ph type="sldNum" sz="quarter" idx="12"/>
          </p:nvPr>
        </p:nvSpPr>
        <p:spPr>
          <a:xfrm>
            <a:off x="1069848" y="6355080"/>
            <a:ext cx="1520952" cy="365760"/>
          </a:xfrm>
        </p:spPr>
        <p:txBody>
          <a:bodyPr/>
          <a:lstStyle/>
          <a:p>
            <a:fld id="{CF4668DC-857F-487D-BFFA-8C0CA5037977}" type="slidenum">
              <a:rPr lang="fr-BE" smtClean="0"/>
              <a:t>‹n°›</a:t>
            </a:fld>
            <a:endParaRPr lang="fr-BE"/>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a:t>Modifiez le style du titre</a:t>
            </a:r>
            <a:endParaRPr kumimoji="0" lang="en-US"/>
          </a:p>
        </p:txBody>
      </p:sp>
      <p:sp>
        <p:nvSpPr>
          <p:cNvPr id="5" name="Espace réservé de la date 4"/>
          <p:cNvSpPr>
            <a:spLocks noGrp="1"/>
          </p:cNvSpPr>
          <p:nvPr>
            <p:ph type="dt" sz="half" idx="10"/>
          </p:nvPr>
        </p:nvSpPr>
        <p:spPr/>
        <p:txBody>
          <a:bodyPr/>
          <a:lstStyle/>
          <a:p>
            <a:fld id="{AA309A6D-C09C-4548-B29A-6CF363A7E532}" type="datetimeFigureOut">
              <a:rPr lang="fr-FR" smtClean="0"/>
              <a:t>25/01/2026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‹n°›</a:t>
            </a:fld>
            <a:endParaRPr lang="fr-BE"/>
          </a:p>
        </p:txBody>
      </p:sp>
      <p:sp>
        <p:nvSpPr>
          <p:cNvPr id="9" name="Espace réservé du contenu 8"/>
          <p:cNvSpPr>
            <a:spLocks noGrp="1"/>
          </p:cNvSpPr>
          <p:nvPr>
            <p:ph sz="quarter" idx="1"/>
          </p:nvPr>
        </p:nvSpPr>
        <p:spPr>
          <a:xfrm>
            <a:off x="457200" y="1219200"/>
            <a:ext cx="4041648" cy="493776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1" name="Espace réservé du contenu 10"/>
          <p:cNvSpPr>
            <a:spLocks noGrp="1"/>
          </p:cNvSpPr>
          <p:nvPr>
            <p:ph sz="quarter" idx="2"/>
          </p:nvPr>
        </p:nvSpPr>
        <p:spPr>
          <a:xfrm>
            <a:off x="4632198" y="1216152"/>
            <a:ext cx="4041648" cy="493776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nchor="ctr"/>
          <a:lstStyle>
            <a:lvl1pPr>
              <a:defRPr/>
            </a:lvl1pPr>
          </a:lstStyle>
          <a:p>
            <a:r>
              <a:rPr kumimoji="0" lang="fr-FR"/>
              <a:t>Modifiez le style du titre</a:t>
            </a:r>
            <a:endParaRPr kumimoji="0" lang="en-US"/>
          </a:p>
        </p:txBody>
      </p:sp>
      <p:sp>
        <p:nvSpPr>
          <p:cNvPr id="3" name="Espace réservé du texte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Modifiez les styles du texte du masque</a:t>
            </a:r>
          </a:p>
        </p:txBody>
      </p:sp>
      <p:sp>
        <p:nvSpPr>
          <p:cNvPr id="4" name="Espace réservé du texte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Modifiez les styles du texte du masque</a:t>
            </a:r>
          </a:p>
        </p:txBody>
      </p:sp>
      <p:sp>
        <p:nvSpPr>
          <p:cNvPr id="7" name="Espace réservé de la date 6"/>
          <p:cNvSpPr>
            <a:spLocks noGrp="1"/>
          </p:cNvSpPr>
          <p:nvPr>
            <p:ph type="dt" sz="half" idx="10"/>
          </p:nvPr>
        </p:nvSpPr>
        <p:spPr/>
        <p:txBody>
          <a:bodyPr/>
          <a:lstStyle/>
          <a:p>
            <a:fld id="{AA309A6D-C09C-4548-B29A-6CF363A7E532}" type="datetimeFigureOut">
              <a:rPr lang="fr-FR" smtClean="0"/>
              <a:t>25/01/2026</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t>‹n°›</a:t>
            </a:fld>
            <a:endParaRPr lang="fr-BE"/>
          </a:p>
        </p:txBody>
      </p:sp>
      <p:sp>
        <p:nvSpPr>
          <p:cNvPr id="11" name="Espace réservé du contenu 10"/>
          <p:cNvSpPr>
            <a:spLocks noGrp="1"/>
          </p:cNvSpPr>
          <p:nvPr>
            <p:ph sz="quarter" idx="2"/>
          </p:nvPr>
        </p:nvSpPr>
        <p:spPr>
          <a:xfrm>
            <a:off x="457200" y="2133600"/>
            <a:ext cx="4038600" cy="40386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3" name="Espace réservé du contenu 12"/>
          <p:cNvSpPr>
            <a:spLocks noGrp="1"/>
          </p:cNvSpPr>
          <p:nvPr>
            <p:ph sz="quarter" idx="4"/>
          </p:nvPr>
        </p:nvSpPr>
        <p:spPr>
          <a:xfrm>
            <a:off x="4648200" y="2133600"/>
            <a:ext cx="4038600" cy="40386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28600"/>
            <a:ext cx="8229600" cy="914400"/>
          </a:xfrm>
        </p:spPr>
        <p:txBody>
          <a:bodyPr/>
          <a:lstStyle/>
          <a:p>
            <a:r>
              <a:rPr kumimoji="0" lang="fr-FR"/>
              <a:t>Modifiez le style du titre</a:t>
            </a:r>
            <a:endParaRPr kumimoji="0" lang="en-US"/>
          </a:p>
        </p:txBody>
      </p:sp>
      <p:sp>
        <p:nvSpPr>
          <p:cNvPr id="3" name="Espace réservé de la date 2"/>
          <p:cNvSpPr>
            <a:spLocks noGrp="1"/>
          </p:cNvSpPr>
          <p:nvPr>
            <p:ph type="dt" sz="half" idx="10"/>
          </p:nvPr>
        </p:nvSpPr>
        <p:spPr/>
        <p:txBody>
          <a:bodyPr/>
          <a:lstStyle/>
          <a:p>
            <a:fld id="{AA309A6D-C09C-4548-B29A-6CF363A7E532}" type="datetimeFigureOut">
              <a:rPr lang="fr-FR" smtClean="0"/>
              <a:t>25/01/2026</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t>‹n°›</a:t>
            </a:fld>
            <a:endParaRPr lang="fr-BE"/>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A309A6D-C09C-4548-B29A-6CF363A7E532}" type="datetimeFigureOut">
              <a:rPr lang="fr-FR" smtClean="0"/>
              <a:t>25/01/2026</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t>‹n°›</a:t>
            </a:fld>
            <a:endParaRPr lang="fr-BE"/>
          </a:p>
        </p:txBody>
      </p:sp>
      <p:sp>
        <p:nvSpPr>
          <p:cNvPr id="5" name="Connecteur droit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Triangle isocè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fr-FR"/>
              <a:t>Modifiez le style du titre</a:t>
            </a:r>
            <a:endParaRPr kumimoji="0" lang="en-US"/>
          </a:p>
        </p:txBody>
      </p:sp>
      <p:sp>
        <p:nvSpPr>
          <p:cNvPr id="3" name="Espace réservé du texte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fr-FR"/>
              <a:t>Modifiez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t>25/01/2026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‹n°›</a:t>
            </a:fld>
            <a:endParaRPr lang="fr-BE"/>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Connecteur droit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Espace réservé du contenu 11"/>
          <p:cNvSpPr>
            <a:spLocks noGrp="1"/>
          </p:cNvSpPr>
          <p:nvPr>
            <p:ph sz="quarter" idx="1"/>
          </p:nvPr>
        </p:nvSpPr>
        <p:spPr>
          <a:xfrm>
            <a:off x="304800" y="304800"/>
            <a:ext cx="5715000" cy="5715000"/>
          </a:xfrm>
        </p:spPr>
        <p:txBody>
          <a:bodyPr/>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fr-FR"/>
              <a:t>Modifiez le style du titre</a:t>
            </a:r>
            <a:endParaRPr kumimoji="0" lang="en-US"/>
          </a:p>
        </p:txBody>
      </p:sp>
      <p:sp>
        <p:nvSpPr>
          <p:cNvPr id="3" name="Espace réservé pour une image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fr-FR"/>
              <a:t>Modifiez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t>25/01/2026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t>‹n°›</a:t>
            </a:fld>
            <a:endParaRPr lang="fr-BE"/>
          </a:p>
        </p:txBody>
      </p:sp>
      <p:sp>
        <p:nvSpPr>
          <p:cNvPr id="8" name="Connecteur droit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Triangle isocè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Modifiez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t>25/01/2026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a:t>Modifiez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a:t>Modifiez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t>25/01/2026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t>‹n°›</a:t>
            </a:fld>
            <a:endParaRPr lang="fr-BE"/>
          </a:p>
        </p:txBody>
      </p:sp>
      <p:sp>
        <p:nvSpPr>
          <p:cNvPr id="7" name="Connecteur droit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Triangle isocè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Connecteur droit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152400"/>
            <a:ext cx="8229600" cy="990600"/>
          </a:xfrm>
          <a:prstGeom prst="rect">
            <a:avLst/>
          </a:prstGeom>
        </p:spPr>
        <p:txBody>
          <a:bodyPr vert="horz" anchor="b" anchorCtr="0">
            <a:normAutofit/>
          </a:bodyPr>
          <a:lstStyle/>
          <a:p>
            <a:r>
              <a:rPr kumimoji="0" lang="fr-FR"/>
              <a:t>Modifiez le style du titre</a:t>
            </a:r>
            <a:endParaRPr kumimoji="0" lang="en-US"/>
          </a:p>
        </p:txBody>
      </p:sp>
      <p:sp>
        <p:nvSpPr>
          <p:cNvPr id="13" name="Espace réservé du texte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fr-FR"/>
              <a:t>Modifiez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4" name="Espace réservé de la date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AA309A6D-C09C-4548-B29A-6CF363A7E532}" type="datetimeFigureOut">
              <a:rPr lang="fr-FR" smtClean="0"/>
              <a:t>25/01/2026</a:t>
            </a:fld>
            <a:endParaRPr lang="fr-BE"/>
          </a:p>
        </p:txBody>
      </p:sp>
      <p:sp>
        <p:nvSpPr>
          <p:cNvPr id="3" name="Espace réservé du pied de page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fr-BE"/>
          </a:p>
        </p:txBody>
      </p:sp>
      <p:sp>
        <p:nvSpPr>
          <p:cNvPr id="23" name="Espace réservé du numéro de diapositive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CF4668DC-857F-487D-BFFA-8C0CA5037977}" type="slidenum">
              <a:rPr lang="fr-BE" smtClean="0"/>
              <a:t>‹n°›</a:t>
            </a:fld>
            <a:endParaRPr lang="fr-BE"/>
          </a:p>
        </p:txBody>
      </p:sp>
      <p:sp>
        <p:nvSpPr>
          <p:cNvPr id="28" name="Connecteur droit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Connecteur droit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Triangle isocè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1187624" y="3789040"/>
            <a:ext cx="6984776" cy="1087760"/>
          </a:xfrm>
        </p:spPr>
        <p:txBody>
          <a:bodyPr>
            <a:normAutofit/>
          </a:bodyPr>
          <a:lstStyle/>
          <a:p>
            <a:r>
              <a:rPr lang="fr-CA" b="1" dirty="0"/>
              <a:t>DDL(suite)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1268760"/>
            <a:ext cx="4104456" cy="200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ous-titre 3"/>
          <p:cNvSpPr>
            <a:spLocks noGrp="1"/>
          </p:cNvSpPr>
          <p:nvPr>
            <p:ph type="subTitle" idx="1"/>
          </p:nvPr>
        </p:nvSpPr>
        <p:spPr/>
        <p:txBody>
          <a:bodyPr/>
          <a:lstStyle/>
          <a:p>
            <a:r>
              <a:rPr lang="fr-CA" dirty="0"/>
              <a:t>Langage de définition de données</a:t>
            </a:r>
          </a:p>
          <a:p>
            <a:endParaRPr lang="fr-CA" dirty="0"/>
          </a:p>
        </p:txBody>
      </p:sp>
    </p:spTree>
    <p:extLst>
      <p:ext uri="{BB962C8B-B14F-4D97-AF65-F5344CB8AC3E}">
        <p14:creationId xmlns:p14="http://schemas.microsoft.com/office/powerpoint/2010/main" val="2302120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2" name="Rectangle 8"/>
          <p:cNvSpPr>
            <a:spLocks noGrp="1" noChangeArrowheads="1"/>
          </p:cNvSpPr>
          <p:nvPr>
            <p:ph type="title"/>
          </p:nvPr>
        </p:nvSpPr>
        <p:spPr>
          <a:xfrm>
            <a:off x="1143001" y="384763"/>
            <a:ext cx="7058024" cy="685583"/>
          </a:xfrm>
        </p:spPr>
        <p:txBody>
          <a:bodyPr>
            <a:normAutofit fontScale="90000"/>
          </a:bodyPr>
          <a:lstStyle/>
          <a:p>
            <a:pPr>
              <a:defRPr/>
            </a:pPr>
            <a:r>
              <a:rPr lang="fr-FR" dirty="0"/>
              <a:t>Les catégories d'instructions   SQL</a:t>
            </a:r>
          </a:p>
        </p:txBody>
      </p:sp>
      <p:sp>
        <p:nvSpPr>
          <p:cNvPr id="2" name="Espace réservé du numéro de diapositive 1"/>
          <p:cNvSpPr>
            <a:spLocks noGrp="1"/>
          </p:cNvSpPr>
          <p:nvPr>
            <p:ph type="sldNum" sz="quarter" idx="12"/>
          </p:nvPr>
        </p:nvSpPr>
        <p:spPr/>
        <p:txBody>
          <a:bodyPr/>
          <a:lstStyle/>
          <a:p>
            <a:fld id="{0BB7606F-3185-4DD5-A96D-8A14DE87D6B5}" type="slidenum">
              <a:rPr lang="fr-CA" smtClean="0"/>
              <a:t>2</a:t>
            </a:fld>
            <a:endParaRPr lang="fr-CA"/>
          </a:p>
        </p:txBody>
      </p:sp>
      <p:sp>
        <p:nvSpPr>
          <p:cNvPr id="3" name="Espace réservé du contenu 2"/>
          <p:cNvSpPr>
            <a:spLocks noGrp="1"/>
          </p:cNvSpPr>
          <p:nvPr>
            <p:ph sz="quarter" idx="1"/>
          </p:nvPr>
        </p:nvSpPr>
        <p:spPr>
          <a:xfrm>
            <a:off x="457200" y="1219200"/>
            <a:ext cx="8229600" cy="625624"/>
          </a:xfrm>
        </p:spPr>
        <p:txBody>
          <a:bodyPr/>
          <a:lstStyle/>
          <a:p>
            <a:endParaRPr lang="fr-CA" dirty="0"/>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1912634"/>
            <a:ext cx="4464496" cy="4193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37247925"/>
      </p:ext>
    </p:extLst>
  </p:cSld>
  <p:clrMapOvr>
    <a:masterClrMapping/>
  </p:clrMapOvr>
  <p:transition spd="slow">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5535" y="188640"/>
            <a:ext cx="8172833" cy="862921"/>
          </a:xfrm>
        </p:spPr>
        <p:txBody>
          <a:bodyPr>
            <a:normAutofit fontScale="90000"/>
          </a:bodyPr>
          <a:lstStyle/>
          <a:p>
            <a:r>
              <a:rPr lang="fr-CA" dirty="0"/>
              <a:t>Les objets qui composent d'une base de données relationnelle</a:t>
            </a:r>
          </a:p>
        </p:txBody>
      </p:sp>
      <p:sp>
        <p:nvSpPr>
          <p:cNvPr id="3" name="Espace réservé du contenu 2"/>
          <p:cNvSpPr>
            <a:spLocks noGrp="1"/>
          </p:cNvSpPr>
          <p:nvPr>
            <p:ph idx="1"/>
          </p:nvPr>
        </p:nvSpPr>
        <p:spPr>
          <a:xfrm>
            <a:off x="1835696" y="1556792"/>
            <a:ext cx="5472608" cy="4032448"/>
          </a:xfrm>
        </p:spPr>
        <p:style>
          <a:lnRef idx="1">
            <a:schemeClr val="accent2"/>
          </a:lnRef>
          <a:fillRef idx="2">
            <a:schemeClr val="accent2"/>
          </a:fillRef>
          <a:effectRef idx="1">
            <a:schemeClr val="accent2"/>
          </a:effectRef>
          <a:fontRef idx="minor">
            <a:schemeClr val="dk1"/>
          </a:fontRef>
        </p:style>
        <p:txBody>
          <a:bodyPr>
            <a:noAutofit/>
          </a:bodyPr>
          <a:lstStyle/>
          <a:p>
            <a:r>
              <a:rPr lang="fr-CA" sz="2000" b="1" u="sng" dirty="0">
                <a:solidFill>
                  <a:srgbClr val="FF0000"/>
                </a:solidFill>
              </a:rPr>
              <a:t>Tables:  </a:t>
            </a:r>
            <a:r>
              <a:rPr lang="fr-CA" sz="2000" dirty="0">
                <a:solidFill>
                  <a:srgbClr val="FF0000"/>
                </a:solidFill>
              </a:rPr>
              <a:t>Objet de stockage principal dans une BDD</a:t>
            </a:r>
          </a:p>
          <a:p>
            <a:r>
              <a:rPr lang="fr-CA" sz="2000" b="1" dirty="0"/>
              <a:t>Indexes: </a:t>
            </a:r>
            <a:r>
              <a:rPr lang="fr-CA" sz="2000" dirty="0"/>
              <a:t>Objets permettant d'optimiser les recherches dans la BDD</a:t>
            </a:r>
          </a:p>
          <a:p>
            <a:r>
              <a:rPr lang="fr-CA" sz="2000" b="1" dirty="0"/>
              <a:t>Vues: </a:t>
            </a:r>
            <a:r>
              <a:rPr lang="fr-CA" sz="2000" dirty="0"/>
              <a:t>Objets logiques représentant des données provenant d'une ou de plusieurs tables</a:t>
            </a:r>
          </a:p>
          <a:p>
            <a:r>
              <a:rPr lang="fr-CA" sz="2000" b="1" dirty="0"/>
              <a:t>Séquences</a:t>
            </a:r>
          </a:p>
          <a:p>
            <a:r>
              <a:rPr lang="fr-CA" sz="2000" b="1" dirty="0"/>
              <a:t>indexes</a:t>
            </a:r>
          </a:p>
          <a:p>
            <a:r>
              <a:rPr lang="fr-CA" sz="2000" dirty="0"/>
              <a:t>Etc. </a:t>
            </a:r>
          </a:p>
          <a:p>
            <a:r>
              <a:rPr lang="fr-CA" sz="2000" dirty="0"/>
              <a:t>Tous ces objets peuvent être créés en utilisant les instructions</a:t>
            </a:r>
            <a:r>
              <a:rPr lang="fr-CA" sz="2000" b="1" dirty="0"/>
              <a:t> DDL</a:t>
            </a:r>
          </a:p>
        </p:txBody>
      </p:sp>
      <p:sp>
        <p:nvSpPr>
          <p:cNvPr id="5" name="Espace réservé du numéro de diapositive 4"/>
          <p:cNvSpPr>
            <a:spLocks noGrp="1"/>
          </p:cNvSpPr>
          <p:nvPr>
            <p:ph type="sldNum" sz="quarter" idx="12"/>
          </p:nvPr>
        </p:nvSpPr>
        <p:spPr/>
        <p:txBody>
          <a:bodyPr/>
          <a:lstStyle/>
          <a:p>
            <a:fld id="{0BB7606F-3185-4DD5-A96D-8A14DE87D6B5}" type="slidenum">
              <a:rPr lang="fr-CA" smtClean="0"/>
              <a:t>3</a:t>
            </a:fld>
            <a:endParaRPr lang="fr-CA"/>
          </a:p>
        </p:txBody>
      </p:sp>
    </p:spTree>
    <p:extLst>
      <p:ext uri="{BB962C8B-B14F-4D97-AF65-F5344CB8AC3E}">
        <p14:creationId xmlns:p14="http://schemas.microsoft.com/office/powerpoint/2010/main" val="2199150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EF9246-0EDF-4272-87F0-DE71C4D176D0}"/>
              </a:ext>
            </a:extLst>
          </p:cNvPr>
          <p:cNvSpPr>
            <a:spLocks noGrp="1"/>
          </p:cNvSpPr>
          <p:nvPr>
            <p:ph type="title"/>
          </p:nvPr>
        </p:nvSpPr>
        <p:spPr/>
        <p:txBody>
          <a:bodyPr/>
          <a:lstStyle/>
          <a:p>
            <a:r>
              <a:rPr lang="fr-CA" dirty="0"/>
              <a:t>Valeurs uniques pour colonnes</a:t>
            </a:r>
            <a:endParaRPr lang="en-CA" dirty="0"/>
          </a:p>
        </p:txBody>
      </p:sp>
      <p:sp>
        <p:nvSpPr>
          <p:cNvPr id="3" name="Espace réservé du contenu 2">
            <a:extLst>
              <a:ext uri="{FF2B5EF4-FFF2-40B4-BE49-F238E27FC236}">
                <a16:creationId xmlns:a16="http://schemas.microsoft.com/office/drawing/2014/main" id="{C5F013AB-7CD0-F81E-C494-36CF17AEAB5F}"/>
              </a:ext>
            </a:extLst>
          </p:cNvPr>
          <p:cNvSpPr>
            <a:spLocks noGrp="1"/>
          </p:cNvSpPr>
          <p:nvPr>
            <p:ph sz="quarter" idx="1"/>
          </p:nvPr>
        </p:nvSpPr>
        <p:spPr>
          <a:xfrm>
            <a:off x="473405" y="1549524"/>
            <a:ext cx="8229600" cy="2641848"/>
          </a:xfrm>
        </p:spPr>
        <p:txBody>
          <a:bodyPr/>
          <a:lstStyle/>
          <a:p>
            <a:r>
              <a:rPr lang="fr-CA" dirty="0" err="1"/>
              <a:t>Sql</a:t>
            </a:r>
            <a:r>
              <a:rPr lang="fr-CA" dirty="0"/>
              <a:t> Serveur offre 2 solutions pour générer des valeurs automatiquement (pour des colonnes clé primaire par exemple). On peut utiliser:</a:t>
            </a:r>
          </a:p>
          <a:p>
            <a:pPr lvl="1"/>
            <a:r>
              <a:rPr lang="fr-CA" dirty="0"/>
              <a:t>Les séquences</a:t>
            </a:r>
          </a:p>
          <a:p>
            <a:pPr lvl="1"/>
            <a:r>
              <a:rPr lang="fr-CA" dirty="0"/>
              <a:t>Les colonnes de type « identité »</a:t>
            </a:r>
            <a:endParaRPr lang="en-CA" dirty="0"/>
          </a:p>
        </p:txBody>
      </p:sp>
    </p:spTree>
    <p:extLst>
      <p:ext uri="{BB962C8B-B14F-4D97-AF65-F5344CB8AC3E}">
        <p14:creationId xmlns:p14="http://schemas.microsoft.com/office/powerpoint/2010/main" val="328765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4" name="Rectangle 4"/>
          <p:cNvSpPr>
            <a:spLocks noGrp="1" noChangeArrowheads="1"/>
          </p:cNvSpPr>
          <p:nvPr>
            <p:ph type="title"/>
          </p:nvPr>
        </p:nvSpPr>
        <p:spPr/>
        <p:txBody>
          <a:bodyPr/>
          <a:lstStyle/>
          <a:p>
            <a:r>
              <a:rPr lang="en-US" dirty="0" err="1"/>
              <a:t>Séquences</a:t>
            </a:r>
            <a:endParaRPr lang="en-US" dirty="0"/>
          </a:p>
        </p:txBody>
      </p:sp>
      <p:sp>
        <p:nvSpPr>
          <p:cNvPr id="481285" name="Rectangle 5"/>
          <p:cNvSpPr>
            <a:spLocks noGrp="1" noChangeArrowheads="1"/>
          </p:cNvSpPr>
          <p:nvPr>
            <p:ph idx="1"/>
          </p:nvPr>
        </p:nvSpPr>
        <p:spPr>
          <a:xfrm>
            <a:off x="863600" y="1325562"/>
            <a:ext cx="7366000" cy="3194051"/>
          </a:xfrm>
        </p:spPr>
        <p:txBody>
          <a:bodyPr>
            <a:normAutofit/>
          </a:bodyPr>
          <a:lstStyle/>
          <a:p>
            <a:r>
              <a:rPr lang="fr-CA" dirty="0"/>
              <a:t>Une séquence:</a:t>
            </a:r>
          </a:p>
          <a:p>
            <a:pPr lvl="1"/>
            <a:r>
              <a:rPr lang="fr-CA" dirty="0"/>
              <a:t>Génère automatiquement des nombres uniques</a:t>
            </a:r>
          </a:p>
          <a:p>
            <a:pPr lvl="1"/>
            <a:r>
              <a:rPr lang="fr-CA" dirty="0"/>
              <a:t>Est un objet partagé</a:t>
            </a:r>
          </a:p>
          <a:p>
            <a:pPr lvl="1"/>
            <a:r>
              <a:rPr lang="fr-CA" dirty="0"/>
              <a:t>Peut être utilisé pour  créer des valeurs pour la clé primaire</a:t>
            </a:r>
          </a:p>
          <a:p>
            <a:pPr lvl="1"/>
            <a:r>
              <a:rPr lang="fr-CA" dirty="0"/>
              <a:t>Remplace du code applicatif</a:t>
            </a:r>
          </a:p>
        </p:txBody>
      </p:sp>
      <p:grpSp>
        <p:nvGrpSpPr>
          <p:cNvPr id="2" name="Group 17"/>
          <p:cNvGrpSpPr>
            <a:grpSpLocks/>
          </p:cNvGrpSpPr>
          <p:nvPr/>
        </p:nvGrpSpPr>
        <p:grpSpPr bwMode="auto">
          <a:xfrm>
            <a:off x="2085975" y="4724400"/>
            <a:ext cx="4919663" cy="1468438"/>
            <a:chOff x="912" y="2976"/>
            <a:chExt cx="3099" cy="925"/>
          </a:xfrm>
        </p:grpSpPr>
        <p:pic>
          <p:nvPicPr>
            <p:cNvPr id="481286" name="Picture 6" descr="D:\Temp\manuf006.gif"/>
            <p:cNvPicPr>
              <a:picLocks noChangeAspect="1" noChangeArrowheads="1"/>
            </p:cNvPicPr>
            <p:nvPr/>
          </p:nvPicPr>
          <p:blipFill>
            <a:blip r:embed="rId3" cstate="print"/>
            <a:srcRect/>
            <a:stretch>
              <a:fillRect/>
            </a:stretch>
          </p:blipFill>
          <p:spPr bwMode="auto">
            <a:xfrm>
              <a:off x="912" y="2976"/>
              <a:ext cx="1056" cy="925"/>
            </a:xfrm>
            <a:prstGeom prst="rect">
              <a:avLst/>
            </a:prstGeom>
            <a:noFill/>
          </p:spPr>
        </p:pic>
        <p:sp>
          <p:nvSpPr>
            <p:cNvPr id="481287" name="Oval 7"/>
            <p:cNvSpPr>
              <a:spLocks noChangeArrowheads="1"/>
            </p:cNvSpPr>
            <p:nvPr/>
          </p:nvSpPr>
          <p:spPr bwMode="blackWhite">
            <a:xfrm>
              <a:off x="1872" y="3519"/>
              <a:ext cx="192" cy="144"/>
            </a:xfrm>
            <a:prstGeom prst="ellipse">
              <a:avLst/>
            </a:prstGeom>
            <a:solidFill>
              <a:srgbClr val="CCCCFF"/>
            </a:solidFill>
            <a:ln w="28575">
              <a:solidFill>
                <a:schemeClr val="bg2"/>
              </a:solidFill>
              <a:round/>
              <a:headEnd/>
              <a:tailEnd/>
            </a:ln>
            <a:effectLst/>
          </p:spPr>
          <p:txBody>
            <a:bodyPr wrap="none" lIns="101600" tIns="50800" rIns="101600" bIns="50800" anchor="ctr"/>
            <a:lstStyle/>
            <a:p>
              <a:pPr defTabSz="1111250" eaLnBrk="0" hangingPunct="0">
                <a:spcBef>
                  <a:spcPct val="0"/>
                </a:spcBef>
                <a:buClrTx/>
                <a:buFontTx/>
                <a:buNone/>
              </a:pPr>
              <a:r>
                <a:rPr lang="en-US" sz="1200">
                  <a:solidFill>
                    <a:schemeClr val="bg2"/>
                  </a:solidFill>
                </a:rPr>
                <a:t>1</a:t>
              </a:r>
            </a:p>
          </p:txBody>
        </p:sp>
        <p:sp>
          <p:nvSpPr>
            <p:cNvPr id="481288" name="Oval 8"/>
            <p:cNvSpPr>
              <a:spLocks noChangeArrowheads="1"/>
            </p:cNvSpPr>
            <p:nvPr/>
          </p:nvSpPr>
          <p:spPr bwMode="blackWhite">
            <a:xfrm>
              <a:off x="2088" y="3341"/>
              <a:ext cx="192" cy="144"/>
            </a:xfrm>
            <a:prstGeom prst="ellipse">
              <a:avLst/>
            </a:prstGeom>
            <a:solidFill>
              <a:srgbClr val="CCCCFF"/>
            </a:solidFill>
            <a:ln w="28575">
              <a:solidFill>
                <a:schemeClr val="bg2"/>
              </a:solidFill>
              <a:round/>
              <a:headEnd/>
              <a:tailEnd/>
            </a:ln>
            <a:effectLst/>
          </p:spPr>
          <p:txBody>
            <a:bodyPr wrap="none" lIns="101600" tIns="50800" rIns="101600" bIns="50800" anchor="ctr"/>
            <a:lstStyle/>
            <a:p>
              <a:pPr defTabSz="1111250" eaLnBrk="0" hangingPunct="0">
                <a:spcBef>
                  <a:spcPct val="0"/>
                </a:spcBef>
                <a:buClrTx/>
                <a:buFontTx/>
                <a:buNone/>
              </a:pPr>
              <a:r>
                <a:rPr lang="en-US" sz="1200">
                  <a:solidFill>
                    <a:schemeClr val="bg2"/>
                  </a:solidFill>
                </a:rPr>
                <a:t>2</a:t>
              </a:r>
            </a:p>
          </p:txBody>
        </p:sp>
        <p:sp>
          <p:nvSpPr>
            <p:cNvPr id="481289" name="Oval 9"/>
            <p:cNvSpPr>
              <a:spLocks noChangeArrowheads="1"/>
            </p:cNvSpPr>
            <p:nvPr/>
          </p:nvSpPr>
          <p:spPr bwMode="blackWhite">
            <a:xfrm>
              <a:off x="2521" y="3341"/>
              <a:ext cx="192" cy="144"/>
            </a:xfrm>
            <a:prstGeom prst="ellipse">
              <a:avLst/>
            </a:prstGeom>
            <a:solidFill>
              <a:srgbClr val="CCCCFF"/>
            </a:solidFill>
            <a:ln w="28575">
              <a:solidFill>
                <a:schemeClr val="bg2"/>
              </a:solidFill>
              <a:round/>
              <a:headEnd/>
              <a:tailEnd/>
            </a:ln>
            <a:effectLst/>
          </p:spPr>
          <p:txBody>
            <a:bodyPr wrap="none" lIns="101600" tIns="50800" rIns="101600" bIns="50800" anchor="ctr"/>
            <a:lstStyle/>
            <a:p>
              <a:pPr defTabSz="1111250" eaLnBrk="0" hangingPunct="0">
                <a:spcBef>
                  <a:spcPct val="0"/>
                </a:spcBef>
                <a:buClrTx/>
                <a:buFontTx/>
                <a:buNone/>
              </a:pPr>
              <a:r>
                <a:rPr lang="en-US" sz="1200">
                  <a:solidFill>
                    <a:schemeClr val="bg2"/>
                  </a:solidFill>
                </a:rPr>
                <a:t>4</a:t>
              </a:r>
            </a:p>
          </p:txBody>
        </p:sp>
        <p:sp>
          <p:nvSpPr>
            <p:cNvPr id="481290" name="Oval 10"/>
            <p:cNvSpPr>
              <a:spLocks noChangeArrowheads="1"/>
            </p:cNvSpPr>
            <p:nvPr/>
          </p:nvSpPr>
          <p:spPr bwMode="blackWhite">
            <a:xfrm>
              <a:off x="2304" y="3519"/>
              <a:ext cx="192" cy="144"/>
            </a:xfrm>
            <a:prstGeom prst="ellipse">
              <a:avLst/>
            </a:prstGeom>
            <a:solidFill>
              <a:srgbClr val="CCCCFF"/>
            </a:solidFill>
            <a:ln w="28575">
              <a:solidFill>
                <a:schemeClr val="bg2"/>
              </a:solidFill>
              <a:round/>
              <a:headEnd/>
              <a:tailEnd/>
            </a:ln>
            <a:effectLst/>
          </p:spPr>
          <p:txBody>
            <a:bodyPr wrap="none" lIns="101600" tIns="50800" rIns="101600" bIns="50800" anchor="ctr"/>
            <a:lstStyle/>
            <a:p>
              <a:pPr defTabSz="1111250" eaLnBrk="0" hangingPunct="0">
                <a:spcBef>
                  <a:spcPct val="0"/>
                </a:spcBef>
                <a:buClrTx/>
                <a:buFontTx/>
                <a:buNone/>
              </a:pPr>
              <a:r>
                <a:rPr lang="en-US" sz="1200">
                  <a:solidFill>
                    <a:schemeClr val="bg2"/>
                  </a:solidFill>
                </a:rPr>
                <a:t>3</a:t>
              </a:r>
            </a:p>
          </p:txBody>
        </p:sp>
        <p:sp>
          <p:nvSpPr>
            <p:cNvPr id="481291" name="Oval 11"/>
            <p:cNvSpPr>
              <a:spLocks noChangeArrowheads="1"/>
            </p:cNvSpPr>
            <p:nvPr/>
          </p:nvSpPr>
          <p:spPr bwMode="blackWhite">
            <a:xfrm>
              <a:off x="2737" y="3519"/>
              <a:ext cx="192" cy="144"/>
            </a:xfrm>
            <a:prstGeom prst="ellipse">
              <a:avLst/>
            </a:prstGeom>
            <a:solidFill>
              <a:srgbClr val="CCCCFF"/>
            </a:solidFill>
            <a:ln w="28575">
              <a:solidFill>
                <a:schemeClr val="bg2"/>
              </a:solidFill>
              <a:round/>
              <a:headEnd/>
              <a:tailEnd/>
            </a:ln>
            <a:effectLst/>
          </p:spPr>
          <p:txBody>
            <a:bodyPr wrap="none" lIns="101600" tIns="50800" rIns="101600" bIns="50800" anchor="ctr"/>
            <a:lstStyle/>
            <a:p>
              <a:pPr defTabSz="1111250" eaLnBrk="0" hangingPunct="0">
                <a:spcBef>
                  <a:spcPct val="0"/>
                </a:spcBef>
                <a:buClrTx/>
                <a:buFontTx/>
                <a:buNone/>
              </a:pPr>
              <a:r>
                <a:rPr lang="en-US" sz="1200">
                  <a:solidFill>
                    <a:schemeClr val="bg2"/>
                  </a:solidFill>
                </a:rPr>
                <a:t>5</a:t>
              </a:r>
            </a:p>
          </p:txBody>
        </p:sp>
        <p:sp>
          <p:nvSpPr>
            <p:cNvPr id="481292" name="Oval 12"/>
            <p:cNvSpPr>
              <a:spLocks noChangeArrowheads="1"/>
            </p:cNvSpPr>
            <p:nvPr/>
          </p:nvSpPr>
          <p:spPr bwMode="blackWhite">
            <a:xfrm>
              <a:off x="2953" y="3341"/>
              <a:ext cx="192" cy="144"/>
            </a:xfrm>
            <a:prstGeom prst="ellipse">
              <a:avLst/>
            </a:prstGeom>
            <a:solidFill>
              <a:srgbClr val="CCCCFF"/>
            </a:solidFill>
            <a:ln w="28575">
              <a:solidFill>
                <a:schemeClr val="bg2"/>
              </a:solidFill>
              <a:round/>
              <a:headEnd/>
              <a:tailEnd/>
            </a:ln>
            <a:effectLst/>
          </p:spPr>
          <p:txBody>
            <a:bodyPr wrap="none" lIns="101600" tIns="50800" rIns="101600" bIns="50800" anchor="ctr"/>
            <a:lstStyle/>
            <a:p>
              <a:pPr defTabSz="1111250" eaLnBrk="0" hangingPunct="0">
                <a:spcBef>
                  <a:spcPct val="0"/>
                </a:spcBef>
                <a:buClrTx/>
                <a:buFontTx/>
                <a:buNone/>
              </a:pPr>
              <a:r>
                <a:rPr lang="en-US" sz="1200">
                  <a:solidFill>
                    <a:schemeClr val="bg2"/>
                  </a:solidFill>
                </a:rPr>
                <a:t>6</a:t>
              </a:r>
            </a:p>
          </p:txBody>
        </p:sp>
        <p:sp>
          <p:nvSpPr>
            <p:cNvPr id="481293" name="Oval 13"/>
            <p:cNvSpPr>
              <a:spLocks noChangeArrowheads="1"/>
            </p:cNvSpPr>
            <p:nvPr/>
          </p:nvSpPr>
          <p:spPr bwMode="blackWhite">
            <a:xfrm>
              <a:off x="3386" y="3341"/>
              <a:ext cx="192" cy="144"/>
            </a:xfrm>
            <a:prstGeom prst="ellipse">
              <a:avLst/>
            </a:prstGeom>
            <a:solidFill>
              <a:srgbClr val="CCCCFF"/>
            </a:solidFill>
            <a:ln w="28575">
              <a:solidFill>
                <a:schemeClr val="bg2"/>
              </a:solidFill>
              <a:round/>
              <a:headEnd/>
              <a:tailEnd/>
            </a:ln>
            <a:effectLst/>
          </p:spPr>
          <p:txBody>
            <a:bodyPr wrap="none" lIns="101600" tIns="50800" rIns="101600" bIns="50800" anchor="ctr"/>
            <a:lstStyle/>
            <a:p>
              <a:pPr defTabSz="1111250" eaLnBrk="0" hangingPunct="0">
                <a:spcBef>
                  <a:spcPct val="0"/>
                </a:spcBef>
                <a:buClrTx/>
                <a:buFontTx/>
                <a:buNone/>
              </a:pPr>
              <a:r>
                <a:rPr lang="en-US" sz="1200">
                  <a:solidFill>
                    <a:schemeClr val="bg2"/>
                  </a:solidFill>
                </a:rPr>
                <a:t>8</a:t>
              </a:r>
            </a:p>
          </p:txBody>
        </p:sp>
        <p:sp>
          <p:nvSpPr>
            <p:cNvPr id="481294" name="Oval 14"/>
            <p:cNvSpPr>
              <a:spLocks noChangeArrowheads="1"/>
            </p:cNvSpPr>
            <p:nvPr/>
          </p:nvSpPr>
          <p:spPr bwMode="blackWhite">
            <a:xfrm>
              <a:off x="3170" y="3519"/>
              <a:ext cx="192" cy="144"/>
            </a:xfrm>
            <a:prstGeom prst="ellipse">
              <a:avLst/>
            </a:prstGeom>
            <a:solidFill>
              <a:srgbClr val="CCCCFF"/>
            </a:solidFill>
            <a:ln w="28575">
              <a:solidFill>
                <a:schemeClr val="bg2"/>
              </a:solidFill>
              <a:round/>
              <a:headEnd/>
              <a:tailEnd/>
            </a:ln>
            <a:effectLst/>
          </p:spPr>
          <p:txBody>
            <a:bodyPr wrap="none" lIns="101600" tIns="50800" rIns="101600" bIns="50800" anchor="ctr"/>
            <a:lstStyle/>
            <a:p>
              <a:pPr defTabSz="1111250" eaLnBrk="0" hangingPunct="0">
                <a:spcBef>
                  <a:spcPct val="0"/>
                </a:spcBef>
                <a:buClrTx/>
                <a:buFontTx/>
                <a:buNone/>
              </a:pPr>
              <a:r>
                <a:rPr lang="en-US" sz="1200">
                  <a:solidFill>
                    <a:schemeClr val="bg2"/>
                  </a:solidFill>
                </a:rPr>
                <a:t>7</a:t>
              </a:r>
            </a:p>
          </p:txBody>
        </p:sp>
        <p:sp>
          <p:nvSpPr>
            <p:cNvPr id="481295" name="Oval 15"/>
            <p:cNvSpPr>
              <a:spLocks noChangeArrowheads="1"/>
            </p:cNvSpPr>
            <p:nvPr/>
          </p:nvSpPr>
          <p:spPr bwMode="blackWhite">
            <a:xfrm>
              <a:off x="3819" y="3341"/>
              <a:ext cx="192" cy="144"/>
            </a:xfrm>
            <a:prstGeom prst="ellipse">
              <a:avLst/>
            </a:prstGeom>
            <a:solidFill>
              <a:srgbClr val="CCCCFF"/>
            </a:solidFill>
            <a:ln w="28575">
              <a:solidFill>
                <a:schemeClr val="bg2"/>
              </a:solidFill>
              <a:round/>
              <a:headEnd/>
              <a:tailEnd/>
            </a:ln>
            <a:effectLst/>
          </p:spPr>
          <p:txBody>
            <a:bodyPr wrap="none" lIns="101600" tIns="50800" rIns="101600" bIns="50800" anchor="ctr"/>
            <a:lstStyle/>
            <a:p>
              <a:pPr defTabSz="1111250" eaLnBrk="0" hangingPunct="0">
                <a:spcBef>
                  <a:spcPct val="0"/>
                </a:spcBef>
                <a:buClrTx/>
                <a:buFontTx/>
                <a:buNone/>
              </a:pPr>
              <a:r>
                <a:rPr lang="en-US" sz="1200">
                  <a:solidFill>
                    <a:schemeClr val="bg2"/>
                  </a:solidFill>
                </a:rPr>
                <a:t>10</a:t>
              </a:r>
            </a:p>
          </p:txBody>
        </p:sp>
        <p:sp>
          <p:nvSpPr>
            <p:cNvPr id="481296" name="Oval 16"/>
            <p:cNvSpPr>
              <a:spLocks noChangeArrowheads="1"/>
            </p:cNvSpPr>
            <p:nvPr/>
          </p:nvSpPr>
          <p:spPr bwMode="blackWhite">
            <a:xfrm>
              <a:off x="3602" y="3519"/>
              <a:ext cx="192" cy="144"/>
            </a:xfrm>
            <a:prstGeom prst="ellipse">
              <a:avLst/>
            </a:prstGeom>
            <a:solidFill>
              <a:srgbClr val="CCCCFF"/>
            </a:solidFill>
            <a:ln w="28575">
              <a:solidFill>
                <a:schemeClr val="bg2"/>
              </a:solidFill>
              <a:round/>
              <a:headEnd/>
              <a:tailEnd/>
            </a:ln>
            <a:effectLst/>
          </p:spPr>
          <p:txBody>
            <a:bodyPr wrap="none" lIns="101600" tIns="50800" rIns="101600" bIns="50800" anchor="ctr"/>
            <a:lstStyle/>
            <a:p>
              <a:pPr defTabSz="1111250" eaLnBrk="0" hangingPunct="0">
                <a:spcBef>
                  <a:spcPct val="0"/>
                </a:spcBef>
                <a:buClrTx/>
                <a:buFontTx/>
                <a:buNone/>
              </a:pPr>
              <a:r>
                <a:rPr lang="en-US" sz="1200">
                  <a:solidFill>
                    <a:schemeClr val="bg2"/>
                  </a:solidFill>
                </a:rPr>
                <a:t>9</a:t>
              </a:r>
            </a:p>
          </p:txBody>
        </p:sp>
      </p:grpSp>
      <p:sp>
        <p:nvSpPr>
          <p:cNvPr id="16" name="Espace réservé du numéro de diapositive 15"/>
          <p:cNvSpPr>
            <a:spLocks noGrp="1"/>
          </p:cNvSpPr>
          <p:nvPr>
            <p:ph type="sldNum" sz="quarter" idx="12"/>
          </p:nvPr>
        </p:nvSpPr>
        <p:spPr/>
        <p:txBody>
          <a:bodyPr/>
          <a:lstStyle/>
          <a:p>
            <a:fld id="{0EFBD9D0-2AD4-4886-94E0-5599DED6C683}" type="slidenum">
              <a:rPr lang="fr-CA" smtClean="0"/>
              <a:pPr/>
              <a:t>5</a:t>
            </a:fld>
            <a:endParaRPr lang="fr-CA"/>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3" name="Rectangle 5"/>
          <p:cNvSpPr>
            <a:spLocks noGrp="1" noChangeArrowheads="1"/>
          </p:cNvSpPr>
          <p:nvPr>
            <p:ph type="title"/>
          </p:nvPr>
        </p:nvSpPr>
        <p:spPr>
          <a:xfrm>
            <a:off x="457200" y="155448"/>
            <a:ext cx="8229600" cy="773222"/>
          </a:xfrm>
        </p:spPr>
        <p:txBody>
          <a:bodyPr>
            <a:normAutofit fontScale="90000"/>
          </a:bodyPr>
          <a:lstStyle/>
          <a:p>
            <a:r>
              <a:rPr lang="fr-CA" dirty="0">
                <a:latin typeface="Courier New" pitchFamily="49" charset="0"/>
              </a:rPr>
              <a:t>Instruction CREATE</a:t>
            </a:r>
            <a:r>
              <a:rPr lang="fr-CA" dirty="0"/>
              <a:t> </a:t>
            </a:r>
            <a:r>
              <a:rPr lang="fr-CA" dirty="0">
                <a:latin typeface="Courier New" pitchFamily="49" charset="0"/>
              </a:rPr>
              <a:t>SEQUENCE</a:t>
            </a:r>
            <a:br>
              <a:rPr lang="fr-CA" dirty="0"/>
            </a:br>
            <a:r>
              <a:rPr lang="fr-CA" dirty="0"/>
              <a:t>Syntaxe</a:t>
            </a:r>
          </a:p>
        </p:txBody>
      </p:sp>
      <p:sp>
        <p:nvSpPr>
          <p:cNvPr id="483332" name="Rectangle 4"/>
          <p:cNvSpPr>
            <a:spLocks noChangeArrowheads="1"/>
          </p:cNvSpPr>
          <p:nvPr/>
        </p:nvSpPr>
        <p:spPr bwMode="blackGray">
          <a:xfrm>
            <a:off x="1331640" y="1107265"/>
            <a:ext cx="6896592" cy="2928958"/>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lIns="92075" tIns="46038" rIns="92075" bIns="46038" anchor="ctr"/>
          <a:lstStyle/>
          <a:p>
            <a:pPr algn="l" eaLnBrk="0" hangingPunct="0">
              <a:spcBef>
                <a:spcPct val="0"/>
              </a:spcBef>
              <a:buClrTx/>
              <a:buFontTx/>
              <a:buNone/>
              <a:tabLst>
                <a:tab pos="1200150" algn="l"/>
              </a:tabLst>
            </a:pPr>
            <a:r>
              <a:rPr lang="en-US" sz="2200" b="1" dirty="0">
                <a:solidFill>
                  <a:srgbClr val="000000"/>
                </a:solidFill>
                <a:latin typeface="Courier New" pitchFamily="49" charset="0"/>
              </a:rPr>
              <a:t>CREATE SEQUENCE </a:t>
            </a:r>
            <a:r>
              <a:rPr lang="en-US" sz="2200" b="1" dirty="0" err="1">
                <a:solidFill>
                  <a:srgbClr val="000000"/>
                </a:solidFill>
                <a:latin typeface="Courier New" pitchFamily="49" charset="0"/>
              </a:rPr>
              <a:t>nomSchema.nomS</a:t>
            </a:r>
            <a:r>
              <a:rPr lang="en-US" sz="2200" b="1" i="1" dirty="0" err="1">
                <a:solidFill>
                  <a:srgbClr val="000000"/>
                </a:solidFill>
                <a:latin typeface="Courier New" pitchFamily="49" charset="0"/>
              </a:rPr>
              <a:t>equence</a:t>
            </a:r>
            <a:endParaRPr lang="en-US" sz="2200" b="1" dirty="0">
              <a:solidFill>
                <a:srgbClr val="000000"/>
              </a:solidFill>
              <a:latin typeface="Courier New" pitchFamily="49" charset="0"/>
            </a:endParaRPr>
          </a:p>
          <a:p>
            <a:pPr algn="l" eaLnBrk="0" hangingPunct="0">
              <a:spcBef>
                <a:spcPct val="0"/>
              </a:spcBef>
              <a:buClrTx/>
              <a:buFontTx/>
              <a:buNone/>
              <a:tabLst>
                <a:tab pos="1200150" algn="l"/>
              </a:tabLst>
            </a:pPr>
            <a:r>
              <a:rPr lang="en-US" sz="2200" b="1" dirty="0">
                <a:solidFill>
                  <a:srgbClr val="000000"/>
                </a:solidFill>
                <a:latin typeface="Courier New" pitchFamily="49" charset="0"/>
              </a:rPr>
              <a:t>  [INCREMENT BY </a:t>
            </a:r>
            <a:r>
              <a:rPr lang="en-US" sz="2200" b="1" i="1" dirty="0">
                <a:solidFill>
                  <a:srgbClr val="000000"/>
                </a:solidFill>
                <a:latin typeface="Courier New" pitchFamily="49" charset="0"/>
              </a:rPr>
              <a:t>n</a:t>
            </a:r>
            <a:r>
              <a:rPr lang="en-US" sz="2200" b="1" dirty="0">
                <a:solidFill>
                  <a:srgbClr val="000000"/>
                </a:solidFill>
                <a:latin typeface="Courier New" pitchFamily="49" charset="0"/>
              </a:rPr>
              <a:t>]</a:t>
            </a:r>
          </a:p>
          <a:p>
            <a:pPr algn="l" eaLnBrk="0" hangingPunct="0">
              <a:spcBef>
                <a:spcPct val="0"/>
              </a:spcBef>
              <a:buClrTx/>
              <a:buFontTx/>
              <a:buNone/>
              <a:tabLst>
                <a:tab pos="1200150" algn="l"/>
              </a:tabLst>
            </a:pPr>
            <a:r>
              <a:rPr lang="en-US" sz="2200" b="1" dirty="0">
                <a:solidFill>
                  <a:srgbClr val="000000"/>
                </a:solidFill>
                <a:latin typeface="Courier New" pitchFamily="49" charset="0"/>
              </a:rPr>
              <a:t>  [START WITH </a:t>
            </a:r>
            <a:r>
              <a:rPr lang="en-US" sz="2200" b="1" i="1" dirty="0">
                <a:solidFill>
                  <a:srgbClr val="000000"/>
                </a:solidFill>
                <a:latin typeface="Courier New" pitchFamily="49" charset="0"/>
              </a:rPr>
              <a:t>n</a:t>
            </a:r>
            <a:r>
              <a:rPr lang="en-US" sz="2200" b="1" dirty="0">
                <a:solidFill>
                  <a:srgbClr val="000000"/>
                </a:solidFill>
                <a:latin typeface="Courier New" pitchFamily="49" charset="0"/>
              </a:rPr>
              <a:t>]</a:t>
            </a:r>
          </a:p>
          <a:p>
            <a:r>
              <a:rPr lang="en-CA" b="1" dirty="0"/>
              <a:t>      [ { MINVALUE n} | { NO MINVALUE } ]</a:t>
            </a:r>
          </a:p>
          <a:p>
            <a:r>
              <a:rPr lang="en-CA" b="1" dirty="0"/>
              <a:t>      [ { MAXVALUE n } | { NO MAXVALUE } ]</a:t>
            </a:r>
            <a:r>
              <a:rPr lang="en-US" sz="2200" b="1" dirty="0">
                <a:solidFill>
                  <a:srgbClr val="000000"/>
                </a:solidFill>
                <a:latin typeface="Courier New" pitchFamily="49" charset="0"/>
              </a:rPr>
              <a:t>       </a:t>
            </a:r>
          </a:p>
          <a:p>
            <a:r>
              <a:rPr lang="en-US" sz="2200" b="1" dirty="0">
                <a:solidFill>
                  <a:srgbClr val="000000"/>
                </a:solidFill>
                <a:latin typeface="Courier New" pitchFamily="49" charset="0"/>
              </a:rPr>
              <a:t>  [{CYCLE | NO CYCLE}]</a:t>
            </a:r>
          </a:p>
          <a:p>
            <a:pPr algn="l" eaLnBrk="0" hangingPunct="0">
              <a:spcBef>
                <a:spcPct val="0"/>
              </a:spcBef>
              <a:buClrTx/>
              <a:buFontTx/>
              <a:buNone/>
              <a:tabLst>
                <a:tab pos="1200150" algn="l"/>
              </a:tabLst>
            </a:pPr>
            <a:r>
              <a:rPr lang="en-US" sz="2200" b="1" dirty="0">
                <a:solidFill>
                  <a:srgbClr val="000000"/>
                </a:solidFill>
                <a:latin typeface="Courier New" pitchFamily="49" charset="0"/>
              </a:rPr>
              <a:t>  [{CACHE </a:t>
            </a:r>
            <a:r>
              <a:rPr lang="en-US" sz="2200" b="1" i="1" dirty="0">
                <a:solidFill>
                  <a:srgbClr val="000000"/>
                </a:solidFill>
                <a:latin typeface="Courier New" pitchFamily="49" charset="0"/>
              </a:rPr>
              <a:t>n</a:t>
            </a:r>
            <a:r>
              <a:rPr lang="en-US" sz="2200" b="1" dirty="0">
                <a:solidFill>
                  <a:srgbClr val="000000"/>
                </a:solidFill>
                <a:latin typeface="Courier New" pitchFamily="49" charset="0"/>
              </a:rPr>
              <a:t> | NO CACHE}];</a:t>
            </a:r>
          </a:p>
        </p:txBody>
      </p:sp>
      <p:sp>
        <p:nvSpPr>
          <p:cNvPr id="5" name="Espace réservé du numéro de diapositive 4"/>
          <p:cNvSpPr>
            <a:spLocks noGrp="1"/>
          </p:cNvSpPr>
          <p:nvPr>
            <p:ph type="sldNum" sz="quarter" idx="12"/>
          </p:nvPr>
        </p:nvSpPr>
        <p:spPr/>
        <p:txBody>
          <a:bodyPr/>
          <a:lstStyle/>
          <a:p>
            <a:fld id="{0EFBD9D0-2AD4-4886-94E0-5599DED6C683}" type="slidenum">
              <a:rPr lang="fr-CA" smtClean="0"/>
              <a:pPr/>
              <a:t>6</a:t>
            </a:fld>
            <a:endParaRPr lang="fr-CA"/>
          </a:p>
        </p:txBody>
      </p:sp>
      <p:sp>
        <p:nvSpPr>
          <p:cNvPr id="7" name="Rectangle 6"/>
          <p:cNvSpPr>
            <a:spLocks noGrp="1" noChangeArrowheads="1"/>
          </p:cNvSpPr>
          <p:nvPr>
            <p:ph idx="1"/>
          </p:nvPr>
        </p:nvSpPr>
        <p:spPr>
          <a:xfrm>
            <a:off x="139148" y="4110338"/>
            <a:ext cx="8865704" cy="2428892"/>
          </a:xfrm>
          <a:ln>
            <a:solidFill>
              <a:schemeClr val="accent1"/>
            </a:solidFill>
          </a:ln>
        </p:spPr>
        <p:txBody>
          <a:bodyPr>
            <a:noAutofit/>
          </a:bodyPr>
          <a:lstStyle/>
          <a:p>
            <a:r>
              <a:rPr lang="fr-CA" sz="1900" b="1" dirty="0" err="1"/>
              <a:t>Increment</a:t>
            </a:r>
            <a:r>
              <a:rPr lang="fr-CA" sz="1900" b="1" dirty="0"/>
              <a:t> by n</a:t>
            </a:r>
            <a:r>
              <a:rPr lang="fr-CA" sz="1900" dirty="0"/>
              <a:t>: intervalle entre les valeurs, si cette clause est omise, n est égal à 1</a:t>
            </a:r>
          </a:p>
          <a:p>
            <a:r>
              <a:rPr lang="fr-CA" sz="1900" b="1" dirty="0"/>
              <a:t>Start </a:t>
            </a:r>
            <a:r>
              <a:rPr lang="fr-CA" sz="1900" b="1" dirty="0" err="1"/>
              <a:t>with</a:t>
            </a:r>
            <a:r>
              <a:rPr lang="fr-CA" sz="1900" b="1" dirty="0"/>
              <a:t> n</a:t>
            </a:r>
            <a:r>
              <a:rPr lang="fr-CA" sz="1900" dirty="0"/>
              <a:t>: premier nombre de la séquence, si omise, commence à 1</a:t>
            </a:r>
          </a:p>
          <a:p>
            <a:r>
              <a:rPr lang="fr-CA" sz="1900" b="1" dirty="0" err="1"/>
              <a:t>Maxvalue</a:t>
            </a:r>
            <a:r>
              <a:rPr lang="fr-CA" sz="1900" b="1" dirty="0"/>
              <a:t> n </a:t>
            </a:r>
            <a:r>
              <a:rPr lang="fr-CA" sz="1900" dirty="0"/>
              <a:t>(</a:t>
            </a:r>
            <a:r>
              <a:rPr lang="fr-CA" sz="1900" b="1" dirty="0" err="1"/>
              <a:t>Minvalue</a:t>
            </a:r>
            <a:r>
              <a:rPr lang="fr-CA" sz="1900" b="1" dirty="0"/>
              <a:t> n</a:t>
            </a:r>
            <a:r>
              <a:rPr lang="fr-CA" sz="1900" dirty="0"/>
              <a:t>): la valeur maximale (minimale) autorisée, si omise alors pas de limite maximale (minimale)</a:t>
            </a:r>
          </a:p>
          <a:p>
            <a:r>
              <a:rPr lang="fr-CA" sz="1900" b="1" dirty="0"/>
              <a:t>Cycle</a:t>
            </a:r>
            <a:r>
              <a:rPr lang="fr-CA" sz="1900" dirty="0"/>
              <a:t>: si spécifiée permet de recommencer à partir de la valeur initiale, si la valeur maximale est atteinte.</a:t>
            </a:r>
          </a:p>
          <a:p>
            <a:r>
              <a:rPr lang="fr-CA" sz="1900" b="1" dirty="0"/>
              <a:t>Cache</a:t>
            </a:r>
            <a:r>
              <a:rPr lang="fr-CA" sz="1900" dirty="0"/>
              <a:t>: permet de spécifier le nombre de valeurs que le serveur doit charger automatiquement en mémoire. Si cette clause est omise,   charge 15 valeurs</a:t>
            </a:r>
          </a:p>
          <a:p>
            <a:endParaRPr lang="fr-CA" sz="1900" dirty="0"/>
          </a:p>
          <a:p>
            <a:endParaRPr lang="fr-CA" sz="1900" dirty="0"/>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81" name="Rectangle 5"/>
          <p:cNvSpPr>
            <a:spLocks noGrp="1" noChangeArrowheads="1"/>
          </p:cNvSpPr>
          <p:nvPr>
            <p:ph type="title"/>
          </p:nvPr>
        </p:nvSpPr>
        <p:spPr>
          <a:xfrm>
            <a:off x="457200" y="155448"/>
            <a:ext cx="8229600" cy="844660"/>
          </a:xfrm>
        </p:spPr>
        <p:txBody>
          <a:bodyPr/>
          <a:lstStyle/>
          <a:p>
            <a:r>
              <a:rPr lang="en-US" dirty="0" err="1"/>
              <a:t>Exemple</a:t>
            </a:r>
            <a:r>
              <a:rPr lang="en-US" dirty="0"/>
              <a:t> de </a:t>
            </a:r>
            <a:r>
              <a:rPr lang="en-US" dirty="0" err="1"/>
              <a:t>création</a:t>
            </a:r>
            <a:r>
              <a:rPr lang="en-US" dirty="0"/>
              <a:t> de </a:t>
            </a:r>
            <a:r>
              <a:rPr lang="en-US" dirty="0" err="1"/>
              <a:t>séquence</a:t>
            </a:r>
            <a:endParaRPr lang="en-US" dirty="0"/>
          </a:p>
        </p:txBody>
      </p:sp>
      <p:sp>
        <p:nvSpPr>
          <p:cNvPr id="485382" name="Rectangle 6"/>
          <p:cNvSpPr>
            <a:spLocks noGrp="1" noChangeArrowheads="1"/>
          </p:cNvSpPr>
          <p:nvPr>
            <p:ph idx="1"/>
          </p:nvPr>
        </p:nvSpPr>
        <p:spPr>
          <a:xfrm>
            <a:off x="214282" y="4293096"/>
            <a:ext cx="5509846" cy="1710837"/>
          </a:xfrm>
          <a:ln>
            <a:solidFill>
              <a:schemeClr val="accent1"/>
            </a:solidFill>
          </a:ln>
        </p:spPr>
        <p:txBody>
          <a:bodyPr>
            <a:normAutofit lnSpcReduction="10000"/>
          </a:bodyPr>
          <a:lstStyle/>
          <a:p>
            <a:pPr lvl="1"/>
            <a:r>
              <a:rPr lang="fr-CA" sz="1800" dirty="0"/>
              <a:t>Cette séquence bien que nommée dept_deptid, rien ne la lie à la table departments. Elle peut être utilisée pour d'autres tables.</a:t>
            </a:r>
          </a:p>
          <a:p>
            <a:pPr lvl="1"/>
            <a:r>
              <a:rPr lang="fr-CA" sz="1800" dirty="0"/>
              <a:t>C'est au concepteur de s'assurer de créer des séquences différentes pour les différentes tables si besoin.</a:t>
            </a:r>
          </a:p>
        </p:txBody>
      </p:sp>
      <p:sp>
        <p:nvSpPr>
          <p:cNvPr id="485380" name="Rectangle 4"/>
          <p:cNvSpPr>
            <a:spLocks noChangeArrowheads="1"/>
          </p:cNvSpPr>
          <p:nvPr/>
        </p:nvSpPr>
        <p:spPr bwMode="blackGray">
          <a:xfrm>
            <a:off x="476672" y="1412776"/>
            <a:ext cx="4887416" cy="2648336"/>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lIns="92075" tIns="46038" rIns="92075" bIns="46038" anchor="ctr"/>
          <a:lstStyle/>
          <a:p>
            <a:pPr eaLnBrk="0" hangingPunct="0">
              <a:spcBef>
                <a:spcPct val="0"/>
              </a:spcBef>
              <a:tabLst>
                <a:tab pos="1200150" algn="l"/>
              </a:tabLst>
            </a:pPr>
            <a:r>
              <a:rPr lang="en-US" sz="2000" b="1" dirty="0">
                <a:solidFill>
                  <a:srgbClr val="000000"/>
                </a:solidFill>
                <a:latin typeface="Courier New" pitchFamily="49" charset="0"/>
              </a:rPr>
              <a:t>CREATE SEQUENCE dept_deptid_seq</a:t>
            </a:r>
          </a:p>
          <a:p>
            <a:pPr eaLnBrk="0" hangingPunct="0">
              <a:spcBef>
                <a:spcPct val="0"/>
              </a:spcBef>
              <a:tabLst>
                <a:tab pos="1200150" algn="l"/>
              </a:tabLst>
            </a:pPr>
            <a:r>
              <a:rPr lang="en-US" sz="2000" b="1" dirty="0">
                <a:solidFill>
                  <a:srgbClr val="000000"/>
                </a:solidFill>
                <a:latin typeface="Courier New" pitchFamily="49" charset="0"/>
              </a:rPr>
              <a:t>  INCREMENT BY 10</a:t>
            </a:r>
          </a:p>
          <a:p>
            <a:pPr eaLnBrk="0" hangingPunct="0">
              <a:spcBef>
                <a:spcPct val="0"/>
              </a:spcBef>
              <a:tabLst>
                <a:tab pos="1200150" algn="l"/>
              </a:tabLst>
            </a:pPr>
            <a:r>
              <a:rPr lang="en-US" sz="2000" b="1" dirty="0">
                <a:solidFill>
                  <a:srgbClr val="000000"/>
                </a:solidFill>
                <a:latin typeface="Courier New" pitchFamily="49" charset="0"/>
              </a:rPr>
              <a:t>  START WITH 120</a:t>
            </a:r>
          </a:p>
          <a:p>
            <a:pPr eaLnBrk="0" hangingPunct="0">
              <a:spcBef>
                <a:spcPct val="0"/>
              </a:spcBef>
              <a:tabLst>
                <a:tab pos="1200150" algn="l"/>
              </a:tabLst>
            </a:pPr>
            <a:r>
              <a:rPr lang="en-US" sz="2000" b="1" dirty="0">
                <a:solidFill>
                  <a:srgbClr val="000000"/>
                </a:solidFill>
                <a:latin typeface="Courier New" pitchFamily="49" charset="0"/>
              </a:rPr>
              <a:t>  MAXVALUE 9999</a:t>
            </a:r>
          </a:p>
          <a:p>
            <a:pPr eaLnBrk="0" hangingPunct="0">
              <a:spcBef>
                <a:spcPct val="0"/>
              </a:spcBef>
              <a:tabLst>
                <a:tab pos="1200150" algn="l"/>
              </a:tabLst>
            </a:pPr>
            <a:r>
              <a:rPr lang="en-US" sz="2000" b="1" dirty="0">
                <a:solidFill>
                  <a:srgbClr val="000000"/>
                </a:solidFill>
                <a:latin typeface="Courier New" pitchFamily="49" charset="0"/>
              </a:rPr>
              <a:t>  NOCACHE</a:t>
            </a:r>
          </a:p>
          <a:p>
            <a:pPr eaLnBrk="0" hangingPunct="0">
              <a:spcBef>
                <a:spcPct val="0"/>
              </a:spcBef>
              <a:tabLst>
                <a:tab pos="1200150" algn="l"/>
              </a:tabLst>
            </a:pPr>
            <a:r>
              <a:rPr lang="en-US" sz="2000" b="1" dirty="0">
                <a:solidFill>
                  <a:srgbClr val="000000"/>
                </a:solidFill>
                <a:latin typeface="Courier New" pitchFamily="49" charset="0"/>
              </a:rPr>
              <a:t>;</a:t>
            </a:r>
          </a:p>
        </p:txBody>
      </p:sp>
      <p:sp>
        <p:nvSpPr>
          <p:cNvPr id="5" name="Espace réservé du numéro de diapositive 4"/>
          <p:cNvSpPr>
            <a:spLocks noGrp="1"/>
          </p:cNvSpPr>
          <p:nvPr>
            <p:ph type="sldNum" sz="quarter" idx="12"/>
          </p:nvPr>
        </p:nvSpPr>
        <p:spPr/>
        <p:txBody>
          <a:bodyPr/>
          <a:lstStyle/>
          <a:p>
            <a:fld id="{0EFBD9D0-2AD4-4886-94E0-5599DED6C683}" type="slidenum">
              <a:rPr lang="fr-CA" smtClean="0"/>
              <a:pPr/>
              <a:t>7</a:t>
            </a:fld>
            <a:endParaRPr lang="fr-CA"/>
          </a:p>
        </p:txBody>
      </p:sp>
      <p:pic>
        <p:nvPicPr>
          <p:cNvPr id="3" name="Image 2">
            <a:extLst>
              <a:ext uri="{FF2B5EF4-FFF2-40B4-BE49-F238E27FC236}">
                <a16:creationId xmlns:a16="http://schemas.microsoft.com/office/drawing/2014/main" id="{32B50ACE-2D18-34D2-2C48-2A2AAAB2C53C}"/>
              </a:ext>
            </a:extLst>
          </p:cNvPr>
          <p:cNvPicPr>
            <a:picLocks noChangeAspect="1"/>
          </p:cNvPicPr>
          <p:nvPr/>
        </p:nvPicPr>
        <p:blipFill>
          <a:blip r:embed="rId3"/>
          <a:stretch>
            <a:fillRect/>
          </a:stretch>
        </p:blipFill>
        <p:spPr>
          <a:xfrm>
            <a:off x="5724128" y="1055527"/>
            <a:ext cx="3109515" cy="4948406"/>
          </a:xfrm>
          <a:prstGeom prst="rect">
            <a:avLst/>
          </a:prstGeom>
          <a:ln>
            <a:solidFill>
              <a:schemeClr val="accent1"/>
            </a:solidFill>
          </a:ln>
        </p:spPr>
      </p:pic>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4" name="Rectangle 6"/>
          <p:cNvSpPr>
            <a:spLocks noGrp="1" noChangeArrowheads="1"/>
          </p:cNvSpPr>
          <p:nvPr>
            <p:ph type="title"/>
          </p:nvPr>
        </p:nvSpPr>
        <p:spPr>
          <a:xfrm>
            <a:off x="457200" y="155448"/>
            <a:ext cx="8229600" cy="844660"/>
          </a:xfrm>
        </p:spPr>
        <p:txBody>
          <a:bodyPr/>
          <a:lstStyle/>
          <a:p>
            <a:r>
              <a:rPr lang="en-US" dirty="0" err="1"/>
              <a:t>Exemple</a:t>
            </a:r>
            <a:r>
              <a:rPr lang="en-US" dirty="0"/>
              <a:t> </a:t>
            </a:r>
            <a:r>
              <a:rPr lang="en-US" dirty="0" err="1"/>
              <a:t>d'utilisation</a:t>
            </a:r>
            <a:r>
              <a:rPr lang="en-US" dirty="0"/>
              <a:t> de </a:t>
            </a:r>
            <a:r>
              <a:rPr lang="en-US" dirty="0" err="1"/>
              <a:t>séquence</a:t>
            </a:r>
            <a:endParaRPr lang="en-US" dirty="0"/>
          </a:p>
        </p:txBody>
      </p:sp>
      <p:sp>
        <p:nvSpPr>
          <p:cNvPr id="493573" name="Rectangle 5"/>
          <p:cNvSpPr>
            <a:spLocks noChangeArrowheads="1"/>
          </p:cNvSpPr>
          <p:nvPr/>
        </p:nvSpPr>
        <p:spPr bwMode="blackGray">
          <a:xfrm>
            <a:off x="470173" y="1196752"/>
            <a:ext cx="7296150" cy="9945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lIns="92075" tIns="46038" rIns="92075" bIns="46038" anchor="ctr"/>
          <a:lstStyle/>
          <a:p>
            <a:r>
              <a:rPr lang="fr-FR" sz="2000" dirty="0"/>
              <a:t>-- obtenir une valeur de la séquence</a:t>
            </a:r>
          </a:p>
          <a:p>
            <a:r>
              <a:rPr lang="en-US" sz="2000" dirty="0"/>
              <a:t>   NEXT VALUE FOR </a:t>
            </a:r>
            <a:r>
              <a:rPr lang="en-US" sz="2000" dirty="0" err="1"/>
              <a:t>nomSequence</a:t>
            </a:r>
            <a:r>
              <a:rPr lang="en-US" sz="2000" dirty="0"/>
              <a:t>;</a:t>
            </a:r>
            <a:endParaRPr lang="en-US" sz="2000" b="1" dirty="0">
              <a:solidFill>
                <a:srgbClr val="000000"/>
              </a:solidFill>
              <a:latin typeface="Courier New" pitchFamily="49" charset="0"/>
            </a:endParaRPr>
          </a:p>
        </p:txBody>
      </p:sp>
      <p:sp>
        <p:nvSpPr>
          <p:cNvPr id="6" name="Espace réservé du numéro de diapositive 5"/>
          <p:cNvSpPr>
            <a:spLocks noGrp="1"/>
          </p:cNvSpPr>
          <p:nvPr>
            <p:ph type="sldNum" sz="quarter" idx="12"/>
          </p:nvPr>
        </p:nvSpPr>
        <p:spPr/>
        <p:txBody>
          <a:bodyPr/>
          <a:lstStyle/>
          <a:p>
            <a:fld id="{0EFBD9D0-2AD4-4886-94E0-5599DED6C683}" type="slidenum">
              <a:rPr lang="fr-CA" smtClean="0"/>
              <a:pPr/>
              <a:t>8</a:t>
            </a:fld>
            <a:endParaRPr lang="fr-CA"/>
          </a:p>
        </p:txBody>
      </p:sp>
      <p:pic>
        <p:nvPicPr>
          <p:cNvPr id="5" name="Image 4">
            <a:extLst>
              <a:ext uri="{FF2B5EF4-FFF2-40B4-BE49-F238E27FC236}">
                <a16:creationId xmlns:a16="http://schemas.microsoft.com/office/drawing/2014/main" id="{B8329CB2-A2FD-38F5-8A4C-9FE0AB5BA6D9}"/>
              </a:ext>
            </a:extLst>
          </p:cNvPr>
          <p:cNvPicPr>
            <a:picLocks noChangeAspect="1"/>
          </p:cNvPicPr>
          <p:nvPr/>
        </p:nvPicPr>
        <p:blipFill>
          <a:blip r:embed="rId3"/>
          <a:stretch>
            <a:fillRect/>
          </a:stretch>
        </p:blipFill>
        <p:spPr>
          <a:xfrm>
            <a:off x="251520" y="2564904"/>
            <a:ext cx="7978810" cy="3509763"/>
          </a:xfrm>
          <a:prstGeom prst="rect">
            <a:avLst/>
          </a:prstGeom>
          <a:ln>
            <a:solidFill>
              <a:schemeClr val="tx1"/>
            </a:solidFill>
          </a:ln>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3BE9C8-134A-5518-BFAC-4BE21E2EB9FB}"/>
              </a:ext>
            </a:extLst>
          </p:cNvPr>
          <p:cNvSpPr>
            <a:spLocks noGrp="1"/>
          </p:cNvSpPr>
          <p:nvPr>
            <p:ph type="title"/>
          </p:nvPr>
        </p:nvSpPr>
        <p:spPr/>
        <p:txBody>
          <a:bodyPr/>
          <a:lstStyle/>
          <a:p>
            <a:r>
              <a:rPr lang="fr-CA" dirty="0"/>
              <a:t>Informations sur les séquences</a:t>
            </a:r>
            <a:endParaRPr lang="en-CA" dirty="0"/>
          </a:p>
        </p:txBody>
      </p:sp>
      <p:pic>
        <p:nvPicPr>
          <p:cNvPr id="5" name="Espace réservé du contenu 4">
            <a:extLst>
              <a:ext uri="{FF2B5EF4-FFF2-40B4-BE49-F238E27FC236}">
                <a16:creationId xmlns:a16="http://schemas.microsoft.com/office/drawing/2014/main" id="{AEE4DF07-7CA4-EB5E-29FB-6E46BEABDB81}"/>
              </a:ext>
            </a:extLst>
          </p:cNvPr>
          <p:cNvPicPr>
            <a:picLocks noGrp="1" noChangeAspect="1"/>
          </p:cNvPicPr>
          <p:nvPr>
            <p:ph sz="quarter" idx="1"/>
          </p:nvPr>
        </p:nvPicPr>
        <p:blipFill>
          <a:blip r:embed="rId2"/>
          <a:stretch>
            <a:fillRect/>
          </a:stretch>
        </p:blipFill>
        <p:spPr>
          <a:xfrm>
            <a:off x="457200" y="1844824"/>
            <a:ext cx="8229600" cy="3366059"/>
          </a:xfrm>
          <a:prstGeom prst="rect">
            <a:avLst/>
          </a:prstGeom>
          <a:ln>
            <a:solidFill>
              <a:schemeClr val="tx1"/>
            </a:solidFill>
          </a:ln>
        </p:spPr>
      </p:pic>
    </p:spTree>
    <p:extLst>
      <p:ext uri="{BB962C8B-B14F-4D97-AF65-F5344CB8AC3E}">
        <p14:creationId xmlns:p14="http://schemas.microsoft.com/office/powerpoint/2010/main" val="1860398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70" name="Rectangle 6"/>
          <p:cNvSpPr>
            <a:spLocks noGrp="1" noChangeArrowheads="1"/>
          </p:cNvSpPr>
          <p:nvPr>
            <p:ph type="title"/>
          </p:nvPr>
        </p:nvSpPr>
        <p:spPr>
          <a:xfrm>
            <a:off x="457200" y="155448"/>
            <a:ext cx="8229600" cy="844660"/>
          </a:xfrm>
        </p:spPr>
        <p:txBody>
          <a:bodyPr/>
          <a:lstStyle/>
          <a:p>
            <a:r>
              <a:rPr lang="en-US" dirty="0"/>
              <a:t>Modifier </a:t>
            </a:r>
            <a:r>
              <a:rPr lang="en-US" dirty="0" err="1"/>
              <a:t>une</a:t>
            </a:r>
            <a:r>
              <a:rPr lang="en-US" dirty="0"/>
              <a:t>  </a:t>
            </a:r>
            <a:r>
              <a:rPr lang="en-US" dirty="0" err="1"/>
              <a:t>séquence</a:t>
            </a:r>
            <a:endParaRPr lang="en-US" dirty="0"/>
          </a:p>
        </p:txBody>
      </p:sp>
      <p:sp>
        <p:nvSpPr>
          <p:cNvPr id="497668" name="Arc 4"/>
          <p:cNvSpPr>
            <a:spLocks/>
          </p:cNvSpPr>
          <p:nvPr/>
        </p:nvSpPr>
        <p:spPr bwMode="ltGray">
          <a:xfrm>
            <a:off x="5468938" y="2813050"/>
            <a:ext cx="211137" cy="22542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9525" cap="rnd">
            <a:noFill/>
            <a:round/>
            <a:headEnd type="none" w="sm" len="sm"/>
            <a:tailEnd type="none" w="sm" len="sm"/>
          </a:ln>
          <a:effectLst/>
        </p:spPr>
        <p:txBody>
          <a:bodyPr/>
          <a:lstStyle/>
          <a:p>
            <a:endParaRPr lang="fr-CA"/>
          </a:p>
        </p:txBody>
      </p:sp>
      <p:sp>
        <p:nvSpPr>
          <p:cNvPr id="497669" name="Rectangle 5"/>
          <p:cNvSpPr>
            <a:spLocks noChangeArrowheads="1"/>
          </p:cNvSpPr>
          <p:nvPr/>
        </p:nvSpPr>
        <p:spPr bwMode="blackGray">
          <a:xfrm>
            <a:off x="475481" y="1194976"/>
            <a:ext cx="7696200" cy="3071834"/>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lIns="92075" tIns="46038" rIns="92075" bIns="46038" anchor="ctr"/>
          <a:lstStyle/>
          <a:p>
            <a:pPr eaLnBrk="0" hangingPunct="0">
              <a:spcBef>
                <a:spcPct val="0"/>
              </a:spcBef>
              <a:tabLst>
                <a:tab pos="1200150" algn="l"/>
              </a:tabLst>
            </a:pPr>
            <a:r>
              <a:rPr lang="en-US" sz="2000" b="1" dirty="0">
                <a:solidFill>
                  <a:srgbClr val="000000"/>
                </a:solidFill>
                <a:latin typeface="Courier New" pitchFamily="49" charset="0"/>
              </a:rPr>
              <a:t>ALTER SEQUENCE [ </a:t>
            </a:r>
            <a:r>
              <a:rPr lang="en-US" sz="2000" b="1" dirty="0" err="1">
                <a:solidFill>
                  <a:srgbClr val="000000"/>
                </a:solidFill>
                <a:latin typeface="Courier New" pitchFamily="49" charset="0"/>
              </a:rPr>
              <a:t>schema_name</a:t>
            </a:r>
            <a:r>
              <a:rPr lang="en-US" sz="2000" b="1" dirty="0">
                <a:solidFill>
                  <a:srgbClr val="000000"/>
                </a:solidFill>
                <a:latin typeface="Courier New" pitchFamily="49" charset="0"/>
              </a:rPr>
              <a:t>. ] </a:t>
            </a:r>
            <a:r>
              <a:rPr lang="en-US" sz="2000" b="1" dirty="0" err="1">
                <a:solidFill>
                  <a:srgbClr val="000000"/>
                </a:solidFill>
                <a:latin typeface="Courier New" pitchFamily="49" charset="0"/>
              </a:rPr>
              <a:t>sequence_name</a:t>
            </a:r>
            <a:endParaRPr lang="en-US" sz="2000" b="1" dirty="0">
              <a:solidFill>
                <a:srgbClr val="000000"/>
              </a:solidFill>
              <a:latin typeface="Courier New" pitchFamily="49" charset="0"/>
            </a:endParaRPr>
          </a:p>
          <a:p>
            <a:pPr eaLnBrk="0" hangingPunct="0">
              <a:spcBef>
                <a:spcPct val="0"/>
              </a:spcBef>
              <a:tabLst>
                <a:tab pos="1200150" algn="l"/>
              </a:tabLst>
            </a:pPr>
            <a:r>
              <a:rPr lang="en-US" sz="2000" b="1" dirty="0">
                <a:solidFill>
                  <a:srgbClr val="000000"/>
                </a:solidFill>
                <a:latin typeface="Courier New" pitchFamily="49" charset="0"/>
              </a:rPr>
              <a:t>    [ RESTART [ WITH &lt;constant&gt; ] ]</a:t>
            </a:r>
          </a:p>
          <a:p>
            <a:pPr eaLnBrk="0" hangingPunct="0">
              <a:spcBef>
                <a:spcPct val="0"/>
              </a:spcBef>
              <a:tabLst>
                <a:tab pos="1200150" algn="l"/>
              </a:tabLst>
            </a:pPr>
            <a:r>
              <a:rPr lang="en-US" sz="2000" b="1" dirty="0">
                <a:solidFill>
                  <a:srgbClr val="000000"/>
                </a:solidFill>
                <a:latin typeface="Courier New" pitchFamily="49" charset="0"/>
              </a:rPr>
              <a:t>    [ INCREMENT BY &lt;constant&gt; ]</a:t>
            </a:r>
          </a:p>
          <a:p>
            <a:pPr eaLnBrk="0" hangingPunct="0">
              <a:spcBef>
                <a:spcPct val="0"/>
              </a:spcBef>
              <a:tabLst>
                <a:tab pos="1200150" algn="l"/>
              </a:tabLst>
            </a:pPr>
            <a:r>
              <a:rPr lang="en-US" sz="2000" b="1" dirty="0">
                <a:solidFill>
                  <a:srgbClr val="000000"/>
                </a:solidFill>
                <a:latin typeface="Courier New" pitchFamily="49" charset="0"/>
              </a:rPr>
              <a:t>    [ { MINVALUE &lt;constant&gt; } | { NO MINVALUE } ]</a:t>
            </a:r>
          </a:p>
          <a:p>
            <a:pPr eaLnBrk="0" hangingPunct="0">
              <a:spcBef>
                <a:spcPct val="0"/>
              </a:spcBef>
              <a:tabLst>
                <a:tab pos="1200150" algn="l"/>
              </a:tabLst>
            </a:pPr>
            <a:r>
              <a:rPr lang="en-US" sz="2000" b="1" dirty="0">
                <a:solidFill>
                  <a:srgbClr val="000000"/>
                </a:solidFill>
                <a:latin typeface="Courier New" pitchFamily="49" charset="0"/>
              </a:rPr>
              <a:t>    [ { MAXVALUE &lt;constant&gt; } | { NO MAXVALUE } ]</a:t>
            </a:r>
          </a:p>
          <a:p>
            <a:pPr eaLnBrk="0" hangingPunct="0">
              <a:spcBef>
                <a:spcPct val="0"/>
              </a:spcBef>
              <a:tabLst>
                <a:tab pos="1200150" algn="l"/>
              </a:tabLst>
            </a:pPr>
            <a:r>
              <a:rPr lang="en-US" sz="2000" b="1" dirty="0">
                <a:solidFill>
                  <a:srgbClr val="000000"/>
                </a:solidFill>
                <a:latin typeface="Courier New" pitchFamily="49" charset="0"/>
              </a:rPr>
              <a:t>    [ CYCLE | { NO CYCLE } ]</a:t>
            </a:r>
          </a:p>
          <a:p>
            <a:pPr eaLnBrk="0" hangingPunct="0">
              <a:spcBef>
                <a:spcPct val="0"/>
              </a:spcBef>
              <a:tabLst>
                <a:tab pos="1200150" algn="l"/>
              </a:tabLst>
            </a:pPr>
            <a:r>
              <a:rPr lang="en-US" sz="2000" b="1" dirty="0">
                <a:solidFill>
                  <a:srgbClr val="000000"/>
                </a:solidFill>
                <a:latin typeface="Courier New" pitchFamily="49" charset="0"/>
              </a:rPr>
              <a:t>    [ { CACHE [ &lt;constant&gt; ] } | { NO CACHE } ]</a:t>
            </a:r>
          </a:p>
          <a:p>
            <a:pPr eaLnBrk="0" hangingPunct="0">
              <a:spcBef>
                <a:spcPct val="0"/>
              </a:spcBef>
              <a:tabLst>
                <a:tab pos="1200150" algn="l"/>
              </a:tabLst>
            </a:pPr>
            <a:r>
              <a:rPr lang="en-US" sz="2000" b="1" dirty="0">
                <a:solidFill>
                  <a:srgbClr val="000000"/>
                </a:solidFill>
                <a:latin typeface="Courier New" pitchFamily="49" charset="0"/>
              </a:rPr>
              <a:t>[ ; ]</a:t>
            </a:r>
          </a:p>
        </p:txBody>
      </p:sp>
      <p:sp>
        <p:nvSpPr>
          <p:cNvPr id="6" name="Espace réservé du numéro de diapositive 5"/>
          <p:cNvSpPr>
            <a:spLocks noGrp="1"/>
          </p:cNvSpPr>
          <p:nvPr>
            <p:ph type="sldNum" sz="quarter" idx="12"/>
          </p:nvPr>
        </p:nvSpPr>
        <p:spPr/>
        <p:txBody>
          <a:bodyPr/>
          <a:lstStyle/>
          <a:p>
            <a:fld id="{0EFBD9D0-2AD4-4886-94E0-5599DED6C683}" type="slidenum">
              <a:rPr lang="fr-CA" smtClean="0"/>
              <a:pPr/>
              <a:t>10</a:t>
            </a:fld>
            <a:endParaRPr lang="fr-CA"/>
          </a:p>
        </p:txBody>
      </p:sp>
      <p:pic>
        <p:nvPicPr>
          <p:cNvPr id="5" name="Image 4">
            <a:extLst>
              <a:ext uri="{FF2B5EF4-FFF2-40B4-BE49-F238E27FC236}">
                <a16:creationId xmlns:a16="http://schemas.microsoft.com/office/drawing/2014/main" id="{F1E66BD0-D299-51D7-FB0B-CB3C51CC49CB}"/>
              </a:ext>
            </a:extLst>
          </p:cNvPr>
          <p:cNvPicPr>
            <a:picLocks noChangeAspect="1"/>
          </p:cNvPicPr>
          <p:nvPr/>
        </p:nvPicPr>
        <p:blipFill>
          <a:blip r:embed="rId3"/>
          <a:stretch>
            <a:fillRect/>
          </a:stretch>
        </p:blipFill>
        <p:spPr>
          <a:xfrm>
            <a:off x="856481" y="4425523"/>
            <a:ext cx="7315200" cy="1930802"/>
          </a:xfrm>
          <a:prstGeom prst="rect">
            <a:avLst/>
          </a:prstGeom>
          <a:ln>
            <a:solidFill>
              <a:schemeClr val="tx1"/>
            </a:solidFill>
          </a:ln>
        </p:spPr>
      </p:pic>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6" name="Rectangle 4"/>
          <p:cNvSpPr>
            <a:spLocks noGrp="1" noChangeArrowheads="1"/>
          </p:cNvSpPr>
          <p:nvPr>
            <p:ph type="title"/>
          </p:nvPr>
        </p:nvSpPr>
        <p:spPr>
          <a:xfrm>
            <a:off x="214282" y="155448"/>
            <a:ext cx="8715436" cy="844660"/>
          </a:xfrm>
        </p:spPr>
        <p:txBody>
          <a:bodyPr>
            <a:normAutofit fontScale="90000"/>
          </a:bodyPr>
          <a:lstStyle/>
          <a:p>
            <a:r>
              <a:rPr lang="en-US" dirty="0"/>
              <a:t>Directives pour la modification </a:t>
            </a:r>
            <a:r>
              <a:rPr lang="en-US" dirty="0" err="1"/>
              <a:t>d'une</a:t>
            </a:r>
            <a:r>
              <a:rPr lang="en-US" dirty="0"/>
              <a:t> </a:t>
            </a:r>
            <a:r>
              <a:rPr lang="en-US" dirty="0" err="1"/>
              <a:t>séquence</a:t>
            </a:r>
            <a:endParaRPr lang="en-US" dirty="0"/>
          </a:p>
        </p:txBody>
      </p:sp>
      <p:sp>
        <p:nvSpPr>
          <p:cNvPr id="499717" name="Rectangle 5"/>
          <p:cNvSpPr>
            <a:spLocks noGrp="1" noChangeArrowheads="1"/>
          </p:cNvSpPr>
          <p:nvPr>
            <p:ph idx="1"/>
          </p:nvPr>
        </p:nvSpPr>
        <p:spPr>
          <a:xfrm>
            <a:off x="857224" y="1428736"/>
            <a:ext cx="7643866" cy="2504320"/>
          </a:xfrm>
        </p:spPr>
        <p:txBody>
          <a:bodyPr>
            <a:normAutofit/>
          </a:bodyPr>
          <a:lstStyle/>
          <a:p>
            <a:pPr lvl="1"/>
            <a:r>
              <a:rPr lang="fr-CA" dirty="0"/>
              <a:t>Vous devez être le propriétaire ou avoir  le privilège ALTER pour la séquence. </a:t>
            </a:r>
          </a:p>
          <a:p>
            <a:pPr lvl="1"/>
            <a:r>
              <a:rPr lang="fr-CA" dirty="0"/>
              <a:t>Seulement les valeurs futures sont  touchées par les changements.</a:t>
            </a:r>
          </a:p>
          <a:p>
            <a:pPr lvl="1"/>
            <a:r>
              <a:rPr lang="fr-CA" dirty="0"/>
              <a:t>Pour supprimer une séquence, utilisez l'instruction DROP:</a:t>
            </a:r>
            <a:endParaRPr lang="en-US" dirty="0"/>
          </a:p>
        </p:txBody>
      </p:sp>
      <p:sp>
        <p:nvSpPr>
          <p:cNvPr id="499718" name="Rectangle 6"/>
          <p:cNvSpPr>
            <a:spLocks noChangeArrowheads="1"/>
          </p:cNvSpPr>
          <p:nvPr/>
        </p:nvSpPr>
        <p:spPr bwMode="blackGray">
          <a:xfrm>
            <a:off x="1031082" y="3933056"/>
            <a:ext cx="7296150" cy="6413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lIns="92075" tIns="46038" rIns="92075" bIns="46038" anchor="ctr"/>
          <a:lstStyle/>
          <a:p>
            <a:pPr algn="l" eaLnBrk="0" hangingPunct="0">
              <a:spcBef>
                <a:spcPct val="0"/>
              </a:spcBef>
              <a:buClrTx/>
              <a:buFontTx/>
              <a:buNone/>
              <a:tabLst>
                <a:tab pos="1200150" algn="l"/>
              </a:tabLst>
            </a:pPr>
            <a:r>
              <a:rPr lang="en-US" b="1" dirty="0">
                <a:solidFill>
                  <a:srgbClr val="000000"/>
                </a:solidFill>
                <a:latin typeface="Courier New" pitchFamily="49" charset="0"/>
              </a:rPr>
              <a:t>DROP SEQUENCE </a:t>
            </a:r>
            <a:r>
              <a:rPr lang="en-US" b="1" dirty="0" err="1">
                <a:solidFill>
                  <a:srgbClr val="000000"/>
                </a:solidFill>
                <a:latin typeface="Courier New" pitchFamily="49" charset="0"/>
              </a:rPr>
              <a:t>dept_deptid_seq</a:t>
            </a:r>
            <a:r>
              <a:rPr lang="en-US" b="1" dirty="0">
                <a:solidFill>
                  <a:srgbClr val="000000"/>
                </a:solidFill>
                <a:latin typeface="Courier New" pitchFamily="49" charset="0"/>
              </a:rPr>
              <a:t>;</a:t>
            </a:r>
          </a:p>
        </p:txBody>
      </p:sp>
      <p:sp>
        <p:nvSpPr>
          <p:cNvPr id="5" name="Espace réservé du numéro de diapositive 4"/>
          <p:cNvSpPr>
            <a:spLocks noGrp="1"/>
          </p:cNvSpPr>
          <p:nvPr>
            <p:ph type="sldNum" sz="quarter" idx="12"/>
          </p:nvPr>
        </p:nvSpPr>
        <p:spPr/>
        <p:txBody>
          <a:bodyPr/>
          <a:lstStyle/>
          <a:p>
            <a:fld id="{0EFBD9D0-2AD4-4886-94E0-5599DED6C683}" type="slidenum">
              <a:rPr lang="fr-CA" smtClean="0"/>
              <a:pPr/>
              <a:t>11</a:t>
            </a:fld>
            <a:endParaRPr lang="fr-CA"/>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Utilisation d'une séquence dans deux tables</a:t>
            </a:r>
          </a:p>
        </p:txBody>
      </p:sp>
      <p:sp>
        <p:nvSpPr>
          <p:cNvPr id="4" name="Espace réservé du numéro de diapositive 3"/>
          <p:cNvSpPr>
            <a:spLocks noGrp="1"/>
          </p:cNvSpPr>
          <p:nvPr>
            <p:ph type="sldNum" sz="quarter" idx="12"/>
          </p:nvPr>
        </p:nvSpPr>
        <p:spPr/>
        <p:txBody>
          <a:bodyPr/>
          <a:lstStyle/>
          <a:p>
            <a:fld id="{0EFBD9D0-2AD4-4886-94E0-5599DED6C683}" type="slidenum">
              <a:rPr lang="fr-CA" smtClean="0"/>
              <a:pPr/>
              <a:t>12</a:t>
            </a:fld>
            <a:endParaRPr lang="fr-CA"/>
          </a:p>
        </p:txBody>
      </p:sp>
      <p:sp>
        <p:nvSpPr>
          <p:cNvPr id="3" name="Espace réservé du contenu 2">
            <a:extLst>
              <a:ext uri="{FF2B5EF4-FFF2-40B4-BE49-F238E27FC236}">
                <a16:creationId xmlns:a16="http://schemas.microsoft.com/office/drawing/2014/main" id="{F826DE00-B479-AB69-1AB5-971D71350D50}"/>
              </a:ext>
            </a:extLst>
          </p:cNvPr>
          <p:cNvSpPr>
            <a:spLocks noGrp="1"/>
          </p:cNvSpPr>
          <p:nvPr>
            <p:ph sz="quarter" idx="1"/>
          </p:nvPr>
        </p:nvSpPr>
        <p:spPr>
          <a:xfrm>
            <a:off x="457200" y="1585332"/>
            <a:ext cx="8229600" cy="2857872"/>
          </a:xfrm>
        </p:spPr>
        <p:txBody>
          <a:bodyPr/>
          <a:lstStyle/>
          <a:p>
            <a:r>
              <a:rPr lang="fr-CA" dirty="0"/>
              <a:t>Il est possible d’utiliser une séquence sur plusieurs tables.</a:t>
            </a:r>
          </a:p>
          <a:p>
            <a:r>
              <a:rPr lang="fr-CA" dirty="0"/>
              <a:t>Mais cela créera des « trous » dans les numéros.</a:t>
            </a:r>
          </a:p>
          <a:p>
            <a:r>
              <a:rPr lang="fr-CA" dirty="0"/>
              <a:t>Il est généralement non recommandé de partager l’usage d’une séquence sur plusieurs tables, à moins que cela corresponde à un besoin spécifique (comme une numérotation globale sur plusieurs tables).</a:t>
            </a:r>
            <a:endParaRPr lang="en-CA"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37A392-E54E-49BD-427E-DDF5EA3388B5}"/>
              </a:ext>
            </a:extLst>
          </p:cNvPr>
          <p:cNvSpPr>
            <a:spLocks noGrp="1"/>
          </p:cNvSpPr>
          <p:nvPr>
            <p:ph type="title"/>
          </p:nvPr>
        </p:nvSpPr>
        <p:spPr/>
        <p:txBody>
          <a:bodyPr/>
          <a:lstStyle/>
          <a:p>
            <a:r>
              <a:rPr lang="fr-CA" dirty="0"/>
              <a:t>Colonne de type identité</a:t>
            </a:r>
            <a:endParaRPr lang="en-CA" dirty="0"/>
          </a:p>
        </p:txBody>
      </p:sp>
      <p:sp>
        <p:nvSpPr>
          <p:cNvPr id="3" name="Espace réservé du contenu 2">
            <a:extLst>
              <a:ext uri="{FF2B5EF4-FFF2-40B4-BE49-F238E27FC236}">
                <a16:creationId xmlns:a16="http://schemas.microsoft.com/office/drawing/2014/main" id="{7F82194E-12BD-D2F3-E527-9826E22EFA82}"/>
              </a:ext>
            </a:extLst>
          </p:cNvPr>
          <p:cNvSpPr>
            <a:spLocks noGrp="1"/>
          </p:cNvSpPr>
          <p:nvPr>
            <p:ph sz="quarter" idx="1"/>
          </p:nvPr>
        </p:nvSpPr>
        <p:spPr/>
        <p:txBody>
          <a:bodyPr>
            <a:noAutofit/>
          </a:bodyPr>
          <a:lstStyle/>
          <a:p>
            <a:r>
              <a:rPr lang="fr-FR" sz="1800" b="1" dirty="0" err="1"/>
              <a:t>Auto-incrémentation</a:t>
            </a:r>
            <a:r>
              <a:rPr lang="fr-FR" sz="1800" b="1" dirty="0"/>
              <a:t> :</a:t>
            </a:r>
            <a:r>
              <a:rPr lang="fr-FR" sz="1800" dirty="0"/>
              <a:t> SQL Server génère automatiquement des valeurs numériques uniques lors de l'insertion de nouvelles lignes.</a:t>
            </a:r>
          </a:p>
          <a:p>
            <a:r>
              <a:rPr lang="fr-FR" sz="1800" b="1" dirty="0"/>
              <a:t>Liaison à la table :</a:t>
            </a:r>
            <a:r>
              <a:rPr lang="fr-FR" sz="1800" dirty="0"/>
              <a:t> Contrairement aux séquences, la propriété IDENTITY est indissociable d'une colonne spécifique dans une table donnée.</a:t>
            </a:r>
          </a:p>
          <a:p>
            <a:r>
              <a:rPr lang="fr-FR" sz="1800" b="1" dirty="0"/>
              <a:t>Une seule par table :</a:t>
            </a:r>
            <a:r>
              <a:rPr lang="fr-FR" sz="1800" dirty="0"/>
              <a:t> Une table ne peut comporter qu'une seule colonne définie avec la propriété IDENTITY.</a:t>
            </a:r>
          </a:p>
          <a:p>
            <a:r>
              <a:rPr lang="fr-FR" sz="1800" b="1" dirty="0"/>
              <a:t>Génération au moment de l'INSERT :</a:t>
            </a:r>
            <a:r>
              <a:rPr lang="fr-FR" sz="1800" dirty="0"/>
              <a:t> La valeur est créée uniquement lors d'une insertion physique dans la table ; elle ne peut pas être récupérée à l'avance sans insertion.</a:t>
            </a:r>
          </a:p>
          <a:p>
            <a:r>
              <a:rPr lang="fr-FR" sz="1800" b="1" dirty="0"/>
              <a:t>Types de données :</a:t>
            </a:r>
            <a:r>
              <a:rPr lang="fr-FR" sz="1800" dirty="0"/>
              <a:t> Elle s'applique aux types numériques entiers (INT, BIGINT, SMALLINT, TINYINT) ou aux décimaux avec une échelle de 0.</a:t>
            </a:r>
          </a:p>
          <a:p>
            <a:r>
              <a:rPr lang="fr-FR" sz="1800" b="1" dirty="0"/>
              <a:t>Paramètres de base :</a:t>
            </a:r>
            <a:r>
              <a:rPr lang="fr-FR" sz="1800" dirty="0"/>
              <a:t> On définit généralement une valeur de départ (</a:t>
            </a:r>
            <a:r>
              <a:rPr lang="fr-FR" sz="1800" b="1" dirty="0" err="1"/>
              <a:t>Seed</a:t>
            </a:r>
            <a:r>
              <a:rPr lang="fr-FR" sz="1800" dirty="0"/>
              <a:t>) et un pas d'incrémentation (</a:t>
            </a:r>
            <a:r>
              <a:rPr lang="fr-FR" sz="1800" b="1" dirty="0" err="1"/>
              <a:t>Increment</a:t>
            </a:r>
            <a:r>
              <a:rPr lang="fr-FR" sz="1800" dirty="0"/>
              <a:t>).</a:t>
            </a:r>
          </a:p>
          <a:p>
            <a:r>
              <a:rPr lang="fr-FR" sz="1800" b="1" dirty="0"/>
              <a:t>Pas de cycle :</a:t>
            </a:r>
            <a:r>
              <a:rPr lang="fr-FR" sz="1800" dirty="0"/>
              <a:t> Elle ne redémarre pas automatiquement à zéro une fois la valeur maximale atteinte, contrairement à une séquence avec l'option CYCLE.</a:t>
            </a:r>
          </a:p>
          <a:p>
            <a:endParaRPr lang="fr-FR" sz="1800" dirty="0"/>
          </a:p>
          <a:p>
            <a:endParaRPr lang="en-CA" sz="1800" dirty="0"/>
          </a:p>
        </p:txBody>
      </p:sp>
    </p:spTree>
    <p:extLst>
      <p:ext uri="{BB962C8B-B14F-4D97-AF65-F5344CB8AC3E}">
        <p14:creationId xmlns:p14="http://schemas.microsoft.com/office/powerpoint/2010/main" val="1981060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DF79DE-6570-C4DF-67C4-8F80D6D64713}"/>
              </a:ext>
            </a:extLst>
          </p:cNvPr>
          <p:cNvSpPr>
            <a:spLocks noGrp="1"/>
          </p:cNvSpPr>
          <p:nvPr>
            <p:ph type="title"/>
          </p:nvPr>
        </p:nvSpPr>
        <p:spPr/>
        <p:txBody>
          <a:bodyPr/>
          <a:lstStyle/>
          <a:p>
            <a:r>
              <a:rPr lang="fr-CA" dirty="0"/>
              <a:t>Colonne de type identité</a:t>
            </a:r>
            <a:endParaRPr lang="en-CA" dirty="0"/>
          </a:p>
        </p:txBody>
      </p:sp>
      <p:pic>
        <p:nvPicPr>
          <p:cNvPr id="5" name="Espace réservé du contenu 4">
            <a:extLst>
              <a:ext uri="{FF2B5EF4-FFF2-40B4-BE49-F238E27FC236}">
                <a16:creationId xmlns:a16="http://schemas.microsoft.com/office/drawing/2014/main" id="{BCF9444E-127F-AE43-C1A4-8A6DD97936D4}"/>
              </a:ext>
            </a:extLst>
          </p:cNvPr>
          <p:cNvPicPr>
            <a:picLocks noGrp="1" noChangeAspect="1"/>
          </p:cNvPicPr>
          <p:nvPr>
            <p:ph sz="quarter" idx="1"/>
          </p:nvPr>
        </p:nvPicPr>
        <p:blipFill>
          <a:blip r:embed="rId2"/>
          <a:stretch>
            <a:fillRect/>
          </a:stretch>
        </p:blipFill>
        <p:spPr>
          <a:xfrm>
            <a:off x="457200" y="1412777"/>
            <a:ext cx="8229600" cy="4030958"/>
          </a:xfrm>
          <a:prstGeom prst="rect">
            <a:avLst/>
          </a:prstGeom>
        </p:spPr>
      </p:pic>
    </p:spTree>
    <p:extLst>
      <p:ext uri="{BB962C8B-B14F-4D97-AF65-F5344CB8AC3E}">
        <p14:creationId xmlns:p14="http://schemas.microsoft.com/office/powerpoint/2010/main" val="2088847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C1CFD6-228E-3890-D652-690500273B28}"/>
              </a:ext>
            </a:extLst>
          </p:cNvPr>
          <p:cNvSpPr>
            <a:spLocks noGrp="1"/>
          </p:cNvSpPr>
          <p:nvPr>
            <p:ph type="title"/>
          </p:nvPr>
        </p:nvSpPr>
        <p:spPr/>
        <p:txBody>
          <a:bodyPr/>
          <a:lstStyle/>
          <a:p>
            <a:r>
              <a:rPr lang="fr-CA" dirty="0"/>
              <a:t>Informations sur les colonnes identité</a:t>
            </a:r>
            <a:endParaRPr lang="en-CA" dirty="0"/>
          </a:p>
        </p:txBody>
      </p:sp>
      <p:pic>
        <p:nvPicPr>
          <p:cNvPr id="5" name="Image 4">
            <a:extLst>
              <a:ext uri="{FF2B5EF4-FFF2-40B4-BE49-F238E27FC236}">
                <a16:creationId xmlns:a16="http://schemas.microsoft.com/office/drawing/2014/main" id="{58D978B9-F719-0522-49D7-BD00C7AC4EDD}"/>
              </a:ext>
            </a:extLst>
          </p:cNvPr>
          <p:cNvPicPr>
            <a:picLocks noChangeAspect="1"/>
          </p:cNvPicPr>
          <p:nvPr/>
        </p:nvPicPr>
        <p:blipFill>
          <a:blip r:embed="rId2"/>
          <a:stretch>
            <a:fillRect/>
          </a:stretch>
        </p:blipFill>
        <p:spPr>
          <a:xfrm>
            <a:off x="196807" y="1942510"/>
            <a:ext cx="4248472" cy="3305636"/>
          </a:xfrm>
          <a:prstGeom prst="rect">
            <a:avLst/>
          </a:prstGeom>
        </p:spPr>
      </p:pic>
      <p:pic>
        <p:nvPicPr>
          <p:cNvPr id="7" name="Image 6">
            <a:extLst>
              <a:ext uri="{FF2B5EF4-FFF2-40B4-BE49-F238E27FC236}">
                <a16:creationId xmlns:a16="http://schemas.microsoft.com/office/drawing/2014/main" id="{915CB1F7-1CEB-F17A-9462-733A0EA798E4}"/>
              </a:ext>
            </a:extLst>
          </p:cNvPr>
          <p:cNvPicPr>
            <a:picLocks noChangeAspect="1"/>
          </p:cNvPicPr>
          <p:nvPr/>
        </p:nvPicPr>
        <p:blipFill>
          <a:blip r:embed="rId3"/>
          <a:stretch>
            <a:fillRect/>
          </a:stretch>
        </p:blipFill>
        <p:spPr>
          <a:xfrm>
            <a:off x="4427985" y="1484784"/>
            <a:ext cx="4315383" cy="4221088"/>
          </a:xfrm>
          <a:prstGeom prst="rect">
            <a:avLst/>
          </a:prstGeom>
          <a:ln>
            <a:solidFill>
              <a:schemeClr val="tx1"/>
            </a:solidFill>
          </a:ln>
        </p:spPr>
      </p:pic>
    </p:spTree>
    <p:extLst>
      <p:ext uri="{BB962C8B-B14F-4D97-AF65-F5344CB8AC3E}">
        <p14:creationId xmlns:p14="http://schemas.microsoft.com/office/powerpoint/2010/main" val="372638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5" name="Rectangle 1031"/>
          <p:cNvSpPr>
            <a:spLocks noGrp="1" noChangeArrowheads="1"/>
          </p:cNvSpPr>
          <p:nvPr>
            <p:ph type="title"/>
          </p:nvPr>
        </p:nvSpPr>
        <p:spPr/>
        <p:txBody>
          <a:bodyPr/>
          <a:lstStyle/>
          <a:p>
            <a:r>
              <a:rPr lang="en-US"/>
              <a:t>Indexes</a:t>
            </a:r>
          </a:p>
        </p:txBody>
      </p:sp>
      <p:sp>
        <p:nvSpPr>
          <p:cNvPr id="503816" name="Rectangle 1032"/>
          <p:cNvSpPr>
            <a:spLocks noGrp="1" noChangeArrowheads="1"/>
          </p:cNvSpPr>
          <p:nvPr>
            <p:ph idx="1"/>
          </p:nvPr>
        </p:nvSpPr>
        <p:spPr>
          <a:xfrm>
            <a:off x="500034" y="1428736"/>
            <a:ext cx="7858180" cy="3857652"/>
          </a:xfrm>
        </p:spPr>
        <p:txBody>
          <a:bodyPr>
            <a:noAutofit/>
          </a:bodyPr>
          <a:lstStyle/>
          <a:p>
            <a:r>
              <a:rPr lang="en-US" sz="1800" dirty="0"/>
              <a:t>Un index:</a:t>
            </a:r>
          </a:p>
          <a:p>
            <a:pPr lvl="1"/>
            <a:r>
              <a:rPr lang="fr-CA" sz="1800" dirty="0"/>
              <a:t>Est-ce un objet de schéma (au même titre qu'une table par exemple)</a:t>
            </a:r>
          </a:p>
          <a:p>
            <a:pPr lvl="1"/>
            <a:r>
              <a:rPr lang="fr-CA" sz="1800" dirty="0"/>
              <a:t>Peut être utilisé par le serveur pour accélérer les recherches</a:t>
            </a:r>
          </a:p>
          <a:p>
            <a:pPr lvl="1"/>
            <a:r>
              <a:rPr lang="fr-CA" sz="1800" dirty="0"/>
              <a:t>Est indépendant de la table qu'il indexe. </a:t>
            </a:r>
          </a:p>
          <a:p>
            <a:pPr lvl="1"/>
            <a:r>
              <a:rPr lang="fr-CA" sz="1800" dirty="0"/>
              <a:t>utilisé et maintenu automatiquement par le serveur</a:t>
            </a:r>
          </a:p>
          <a:p>
            <a:pPr lvl="1"/>
            <a:r>
              <a:rPr lang="fr-CA" sz="1800" dirty="0"/>
              <a:t>Peut être créé: </a:t>
            </a:r>
          </a:p>
          <a:p>
            <a:pPr lvl="2"/>
            <a:r>
              <a:rPr lang="fr-CA" sz="1800" dirty="0"/>
              <a:t>automatiquement par le serveur</a:t>
            </a:r>
          </a:p>
          <a:p>
            <a:pPr lvl="2"/>
            <a:r>
              <a:rPr lang="fr-CA" sz="1800" dirty="0"/>
              <a:t>Manuellement par le concepteur</a:t>
            </a:r>
          </a:p>
          <a:p>
            <a:pPr lvl="1"/>
            <a:r>
              <a:rPr lang="fr-CA" sz="1800" dirty="0"/>
              <a:t>Quand une table est  supprimée tous les indexes qui lui sont associés sont aussi supprimés.</a:t>
            </a:r>
          </a:p>
        </p:txBody>
      </p:sp>
      <p:sp>
        <p:nvSpPr>
          <p:cNvPr id="5" name="Espace réservé du numéro de diapositive 4"/>
          <p:cNvSpPr>
            <a:spLocks noGrp="1"/>
          </p:cNvSpPr>
          <p:nvPr>
            <p:ph type="sldNum" sz="quarter" idx="12"/>
          </p:nvPr>
        </p:nvSpPr>
        <p:spPr/>
        <p:txBody>
          <a:bodyPr/>
          <a:lstStyle/>
          <a:p>
            <a:fld id="{0EFBD9D0-2AD4-4886-94E0-5599DED6C683}" type="slidenum">
              <a:rPr lang="fr-CA" smtClean="0"/>
              <a:pPr/>
              <a:t>16</a:t>
            </a:fld>
            <a:endParaRPr lang="fr-CA"/>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60" name="Rectangle 4"/>
          <p:cNvSpPr>
            <a:spLocks noGrp="1" noChangeArrowheads="1"/>
          </p:cNvSpPr>
          <p:nvPr>
            <p:ph type="title"/>
          </p:nvPr>
        </p:nvSpPr>
        <p:spPr>
          <a:xfrm>
            <a:off x="457200" y="155448"/>
            <a:ext cx="8229600" cy="844660"/>
          </a:xfrm>
        </p:spPr>
        <p:txBody>
          <a:bodyPr/>
          <a:lstStyle/>
          <a:p>
            <a:r>
              <a:rPr lang="en-US" dirty="0"/>
              <a:t>Comment </a:t>
            </a:r>
            <a:r>
              <a:rPr lang="en-US" dirty="0" err="1"/>
              <a:t>sont</a:t>
            </a:r>
            <a:r>
              <a:rPr lang="en-US" dirty="0"/>
              <a:t> </a:t>
            </a:r>
            <a:r>
              <a:rPr lang="en-US" dirty="0" err="1"/>
              <a:t>créés</a:t>
            </a:r>
            <a:r>
              <a:rPr lang="en-US" dirty="0"/>
              <a:t> les indexes?</a:t>
            </a:r>
          </a:p>
        </p:txBody>
      </p:sp>
      <p:sp>
        <p:nvSpPr>
          <p:cNvPr id="505861" name="Rectangle 5"/>
          <p:cNvSpPr>
            <a:spLocks noGrp="1" noChangeArrowheads="1"/>
          </p:cNvSpPr>
          <p:nvPr>
            <p:ph idx="1"/>
          </p:nvPr>
        </p:nvSpPr>
        <p:spPr>
          <a:xfrm>
            <a:off x="105477" y="1357298"/>
            <a:ext cx="4037895" cy="4286279"/>
          </a:xfrm>
        </p:spPr>
        <p:txBody>
          <a:bodyPr>
            <a:normAutofit/>
          </a:bodyPr>
          <a:lstStyle/>
          <a:p>
            <a:r>
              <a:rPr lang="fr-CA" sz="2000" b="1" dirty="0"/>
              <a:t>Automatiquement</a:t>
            </a:r>
            <a:r>
              <a:rPr lang="fr-CA" sz="2000" dirty="0"/>
              <a:t>: un index est créé automatiquement sur tout attribut déclaré comme </a:t>
            </a:r>
            <a:r>
              <a:rPr lang="fr-CA" sz="2000" b="1" dirty="0">
                <a:solidFill>
                  <a:srgbClr val="FF0000"/>
                </a:solidFill>
              </a:rPr>
              <a:t>P</a:t>
            </a:r>
            <a:r>
              <a:rPr lang="fr-CA" sz="2000" b="1" dirty="0">
                <a:solidFill>
                  <a:srgbClr val="FF0000"/>
                </a:solidFill>
                <a:latin typeface="Courier New" pitchFamily="49" charset="0"/>
              </a:rPr>
              <a:t>RIMARY KEY</a:t>
            </a:r>
            <a:r>
              <a:rPr lang="fr-CA" sz="2000" b="1" dirty="0">
                <a:solidFill>
                  <a:srgbClr val="FF0000"/>
                </a:solidFill>
              </a:rPr>
              <a:t> </a:t>
            </a:r>
            <a:r>
              <a:rPr lang="fr-CA" sz="2000" dirty="0"/>
              <a:t>or </a:t>
            </a:r>
            <a:r>
              <a:rPr lang="fr-CA" sz="2000" b="1" dirty="0">
                <a:solidFill>
                  <a:srgbClr val="FF0000"/>
                </a:solidFill>
                <a:latin typeface="Courier New" pitchFamily="49" charset="0"/>
              </a:rPr>
              <a:t>UNIQUE</a:t>
            </a:r>
            <a:r>
              <a:rPr lang="fr-CA" sz="2000" dirty="0"/>
              <a:t> (contraintes) dans une définition de table.</a:t>
            </a:r>
          </a:p>
          <a:p>
            <a:pPr>
              <a:buNone/>
            </a:pPr>
            <a:endParaRPr lang="fr-CA" sz="2000" dirty="0"/>
          </a:p>
          <a:p>
            <a:r>
              <a:rPr lang="fr-CA" sz="2000" b="1" dirty="0"/>
              <a:t>Manuellement</a:t>
            </a:r>
            <a:r>
              <a:rPr lang="fr-CA" sz="2000" dirty="0"/>
              <a:t>: L'utilisateur peut créer des indexes sur d'autres attributs pour accélérer les recherches sur ces attributs.</a:t>
            </a:r>
          </a:p>
        </p:txBody>
      </p:sp>
      <p:sp>
        <p:nvSpPr>
          <p:cNvPr id="6" name="Espace réservé du numéro de diapositive 5"/>
          <p:cNvSpPr>
            <a:spLocks noGrp="1"/>
          </p:cNvSpPr>
          <p:nvPr>
            <p:ph type="sldNum" sz="quarter" idx="12"/>
          </p:nvPr>
        </p:nvSpPr>
        <p:spPr/>
        <p:txBody>
          <a:bodyPr/>
          <a:lstStyle/>
          <a:p>
            <a:fld id="{0EFBD9D0-2AD4-4886-94E0-5599DED6C683}" type="slidenum">
              <a:rPr lang="fr-CA" smtClean="0"/>
              <a:pPr/>
              <a:t>17</a:t>
            </a:fld>
            <a:endParaRPr lang="fr-CA"/>
          </a:p>
        </p:txBody>
      </p:sp>
      <p:pic>
        <p:nvPicPr>
          <p:cNvPr id="7" name="Picture 1030" descr="D:\Temp\db2xdb005.gif"/>
          <p:cNvPicPr>
            <a:picLocks noChangeAspect="1" noChangeArrowheads="1"/>
          </p:cNvPicPr>
          <p:nvPr/>
        </p:nvPicPr>
        <p:blipFill>
          <a:blip r:embed="rId3" cstate="print"/>
          <a:srcRect/>
          <a:stretch>
            <a:fillRect/>
          </a:stretch>
        </p:blipFill>
        <p:spPr bwMode="auto">
          <a:xfrm>
            <a:off x="7786710" y="2786058"/>
            <a:ext cx="785818" cy="1143008"/>
          </a:xfrm>
          <a:prstGeom prst="rect">
            <a:avLst/>
          </a:prstGeom>
          <a:noFill/>
        </p:spPr>
      </p:pic>
      <p:pic>
        <p:nvPicPr>
          <p:cNvPr id="8" name="Picture 1030" descr="D:\Temp\db2xdb005.gif"/>
          <p:cNvPicPr>
            <a:picLocks noChangeAspect="1" noChangeArrowheads="1"/>
          </p:cNvPicPr>
          <p:nvPr/>
        </p:nvPicPr>
        <p:blipFill>
          <a:blip r:embed="rId3" cstate="print"/>
          <a:srcRect/>
          <a:stretch>
            <a:fillRect/>
          </a:stretch>
        </p:blipFill>
        <p:spPr bwMode="auto">
          <a:xfrm>
            <a:off x="6072198" y="2857496"/>
            <a:ext cx="785818" cy="1397000"/>
          </a:xfrm>
          <a:prstGeom prst="rect">
            <a:avLst/>
          </a:prstGeom>
          <a:noFill/>
        </p:spPr>
      </p:pic>
      <p:pic>
        <p:nvPicPr>
          <p:cNvPr id="9" name="Picture 12"/>
          <p:cNvPicPr>
            <a:picLocks noChangeAspect="1" noChangeArrowheads="1"/>
          </p:cNvPicPr>
          <p:nvPr/>
        </p:nvPicPr>
        <p:blipFill>
          <a:blip r:embed="rId4" cstate="print"/>
          <a:srcRect/>
          <a:stretch>
            <a:fillRect/>
          </a:stretch>
        </p:blipFill>
        <p:spPr bwMode="gray">
          <a:xfrm>
            <a:off x="5786446" y="1428736"/>
            <a:ext cx="3143240" cy="1041398"/>
          </a:xfrm>
          <a:prstGeom prst="rect">
            <a:avLst/>
          </a:prstGeom>
          <a:noFill/>
          <a:ln w="25400">
            <a:noFill/>
            <a:miter lim="800000"/>
            <a:headEnd type="none" w="sm" len="sm"/>
            <a:tailEnd type="none" w="sm" len="sm"/>
          </a:ln>
        </p:spPr>
      </p:pic>
      <p:cxnSp>
        <p:nvCxnSpPr>
          <p:cNvPr id="10" name="Connecteur droit avec flèche 9"/>
          <p:cNvCxnSpPr/>
          <p:nvPr/>
        </p:nvCxnSpPr>
        <p:spPr>
          <a:xfrm rot="5400000" flipH="1" flipV="1">
            <a:off x="6179355" y="2464587"/>
            <a:ext cx="642942" cy="142876"/>
          </a:xfrm>
          <a:prstGeom prst="straightConnector1">
            <a:avLst/>
          </a:prstGeom>
          <a:ln w="34925">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p:nvPr/>
        </p:nvCxnSpPr>
        <p:spPr>
          <a:xfrm rot="16200000" flipV="1">
            <a:off x="7947446" y="2553884"/>
            <a:ext cx="357190" cy="107157"/>
          </a:xfrm>
          <a:prstGeom prst="straightConnector1">
            <a:avLst/>
          </a:prstGeom>
          <a:ln w="34925">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12" name="ZoneTexte 11"/>
          <p:cNvSpPr txBox="1"/>
          <p:nvPr/>
        </p:nvSpPr>
        <p:spPr>
          <a:xfrm>
            <a:off x="4214810" y="4286256"/>
            <a:ext cx="4714908" cy="954107"/>
          </a:xfrm>
          <a:prstGeom prst="rect">
            <a:avLst/>
          </a:prstGeom>
          <a:noFill/>
          <a:ln>
            <a:solidFill>
              <a:schemeClr val="accent1"/>
            </a:solidFill>
          </a:ln>
        </p:spPr>
        <p:txBody>
          <a:bodyPr wrap="square" rtlCol="0">
            <a:spAutoFit/>
          </a:bodyPr>
          <a:lstStyle/>
          <a:p>
            <a:r>
              <a:rPr lang="fr-CA" sz="1400" dirty="0"/>
              <a:t>Deux indexes sur les attributs </a:t>
            </a:r>
            <a:r>
              <a:rPr lang="fr-CA" sz="1400" dirty="0" err="1"/>
              <a:t>Employe_Id</a:t>
            </a:r>
            <a:r>
              <a:rPr lang="fr-CA" sz="1400" dirty="0"/>
              <a:t> et Email, créés automatiquement par   si: </a:t>
            </a:r>
          </a:p>
          <a:p>
            <a:pPr>
              <a:buFont typeface="Arial" pitchFamily="34" charset="0"/>
              <a:buChar char="•"/>
            </a:pPr>
            <a:r>
              <a:rPr lang="fr-CA" sz="1400" dirty="0"/>
              <a:t> </a:t>
            </a:r>
            <a:r>
              <a:rPr lang="fr-CA" sz="1400" dirty="0" err="1"/>
              <a:t>Employee_Id</a:t>
            </a:r>
            <a:r>
              <a:rPr lang="fr-CA" sz="1400" dirty="0"/>
              <a:t> est une </a:t>
            </a:r>
            <a:r>
              <a:rPr lang="fr-CA" sz="1400" b="1" dirty="0"/>
              <a:t>clé primaire</a:t>
            </a:r>
          </a:p>
          <a:p>
            <a:pPr>
              <a:buFont typeface="Arial" pitchFamily="34" charset="0"/>
              <a:buChar char="•"/>
            </a:pPr>
            <a:r>
              <a:rPr lang="fr-CA" sz="1400" dirty="0"/>
              <a:t>Email défini </a:t>
            </a:r>
            <a:r>
              <a:rPr lang="fr-CA" sz="1400" b="1" dirty="0"/>
              <a:t>unique</a:t>
            </a:r>
          </a:p>
        </p:txBody>
      </p:sp>
      <p:sp>
        <p:nvSpPr>
          <p:cNvPr id="13" name="ZoneTexte 12"/>
          <p:cNvSpPr txBox="1"/>
          <p:nvPr/>
        </p:nvSpPr>
        <p:spPr>
          <a:xfrm>
            <a:off x="4714876" y="5500702"/>
            <a:ext cx="4068550" cy="830997"/>
          </a:xfrm>
          <a:prstGeom prst="rect">
            <a:avLst/>
          </a:prstGeom>
          <a:noFill/>
          <a:ln>
            <a:solidFill>
              <a:schemeClr val="accent1"/>
            </a:solidFill>
          </a:ln>
        </p:spPr>
        <p:txBody>
          <a:bodyPr wrap="none" rtlCol="0">
            <a:spAutoFit/>
          </a:bodyPr>
          <a:lstStyle/>
          <a:p>
            <a:r>
              <a:rPr lang="fr-CA" sz="1600" dirty="0"/>
              <a:t>L'utilisateur peut décider de créer un index  </a:t>
            </a:r>
          </a:p>
          <a:p>
            <a:r>
              <a:rPr lang="fr-CA" sz="1600" dirty="0"/>
              <a:t>sur l'attribut </a:t>
            </a:r>
            <a:r>
              <a:rPr lang="fr-CA" sz="1600" dirty="0" err="1"/>
              <a:t>Last_Name</a:t>
            </a:r>
            <a:r>
              <a:rPr lang="fr-CA" sz="1600" dirty="0"/>
              <a:t> Si ce </a:t>
            </a:r>
            <a:r>
              <a:rPr lang="fr-CA" sz="1600" dirty="0" err="1"/>
              <a:t>drnier</a:t>
            </a:r>
            <a:r>
              <a:rPr lang="fr-CA" sz="1600" dirty="0"/>
              <a:t> est utilisé</a:t>
            </a:r>
          </a:p>
          <a:p>
            <a:r>
              <a:rPr lang="fr-CA" sz="1600" dirty="0"/>
              <a:t> beaucoup dans des recherches</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10" name="Rectangle 6"/>
          <p:cNvSpPr>
            <a:spLocks noGrp="1" noChangeArrowheads="1"/>
          </p:cNvSpPr>
          <p:nvPr>
            <p:ph type="title"/>
          </p:nvPr>
        </p:nvSpPr>
        <p:spPr>
          <a:xfrm>
            <a:off x="457200" y="155448"/>
            <a:ext cx="8229600" cy="844660"/>
          </a:xfrm>
        </p:spPr>
        <p:txBody>
          <a:bodyPr/>
          <a:lstStyle/>
          <a:p>
            <a:r>
              <a:rPr lang="en-US" dirty="0" err="1"/>
              <a:t>Créer</a:t>
            </a:r>
            <a:r>
              <a:rPr lang="en-US" dirty="0"/>
              <a:t> un index</a:t>
            </a:r>
          </a:p>
        </p:txBody>
      </p:sp>
      <p:sp>
        <p:nvSpPr>
          <p:cNvPr id="507911" name="Rectangle 7"/>
          <p:cNvSpPr>
            <a:spLocks noGrp="1" noChangeArrowheads="1"/>
          </p:cNvSpPr>
          <p:nvPr>
            <p:ph idx="1"/>
          </p:nvPr>
        </p:nvSpPr>
        <p:spPr>
          <a:xfrm>
            <a:off x="571472" y="1124744"/>
            <a:ext cx="7658128" cy="4233082"/>
          </a:xfrm>
        </p:spPr>
        <p:txBody>
          <a:bodyPr>
            <a:normAutofit/>
          </a:bodyPr>
          <a:lstStyle/>
          <a:p>
            <a:pPr lvl="1">
              <a:buFont typeface="Arial" charset="0"/>
              <a:buNone/>
            </a:pPr>
            <a:endParaRPr lang="fr-CA" dirty="0"/>
          </a:p>
          <a:p>
            <a:pPr lvl="1">
              <a:buFont typeface="Arial" charset="0"/>
              <a:buNone/>
            </a:pPr>
            <a:endParaRPr lang="fr-CA" dirty="0"/>
          </a:p>
          <a:p>
            <a:pPr lvl="1"/>
            <a:endParaRPr lang="fr-CA" dirty="0"/>
          </a:p>
          <a:p>
            <a:pPr lvl="1"/>
            <a:r>
              <a:rPr lang="fr-CA" dirty="0"/>
              <a:t>Améliorer les temps d'exécution des requêtes SQL à l'attribut  </a:t>
            </a:r>
            <a:r>
              <a:rPr lang="fr-CA" dirty="0" err="1">
                <a:latin typeface="Courier New" pitchFamily="49" charset="0"/>
              </a:rPr>
              <a:t>eNAME</a:t>
            </a:r>
            <a:r>
              <a:rPr lang="fr-CA" dirty="0"/>
              <a:t> de la table </a:t>
            </a:r>
            <a:r>
              <a:rPr lang="fr-CA" dirty="0">
                <a:latin typeface="Courier New" pitchFamily="49" charset="0"/>
              </a:rPr>
              <a:t>EMP</a:t>
            </a:r>
            <a:r>
              <a:rPr lang="fr-CA" dirty="0"/>
              <a:t> :</a:t>
            </a:r>
          </a:p>
        </p:txBody>
      </p:sp>
      <p:sp>
        <p:nvSpPr>
          <p:cNvPr id="507908" name="Rectangle 4"/>
          <p:cNvSpPr>
            <a:spLocks noChangeArrowheads="1"/>
          </p:cNvSpPr>
          <p:nvPr/>
        </p:nvSpPr>
        <p:spPr bwMode="blackGray">
          <a:xfrm>
            <a:off x="847750" y="3241285"/>
            <a:ext cx="7296150" cy="915988"/>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lIns="92075" tIns="46038" rIns="92075" bIns="46038" anchor="ctr"/>
          <a:lstStyle/>
          <a:p>
            <a:pPr algn="l" eaLnBrk="0" hangingPunct="0">
              <a:spcBef>
                <a:spcPct val="0"/>
              </a:spcBef>
              <a:buClrTx/>
              <a:buFontTx/>
              <a:buNone/>
              <a:tabLst>
                <a:tab pos="1200150" algn="l"/>
              </a:tabLst>
            </a:pPr>
            <a:r>
              <a:rPr lang="en-US" b="1" dirty="0">
                <a:latin typeface="Courier New" pitchFamily="49" charset="0"/>
              </a:rPr>
              <a:t>CREATE INDEX 	</a:t>
            </a:r>
            <a:r>
              <a:rPr lang="en-US" b="1" dirty="0" err="1">
                <a:latin typeface="Courier New" pitchFamily="49" charset="0"/>
              </a:rPr>
              <a:t>emp_ename_idx</a:t>
            </a:r>
            <a:endParaRPr lang="en-US" b="1" dirty="0">
              <a:latin typeface="Courier New" pitchFamily="49" charset="0"/>
            </a:endParaRPr>
          </a:p>
          <a:p>
            <a:pPr algn="l" eaLnBrk="0" hangingPunct="0">
              <a:spcBef>
                <a:spcPct val="0"/>
              </a:spcBef>
              <a:buClrTx/>
              <a:buFontTx/>
              <a:buNone/>
              <a:tabLst>
                <a:tab pos="1200150" algn="l"/>
              </a:tabLst>
            </a:pPr>
            <a:r>
              <a:rPr lang="en-US" b="1" dirty="0">
                <a:latin typeface="Courier New" pitchFamily="49" charset="0"/>
              </a:rPr>
              <a:t>ON 		emp (</a:t>
            </a:r>
            <a:r>
              <a:rPr lang="en-US" b="1" dirty="0" err="1">
                <a:latin typeface="Courier New" pitchFamily="49" charset="0"/>
              </a:rPr>
              <a:t>ename</a:t>
            </a:r>
            <a:r>
              <a:rPr lang="en-US" b="1" dirty="0">
                <a:latin typeface="Courier New" pitchFamily="49" charset="0"/>
              </a:rPr>
              <a:t>);</a:t>
            </a:r>
          </a:p>
        </p:txBody>
      </p:sp>
      <p:sp>
        <p:nvSpPr>
          <p:cNvPr id="507909" name="Rectangle 5"/>
          <p:cNvSpPr>
            <a:spLocks noChangeArrowheads="1"/>
          </p:cNvSpPr>
          <p:nvPr/>
        </p:nvSpPr>
        <p:spPr bwMode="blackGray">
          <a:xfrm>
            <a:off x="847750" y="1231406"/>
            <a:ext cx="7296150" cy="6413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lIns="92075" tIns="46038" rIns="92075" bIns="46038" anchor="ctr"/>
          <a:lstStyle/>
          <a:p>
            <a:pPr algn="l" eaLnBrk="0" hangingPunct="0">
              <a:spcBef>
                <a:spcPct val="0"/>
              </a:spcBef>
              <a:buClrTx/>
              <a:buFontTx/>
              <a:buNone/>
              <a:tabLst>
                <a:tab pos="1200150" algn="l"/>
              </a:tabLst>
            </a:pPr>
            <a:r>
              <a:rPr lang="en-US" b="1" dirty="0">
                <a:solidFill>
                  <a:srgbClr val="000000"/>
                </a:solidFill>
                <a:latin typeface="Courier New" pitchFamily="49" charset="0"/>
              </a:rPr>
              <a:t>CREATE INDEX </a:t>
            </a:r>
            <a:r>
              <a:rPr lang="en-US" b="1" i="1" dirty="0" err="1">
                <a:solidFill>
                  <a:srgbClr val="000000"/>
                </a:solidFill>
                <a:latin typeface="Courier New" pitchFamily="49" charset="0"/>
              </a:rPr>
              <a:t>index</a:t>
            </a:r>
            <a:endParaRPr lang="en-US" b="1" dirty="0">
              <a:solidFill>
                <a:srgbClr val="000000"/>
              </a:solidFill>
              <a:latin typeface="Courier New" pitchFamily="49" charset="0"/>
            </a:endParaRPr>
          </a:p>
          <a:p>
            <a:pPr algn="l" eaLnBrk="0" hangingPunct="0">
              <a:spcBef>
                <a:spcPct val="0"/>
              </a:spcBef>
              <a:buClrTx/>
              <a:buFontTx/>
              <a:buNone/>
              <a:tabLst>
                <a:tab pos="1200150" algn="l"/>
              </a:tabLst>
            </a:pPr>
            <a:r>
              <a:rPr lang="en-US" b="1" dirty="0">
                <a:solidFill>
                  <a:srgbClr val="000000"/>
                </a:solidFill>
                <a:latin typeface="Courier New" pitchFamily="49" charset="0"/>
              </a:rPr>
              <a:t>ON </a:t>
            </a:r>
            <a:r>
              <a:rPr lang="en-US" b="1" i="1" dirty="0">
                <a:solidFill>
                  <a:srgbClr val="000000"/>
                </a:solidFill>
                <a:latin typeface="Courier New" pitchFamily="49" charset="0"/>
              </a:rPr>
              <a:t>table</a:t>
            </a:r>
            <a:r>
              <a:rPr lang="en-US" b="1" dirty="0">
                <a:solidFill>
                  <a:srgbClr val="000000"/>
                </a:solidFill>
                <a:latin typeface="Courier New" pitchFamily="49" charset="0"/>
              </a:rPr>
              <a:t> (</a:t>
            </a:r>
            <a:r>
              <a:rPr lang="en-US" b="1" i="1" dirty="0">
                <a:solidFill>
                  <a:srgbClr val="000000"/>
                </a:solidFill>
                <a:latin typeface="Courier New" pitchFamily="49" charset="0"/>
              </a:rPr>
              <a:t>column</a:t>
            </a:r>
            <a:r>
              <a:rPr lang="en-US" b="1" dirty="0">
                <a:solidFill>
                  <a:srgbClr val="000000"/>
                </a:solidFill>
                <a:latin typeface="Courier New" pitchFamily="49" charset="0"/>
              </a:rPr>
              <a:t>[, </a:t>
            </a:r>
            <a:r>
              <a:rPr lang="en-US" b="1" i="1" dirty="0">
                <a:solidFill>
                  <a:srgbClr val="000000"/>
                </a:solidFill>
                <a:latin typeface="Courier New" pitchFamily="49" charset="0"/>
              </a:rPr>
              <a:t>column</a:t>
            </a:r>
            <a:r>
              <a:rPr lang="en-US" b="1" dirty="0">
                <a:solidFill>
                  <a:srgbClr val="000000"/>
                </a:solidFill>
                <a:latin typeface="Courier New" pitchFamily="49" charset="0"/>
              </a:rPr>
              <a:t>]...);</a:t>
            </a:r>
          </a:p>
        </p:txBody>
      </p:sp>
      <p:sp>
        <p:nvSpPr>
          <p:cNvPr id="6" name="Espace réservé du numéro de diapositive 5"/>
          <p:cNvSpPr>
            <a:spLocks noGrp="1"/>
          </p:cNvSpPr>
          <p:nvPr>
            <p:ph type="sldNum" sz="quarter" idx="12"/>
          </p:nvPr>
        </p:nvSpPr>
        <p:spPr/>
        <p:txBody>
          <a:bodyPr/>
          <a:lstStyle/>
          <a:p>
            <a:fld id="{0EFBD9D0-2AD4-4886-94E0-5599DED6C683}" type="slidenum">
              <a:rPr lang="fr-CA" smtClean="0"/>
              <a:pPr/>
              <a:t>18</a:t>
            </a:fld>
            <a:endParaRPr lang="fr-CA"/>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4282" y="155448"/>
            <a:ext cx="8472518" cy="844660"/>
          </a:xfrm>
        </p:spPr>
        <p:txBody>
          <a:bodyPr>
            <a:normAutofit/>
          </a:bodyPr>
          <a:lstStyle/>
          <a:p>
            <a:r>
              <a:rPr lang="fr-CA" dirty="0"/>
              <a:t>Affichage d'informations sur les indexes</a:t>
            </a:r>
          </a:p>
        </p:txBody>
      </p:sp>
      <p:sp>
        <p:nvSpPr>
          <p:cNvPr id="4" name="Espace réservé du numéro de diapositive 3"/>
          <p:cNvSpPr>
            <a:spLocks noGrp="1"/>
          </p:cNvSpPr>
          <p:nvPr>
            <p:ph type="sldNum" sz="quarter" idx="12"/>
          </p:nvPr>
        </p:nvSpPr>
        <p:spPr/>
        <p:txBody>
          <a:bodyPr/>
          <a:lstStyle/>
          <a:p>
            <a:fld id="{0EFBD9D0-2AD4-4886-94E0-5599DED6C683}" type="slidenum">
              <a:rPr lang="fr-CA" smtClean="0"/>
              <a:pPr/>
              <a:t>19</a:t>
            </a:fld>
            <a:endParaRPr lang="fr-CA"/>
          </a:p>
        </p:txBody>
      </p:sp>
      <p:sp>
        <p:nvSpPr>
          <p:cNvPr id="10" name="Espace réservé du contenu 9">
            <a:extLst>
              <a:ext uri="{FF2B5EF4-FFF2-40B4-BE49-F238E27FC236}">
                <a16:creationId xmlns:a16="http://schemas.microsoft.com/office/drawing/2014/main" id="{F7B4C345-FA86-69EB-424A-833C150CB62D}"/>
              </a:ext>
            </a:extLst>
          </p:cNvPr>
          <p:cNvSpPr>
            <a:spLocks noGrp="1"/>
          </p:cNvSpPr>
          <p:nvPr>
            <p:ph sz="quarter" idx="1"/>
          </p:nvPr>
        </p:nvSpPr>
        <p:spPr/>
        <p:txBody>
          <a:bodyPr/>
          <a:lstStyle/>
          <a:p>
            <a:endParaRPr lang="en-CA"/>
          </a:p>
        </p:txBody>
      </p:sp>
      <p:pic>
        <p:nvPicPr>
          <p:cNvPr id="12" name="Image 11">
            <a:extLst>
              <a:ext uri="{FF2B5EF4-FFF2-40B4-BE49-F238E27FC236}">
                <a16:creationId xmlns:a16="http://schemas.microsoft.com/office/drawing/2014/main" id="{4CC937C1-93E4-CE95-C03C-6231005E095E}"/>
              </a:ext>
            </a:extLst>
          </p:cNvPr>
          <p:cNvPicPr>
            <a:picLocks noChangeAspect="1"/>
          </p:cNvPicPr>
          <p:nvPr/>
        </p:nvPicPr>
        <p:blipFill>
          <a:blip r:embed="rId2"/>
          <a:stretch>
            <a:fillRect/>
          </a:stretch>
        </p:blipFill>
        <p:spPr>
          <a:xfrm>
            <a:off x="827584" y="1830705"/>
            <a:ext cx="7344816" cy="3714750"/>
          </a:xfrm>
          <a:prstGeom prst="rect">
            <a:avLst/>
          </a:prstGeom>
          <a:ln>
            <a:solidFill>
              <a:schemeClr val="tx1"/>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7" name="Rectangle 5"/>
          <p:cNvSpPr>
            <a:spLocks noGrp="1" noChangeArrowheads="1"/>
          </p:cNvSpPr>
          <p:nvPr>
            <p:ph type="title"/>
          </p:nvPr>
        </p:nvSpPr>
        <p:spPr>
          <a:xfrm>
            <a:off x="214282" y="155448"/>
            <a:ext cx="8472518" cy="844660"/>
          </a:xfrm>
        </p:spPr>
        <p:txBody>
          <a:bodyPr/>
          <a:lstStyle/>
          <a:p>
            <a:r>
              <a:rPr lang="en-US" dirty="0"/>
              <a:t>Directives pour la </a:t>
            </a:r>
            <a:r>
              <a:rPr lang="en-US" dirty="0" err="1"/>
              <a:t>création</a:t>
            </a:r>
            <a:r>
              <a:rPr lang="en-US" dirty="0"/>
              <a:t> </a:t>
            </a:r>
            <a:r>
              <a:rPr lang="en-US" dirty="0" err="1"/>
              <a:t>d'indexes</a:t>
            </a:r>
            <a:endParaRPr lang="en-US" dirty="0"/>
          </a:p>
        </p:txBody>
      </p:sp>
      <p:graphicFrame>
        <p:nvGraphicFramePr>
          <p:cNvPr id="510150" name="Group 198"/>
          <p:cNvGraphicFramePr>
            <a:graphicFrameLocks noGrp="1"/>
          </p:cNvGraphicFramePr>
          <p:nvPr/>
        </p:nvGraphicFramePr>
        <p:xfrm>
          <a:off x="214282" y="1401761"/>
          <a:ext cx="8715436" cy="4437033"/>
        </p:xfrm>
        <a:graphic>
          <a:graphicData uri="http://schemas.openxmlformats.org/drawingml/2006/table">
            <a:tbl>
              <a:tblPr/>
              <a:tblGrid>
                <a:gridCol w="453219">
                  <a:extLst>
                    <a:ext uri="{9D8B030D-6E8A-4147-A177-3AD203B41FA5}">
                      <a16:colId xmlns:a16="http://schemas.microsoft.com/office/drawing/2014/main" val="20000"/>
                    </a:ext>
                  </a:extLst>
                </a:gridCol>
                <a:gridCol w="8262217">
                  <a:extLst>
                    <a:ext uri="{9D8B030D-6E8A-4147-A177-3AD203B41FA5}">
                      <a16:colId xmlns:a16="http://schemas.microsoft.com/office/drawing/2014/main" val="20001"/>
                    </a:ext>
                  </a:extLst>
                </a:gridCol>
              </a:tblGrid>
              <a:tr h="425863">
                <a:tc gridSpan="2">
                  <a:txBody>
                    <a:bodyPr/>
                    <a:lstStyle/>
                    <a:p>
                      <a:pPr marL="0" marR="0" lvl="0" indent="0" algn="l" defTabSz="228600" rtl="0" eaLnBrk="0" fontAlgn="base" latinLnBrk="0" hangingPunct="0">
                        <a:lnSpc>
                          <a:spcPct val="115000"/>
                        </a:lnSpc>
                        <a:spcBef>
                          <a:spcPct val="25000"/>
                        </a:spcBef>
                        <a:spcAft>
                          <a:spcPct val="35000"/>
                        </a:spcAft>
                        <a:buClrTx/>
                        <a:buSzTx/>
                        <a:buFontTx/>
                        <a:buNone/>
                        <a:tabLst/>
                      </a:pPr>
                      <a:r>
                        <a:rPr kumimoji="0" lang="fr-CA" sz="1800" b="1" i="0" u="none" strike="noStrike" cap="none" normalizeH="0" baseline="0" noProof="0" dirty="0">
                          <a:ln>
                            <a:noFill/>
                          </a:ln>
                          <a:solidFill>
                            <a:schemeClr val="tx1"/>
                          </a:solidFill>
                          <a:effectLst/>
                          <a:latin typeface="Arial" charset="0"/>
                        </a:rPr>
                        <a:t>Créer un index si:</a:t>
                      </a:r>
                      <a:endParaRPr kumimoji="0" lang="fr-CA" sz="1800" b="1" i="0" u="none" strike="noStrike" cap="none" normalizeH="0" baseline="0" noProof="0" dirty="0">
                        <a:ln>
                          <a:noFill/>
                        </a:ln>
                        <a:solidFill>
                          <a:schemeClr val="bg2"/>
                        </a:solidFill>
                        <a:effectLst/>
                        <a:latin typeface="Arial"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CCECFF"/>
                    </a:solidFill>
                  </a:tcPr>
                </a:tc>
                <a:tc hMerge="1">
                  <a:txBody>
                    <a:bodyPr/>
                    <a:lstStyle/>
                    <a:p>
                      <a:endParaRPr lang="fr-CA"/>
                    </a:p>
                  </a:txBody>
                  <a:tcPr/>
                </a:tc>
                <a:extLst>
                  <a:ext uri="{0D108BD9-81ED-4DB2-BD59-A6C34878D82A}">
                    <a16:rowId xmlns:a16="http://schemas.microsoft.com/office/drawing/2014/main" val="10000"/>
                  </a:ext>
                </a:extLst>
              </a:tr>
              <a:tr h="414841">
                <a:tc>
                  <a:txBody>
                    <a:bodyPr/>
                    <a:lstStyle/>
                    <a:p>
                      <a:pPr marL="0" marR="0" lvl="0" indent="0" algn="l" defTabSz="228600" rtl="0" eaLnBrk="0" fontAlgn="base" latinLnBrk="0" hangingPunct="0">
                        <a:lnSpc>
                          <a:spcPct val="120000"/>
                        </a:lnSpc>
                        <a:spcBef>
                          <a:spcPct val="35000"/>
                        </a:spcBef>
                        <a:spcAft>
                          <a:spcPct val="35000"/>
                        </a:spcAft>
                        <a:buClrTx/>
                        <a:buSzTx/>
                        <a:buFontTx/>
                        <a:buNone/>
                        <a:tabLst/>
                      </a:pPr>
                      <a:endParaRPr kumimoji="0" lang="fr-CA" sz="1800" b="1" i="0" u="none" strike="noStrike" cap="none" normalizeH="0" baseline="0" noProof="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p>
                      <a:pPr marL="114300" marR="0" lvl="1" indent="0" algn="l" defTabSz="228600" rtl="0" eaLnBrk="1" fontAlgn="base" latinLnBrk="0" hangingPunct="1">
                        <a:lnSpc>
                          <a:spcPct val="100000"/>
                        </a:lnSpc>
                        <a:spcBef>
                          <a:spcPct val="20000"/>
                        </a:spcBef>
                        <a:spcAft>
                          <a:spcPct val="0"/>
                        </a:spcAft>
                        <a:buClr>
                          <a:srgbClr val="FF0000"/>
                        </a:buClr>
                        <a:buSzTx/>
                        <a:buFont typeface="Arial" charset="0"/>
                        <a:buNone/>
                        <a:tabLst/>
                      </a:pPr>
                      <a:r>
                        <a:rPr kumimoji="0" lang="fr-CA" sz="1700" b="1" i="0" u="none" strike="noStrike" kern="1200" cap="none" normalizeH="0" baseline="0" noProof="0" dirty="0">
                          <a:ln>
                            <a:noFill/>
                          </a:ln>
                          <a:solidFill>
                            <a:schemeClr val="tx1"/>
                          </a:solidFill>
                          <a:effectLst/>
                          <a:latin typeface="Arial" charset="0"/>
                          <a:ea typeface="+mn-ea"/>
                          <a:cs typeface="+mn-cs"/>
                        </a:rPr>
                        <a:t>Une colonne contient un large éventail de valeurs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1"/>
                  </a:ext>
                </a:extLst>
              </a:tr>
              <a:tr h="377328">
                <a:tc>
                  <a:txBody>
                    <a:bodyPr/>
                    <a:lstStyle/>
                    <a:p>
                      <a:pPr marL="0" marR="0" lvl="0" indent="0" algn="l" defTabSz="228600" rtl="0" eaLnBrk="0" fontAlgn="base" latinLnBrk="0" hangingPunct="0">
                        <a:lnSpc>
                          <a:spcPct val="100000"/>
                        </a:lnSpc>
                        <a:spcBef>
                          <a:spcPct val="25000"/>
                        </a:spcBef>
                        <a:spcAft>
                          <a:spcPct val="25000"/>
                        </a:spcAft>
                        <a:buClrTx/>
                        <a:buSzTx/>
                        <a:buFontTx/>
                        <a:buNone/>
                        <a:tabLst/>
                      </a:pPr>
                      <a:endParaRPr kumimoji="0" lang="fr-CA" sz="1800" b="1" i="0" u="none" strike="noStrike" cap="none" normalizeH="0" baseline="0" noProof="0">
                        <a:ln>
                          <a:noFill/>
                        </a:ln>
                        <a:solidFill>
                          <a:schemeClr val="tx1"/>
                        </a:solidFill>
                        <a:effectLst/>
                        <a:latin typeface="Arial" charset="0"/>
                        <a:sym typeface="Wingdings 2" pitchFamily="18" charset="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p>
                      <a:pPr marL="114300" marR="0" lvl="1" indent="0" algn="l" defTabSz="228600" rtl="0" eaLnBrk="1" fontAlgn="base" latinLnBrk="0" hangingPunct="1">
                        <a:lnSpc>
                          <a:spcPct val="100000"/>
                        </a:lnSpc>
                        <a:spcBef>
                          <a:spcPct val="20000"/>
                        </a:spcBef>
                        <a:spcAft>
                          <a:spcPct val="0"/>
                        </a:spcAft>
                        <a:buClr>
                          <a:srgbClr val="FF0000"/>
                        </a:buClr>
                        <a:buSzTx/>
                        <a:buFont typeface="Arial" charset="0"/>
                        <a:buNone/>
                        <a:tabLst/>
                      </a:pPr>
                      <a:r>
                        <a:rPr kumimoji="0" lang="fr-CA" sz="1700" b="1" i="0" u="none" strike="noStrike" kern="1200" cap="none" normalizeH="0" baseline="0" noProof="0" dirty="0">
                          <a:ln>
                            <a:noFill/>
                          </a:ln>
                          <a:solidFill>
                            <a:schemeClr val="tx1"/>
                          </a:solidFill>
                          <a:effectLst/>
                          <a:latin typeface="Arial" charset="0"/>
                          <a:ea typeface="+mn-ea"/>
                          <a:cs typeface="+mn-cs"/>
                        </a:rPr>
                        <a:t>Une colonne contient  un grand nombre de valeurs nulles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2"/>
                  </a:ext>
                </a:extLst>
              </a:tr>
              <a:tr h="601219">
                <a:tc>
                  <a:txBody>
                    <a:bodyPr/>
                    <a:lstStyle/>
                    <a:p>
                      <a:pPr marL="0" marR="0" lvl="0" indent="0" algn="l" defTabSz="228600" rtl="0" eaLnBrk="0" fontAlgn="base" latinLnBrk="0" hangingPunct="0">
                        <a:lnSpc>
                          <a:spcPct val="120000"/>
                        </a:lnSpc>
                        <a:spcBef>
                          <a:spcPct val="35000"/>
                        </a:spcBef>
                        <a:spcAft>
                          <a:spcPct val="35000"/>
                        </a:spcAft>
                        <a:buClrTx/>
                        <a:buSzTx/>
                        <a:buFontTx/>
                        <a:buNone/>
                        <a:tabLst/>
                      </a:pPr>
                      <a:endParaRPr kumimoji="0" lang="fr-CA" sz="1800" b="1" i="0" u="none" strike="noStrike" cap="none" normalizeH="0" baseline="0" noProof="0">
                        <a:ln>
                          <a:noFill/>
                        </a:ln>
                        <a:solidFill>
                          <a:schemeClr val="tx1"/>
                        </a:solidFill>
                        <a:effectLst/>
                        <a:latin typeface="Arial" charset="0"/>
                        <a:sym typeface="Wingdings 2" pitchFamily="18" charset="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p>
                      <a:pPr marL="114300" marR="0" lvl="1" indent="0" algn="l" defTabSz="228600" rtl="0" eaLnBrk="1" fontAlgn="base" latinLnBrk="0" hangingPunct="1">
                        <a:lnSpc>
                          <a:spcPct val="100000"/>
                        </a:lnSpc>
                        <a:spcBef>
                          <a:spcPct val="20000"/>
                        </a:spcBef>
                        <a:spcAft>
                          <a:spcPct val="0"/>
                        </a:spcAft>
                        <a:buClr>
                          <a:srgbClr val="FF0000"/>
                        </a:buClr>
                        <a:buSzTx/>
                        <a:buFont typeface="Arial" charset="0"/>
                        <a:buNone/>
                        <a:tabLst/>
                      </a:pPr>
                      <a:r>
                        <a:rPr kumimoji="0" lang="fr-CA" sz="1700" b="1" i="0" u="none" strike="noStrike" cap="none" normalizeH="0" baseline="0" noProof="0" dirty="0">
                          <a:ln>
                            <a:noFill/>
                          </a:ln>
                          <a:solidFill>
                            <a:schemeClr val="tx1"/>
                          </a:solidFill>
                          <a:effectLst/>
                          <a:latin typeface="Arial" charset="0"/>
                        </a:rPr>
                        <a:t>Une ou plusieurs colonnes sont fréquemment utilisées ensemble dans les critères de recherche</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3"/>
                  </a:ext>
                </a:extLst>
              </a:tr>
              <a:tr h="601219">
                <a:tc>
                  <a:txBody>
                    <a:bodyPr/>
                    <a:lstStyle/>
                    <a:p>
                      <a:pPr marL="0" marR="0" lvl="0" indent="0" algn="l" defTabSz="228600" rtl="0" eaLnBrk="1" fontAlgn="base" latinLnBrk="0" hangingPunct="1">
                        <a:lnSpc>
                          <a:spcPct val="100000"/>
                        </a:lnSpc>
                        <a:spcBef>
                          <a:spcPct val="20000"/>
                        </a:spcBef>
                        <a:spcAft>
                          <a:spcPct val="0"/>
                        </a:spcAft>
                        <a:buClr>
                          <a:srgbClr val="000000"/>
                        </a:buClr>
                        <a:buSzTx/>
                        <a:buFont typeface="Arial" charset="0"/>
                        <a:buNone/>
                        <a:tabLst/>
                      </a:pPr>
                      <a:endParaRPr kumimoji="0" lang="fr-CA" sz="1800" b="1" i="0" u="none" strike="noStrike" cap="none" normalizeH="0" baseline="0" noProof="0">
                        <a:ln>
                          <a:noFill/>
                        </a:ln>
                        <a:solidFill>
                          <a:schemeClr val="tx1"/>
                        </a:solidFill>
                        <a:effectLst/>
                        <a:latin typeface="Arial" charset="0"/>
                        <a:sym typeface="Wingdings 2" pitchFamily="18" charset="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p>
                      <a:pPr marL="114300" marR="0" lvl="1" indent="0" algn="l" defTabSz="228600" rtl="0" eaLnBrk="1" fontAlgn="base" latinLnBrk="0" hangingPunct="1">
                        <a:lnSpc>
                          <a:spcPct val="100000"/>
                        </a:lnSpc>
                        <a:spcBef>
                          <a:spcPct val="20000"/>
                        </a:spcBef>
                        <a:spcAft>
                          <a:spcPct val="0"/>
                        </a:spcAft>
                        <a:buClr>
                          <a:srgbClr val="FF0000"/>
                        </a:buClr>
                        <a:buSzTx/>
                        <a:buFont typeface="Arial" charset="0"/>
                        <a:buNone/>
                        <a:tabLst/>
                      </a:pPr>
                      <a:r>
                        <a:rPr kumimoji="0" lang="fr-CA" sz="1700" b="1" i="0" u="none" strike="noStrike" cap="none" normalizeH="0" baseline="0" noProof="0" dirty="0">
                          <a:ln>
                            <a:noFill/>
                          </a:ln>
                          <a:solidFill>
                            <a:schemeClr val="tx1"/>
                          </a:solidFill>
                          <a:effectLst/>
                          <a:latin typeface="Arial" charset="0"/>
                        </a:rPr>
                        <a:t>La table est grande et la majorité des requêtes retournent moins que 2% à 4% des enregistrements de la table</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4"/>
                  </a:ext>
                </a:extLst>
              </a:tr>
              <a:tr h="360732">
                <a:tc gridSpan="2">
                  <a:txBody>
                    <a:bodyPr/>
                    <a:lstStyle/>
                    <a:p>
                      <a:pPr marL="114300" marR="0" lvl="1" indent="0" algn="l" defTabSz="228600" rtl="0" eaLnBrk="1" fontAlgn="base" latinLnBrk="0" hangingPunct="1">
                        <a:lnSpc>
                          <a:spcPct val="100000"/>
                        </a:lnSpc>
                        <a:spcBef>
                          <a:spcPct val="20000"/>
                        </a:spcBef>
                        <a:spcAft>
                          <a:spcPct val="0"/>
                        </a:spcAft>
                        <a:buClr>
                          <a:srgbClr val="FF0000"/>
                        </a:buClr>
                        <a:buSzTx/>
                        <a:buFont typeface="Arial" charset="0"/>
                        <a:buNone/>
                        <a:tabLst/>
                      </a:pPr>
                      <a:r>
                        <a:rPr kumimoji="0" lang="fr-CA" sz="1800" b="1" i="0" u="none" strike="noStrike" cap="none" normalizeH="0" baseline="0" noProof="0" dirty="0">
                          <a:ln>
                            <a:noFill/>
                          </a:ln>
                          <a:solidFill>
                            <a:schemeClr val="tx1"/>
                          </a:solidFill>
                          <a:effectLst/>
                          <a:latin typeface="Arial" charset="0"/>
                        </a:rPr>
                        <a:t>Ne pas créer un index si:</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CCECFF"/>
                    </a:solidFill>
                  </a:tcPr>
                </a:tc>
                <a:tc hMerge="1">
                  <a:txBody>
                    <a:bodyPr/>
                    <a:lstStyle/>
                    <a:p>
                      <a:endParaRPr lang="fr-CA"/>
                    </a:p>
                  </a:txBody>
                  <a:tcPr/>
                </a:tc>
                <a:extLst>
                  <a:ext uri="{0D108BD9-81ED-4DB2-BD59-A6C34878D82A}">
                    <a16:rowId xmlns:a16="http://schemas.microsoft.com/office/drawing/2014/main" val="10005"/>
                  </a:ext>
                </a:extLst>
              </a:tr>
              <a:tr h="601219">
                <a:tc>
                  <a:txBody>
                    <a:bodyPr/>
                    <a:lstStyle/>
                    <a:p>
                      <a:pPr marL="0" marR="0" lvl="0" indent="0" algn="l" defTabSz="228600" rtl="0" eaLnBrk="0" fontAlgn="base" latinLnBrk="0" hangingPunct="0">
                        <a:lnSpc>
                          <a:spcPct val="120000"/>
                        </a:lnSpc>
                        <a:spcBef>
                          <a:spcPct val="35000"/>
                        </a:spcBef>
                        <a:spcAft>
                          <a:spcPct val="35000"/>
                        </a:spcAft>
                        <a:buClrTx/>
                        <a:buSzTx/>
                        <a:buFontTx/>
                        <a:buNone/>
                        <a:tabLst/>
                      </a:pPr>
                      <a:endParaRPr kumimoji="0" lang="fr-CA" sz="1800" b="1" i="0" u="none" strike="noStrike" cap="none" normalizeH="0" baseline="0" noProof="0">
                        <a:ln>
                          <a:noFill/>
                        </a:ln>
                        <a:solidFill>
                          <a:schemeClr val="tx1"/>
                        </a:solidFill>
                        <a:effectLst/>
                        <a:latin typeface="Arial"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p>
                      <a:pPr marL="114300" marR="0" lvl="1" indent="0" algn="l" defTabSz="228600" rtl="0" eaLnBrk="1" fontAlgn="base" latinLnBrk="0" hangingPunct="1">
                        <a:lnSpc>
                          <a:spcPct val="100000"/>
                        </a:lnSpc>
                        <a:spcBef>
                          <a:spcPct val="20000"/>
                        </a:spcBef>
                        <a:spcAft>
                          <a:spcPct val="0"/>
                        </a:spcAft>
                        <a:buClr>
                          <a:srgbClr val="FF0000"/>
                        </a:buClr>
                        <a:buSzTx/>
                        <a:buFont typeface="Arial" charset="0"/>
                        <a:buNone/>
                        <a:tabLst/>
                      </a:pPr>
                      <a:r>
                        <a:rPr kumimoji="0" lang="fr-CA" sz="1700" b="1" i="0" u="none" strike="noStrike" cap="none" normalizeH="0" baseline="0" noProof="0" dirty="0">
                          <a:ln>
                            <a:noFill/>
                          </a:ln>
                          <a:solidFill>
                            <a:schemeClr val="tx1"/>
                          </a:solidFill>
                          <a:effectLst/>
                          <a:latin typeface="Arial" charset="0"/>
                        </a:rPr>
                        <a:t>Les colonnes ne sont pas fréquemment utilisées dans les critères de recherche.</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6"/>
                  </a:ext>
                </a:extLst>
              </a:tr>
              <a:tr h="601219">
                <a:tc>
                  <a:txBody>
                    <a:bodyPr/>
                    <a:lstStyle/>
                    <a:p>
                      <a:pPr marL="0" marR="0" lvl="0" indent="0" algn="l" defTabSz="228600" rtl="0" eaLnBrk="0" fontAlgn="base" latinLnBrk="0" hangingPunct="0">
                        <a:lnSpc>
                          <a:spcPct val="120000"/>
                        </a:lnSpc>
                        <a:spcBef>
                          <a:spcPct val="35000"/>
                        </a:spcBef>
                        <a:spcAft>
                          <a:spcPct val="35000"/>
                        </a:spcAft>
                        <a:buClrTx/>
                        <a:buSzTx/>
                        <a:buFontTx/>
                        <a:buNone/>
                        <a:tabLst/>
                      </a:pPr>
                      <a:endParaRPr kumimoji="0" lang="fr-CA" sz="1800" b="1" i="0" u="none" strike="noStrike" cap="none" normalizeH="0" baseline="0" noProof="0">
                        <a:ln>
                          <a:noFill/>
                        </a:ln>
                        <a:solidFill>
                          <a:schemeClr val="tx1"/>
                        </a:solidFill>
                        <a:effectLst/>
                        <a:latin typeface="Arial" charset="0"/>
                        <a:sym typeface="Wingdings 2" pitchFamily="18" charset="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p>
                      <a:pPr marL="114300" marR="0" lvl="1" indent="0" algn="l" defTabSz="228600" rtl="0" eaLnBrk="1" fontAlgn="base" latinLnBrk="0" hangingPunct="1">
                        <a:lnSpc>
                          <a:spcPct val="100000"/>
                        </a:lnSpc>
                        <a:spcBef>
                          <a:spcPct val="20000"/>
                        </a:spcBef>
                        <a:spcAft>
                          <a:spcPct val="0"/>
                        </a:spcAft>
                        <a:buClr>
                          <a:srgbClr val="FF0000"/>
                        </a:buClr>
                        <a:buSzTx/>
                        <a:buFont typeface="Arial" charset="0"/>
                        <a:buNone/>
                        <a:tabLst/>
                      </a:pPr>
                      <a:r>
                        <a:rPr kumimoji="0" lang="fr-CA" sz="1700" b="1" i="0" u="none" strike="noStrike" cap="none" normalizeH="0" baseline="0" noProof="0" dirty="0">
                          <a:ln>
                            <a:noFill/>
                          </a:ln>
                          <a:solidFill>
                            <a:schemeClr val="tx1"/>
                          </a:solidFill>
                          <a:effectLst/>
                          <a:latin typeface="Arial" charset="0"/>
                        </a:rPr>
                        <a:t>La table est petite et la majorité des requêtes retournent plus que 2% à 4% des enregistrements de la table</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7"/>
                  </a:ext>
                </a:extLst>
              </a:tr>
              <a:tr h="414841">
                <a:tc>
                  <a:txBody>
                    <a:bodyPr/>
                    <a:lstStyle/>
                    <a:p>
                      <a:pPr marL="0" marR="0" lvl="0" indent="0" algn="l" defTabSz="228600" rtl="0" eaLnBrk="0" fontAlgn="base" latinLnBrk="0" hangingPunct="0">
                        <a:lnSpc>
                          <a:spcPct val="120000"/>
                        </a:lnSpc>
                        <a:spcBef>
                          <a:spcPct val="35000"/>
                        </a:spcBef>
                        <a:spcAft>
                          <a:spcPct val="35000"/>
                        </a:spcAft>
                        <a:buClrTx/>
                        <a:buSzTx/>
                        <a:buFontTx/>
                        <a:buNone/>
                        <a:tabLst/>
                      </a:pPr>
                      <a:endParaRPr kumimoji="0" lang="fr-CA" sz="1800" b="1" i="0" u="none" strike="noStrike" cap="none" normalizeH="0" baseline="0" noProof="0">
                        <a:ln>
                          <a:noFill/>
                        </a:ln>
                        <a:solidFill>
                          <a:schemeClr val="tx1"/>
                        </a:solidFill>
                        <a:effectLst/>
                        <a:latin typeface="Arial" charset="0"/>
                        <a:sym typeface="Wingdings 2" pitchFamily="18" charset="2"/>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tc>
                  <a:txBody>
                    <a:bodyPr/>
                    <a:lstStyle/>
                    <a:p>
                      <a:pPr marL="114300" marR="0" lvl="1" indent="0" algn="l" defTabSz="228600" rtl="0" eaLnBrk="1" fontAlgn="base" latinLnBrk="0" hangingPunct="1">
                        <a:lnSpc>
                          <a:spcPct val="100000"/>
                        </a:lnSpc>
                        <a:spcBef>
                          <a:spcPct val="20000"/>
                        </a:spcBef>
                        <a:spcAft>
                          <a:spcPct val="0"/>
                        </a:spcAft>
                        <a:buClr>
                          <a:srgbClr val="FF0000"/>
                        </a:buClr>
                        <a:buSzTx/>
                        <a:buFont typeface="Arial" charset="0"/>
                        <a:buNone/>
                        <a:tabLst/>
                      </a:pPr>
                      <a:r>
                        <a:rPr kumimoji="0" lang="fr-CA" sz="1700" b="1" i="0" u="none" strike="noStrike" cap="none" normalizeH="0" baseline="0" noProof="0" dirty="0">
                          <a:ln>
                            <a:noFill/>
                          </a:ln>
                          <a:solidFill>
                            <a:schemeClr val="tx1"/>
                          </a:solidFill>
                          <a:effectLst/>
                          <a:latin typeface="Arial" charset="0"/>
                        </a:rPr>
                        <a:t>La table est mise à jour fréquemment</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99CCFF"/>
                    </a:solidFill>
                  </a:tcPr>
                </a:tc>
                <a:extLst>
                  <a:ext uri="{0D108BD9-81ED-4DB2-BD59-A6C34878D82A}">
                    <a16:rowId xmlns:a16="http://schemas.microsoft.com/office/drawing/2014/main" val="10008"/>
                  </a:ext>
                </a:extLst>
              </a:tr>
            </a:tbl>
          </a:graphicData>
        </a:graphic>
      </p:graphicFrame>
      <p:pic>
        <p:nvPicPr>
          <p:cNvPr id="510151" name="Picture 199" descr="C:\temp\symbo005.gif"/>
          <p:cNvPicPr>
            <a:picLocks noChangeAspect="1" noChangeArrowheads="1"/>
          </p:cNvPicPr>
          <p:nvPr/>
        </p:nvPicPr>
        <p:blipFill>
          <a:blip r:embed="rId3" cstate="print"/>
          <a:srcRect/>
          <a:stretch>
            <a:fillRect/>
          </a:stretch>
        </p:blipFill>
        <p:spPr bwMode="auto">
          <a:xfrm>
            <a:off x="352398" y="1912938"/>
            <a:ext cx="290512" cy="287337"/>
          </a:xfrm>
          <a:prstGeom prst="rect">
            <a:avLst/>
          </a:prstGeom>
          <a:noFill/>
        </p:spPr>
      </p:pic>
      <p:pic>
        <p:nvPicPr>
          <p:cNvPr id="510152" name="Picture 200" descr="C:\temp\symbo005.gif"/>
          <p:cNvPicPr>
            <a:picLocks noChangeAspect="1" noChangeArrowheads="1"/>
          </p:cNvPicPr>
          <p:nvPr/>
        </p:nvPicPr>
        <p:blipFill>
          <a:blip r:embed="rId3" cstate="print"/>
          <a:srcRect/>
          <a:stretch>
            <a:fillRect/>
          </a:stretch>
        </p:blipFill>
        <p:spPr bwMode="auto">
          <a:xfrm>
            <a:off x="352398" y="2319338"/>
            <a:ext cx="290512" cy="287337"/>
          </a:xfrm>
          <a:prstGeom prst="rect">
            <a:avLst/>
          </a:prstGeom>
          <a:noFill/>
        </p:spPr>
      </p:pic>
      <p:pic>
        <p:nvPicPr>
          <p:cNvPr id="510153" name="Picture 201" descr="C:\temp\symbo005.gif"/>
          <p:cNvPicPr>
            <a:picLocks noChangeAspect="1" noChangeArrowheads="1"/>
          </p:cNvPicPr>
          <p:nvPr/>
        </p:nvPicPr>
        <p:blipFill>
          <a:blip r:embed="rId3" cstate="print"/>
          <a:srcRect/>
          <a:stretch>
            <a:fillRect/>
          </a:stretch>
        </p:blipFill>
        <p:spPr bwMode="auto">
          <a:xfrm>
            <a:off x="352398" y="2738438"/>
            <a:ext cx="290512" cy="287337"/>
          </a:xfrm>
          <a:prstGeom prst="rect">
            <a:avLst/>
          </a:prstGeom>
          <a:noFill/>
        </p:spPr>
      </p:pic>
      <p:pic>
        <p:nvPicPr>
          <p:cNvPr id="510154" name="Picture 202" descr="C:\temp\symbo005.gif"/>
          <p:cNvPicPr>
            <a:picLocks noChangeAspect="1" noChangeArrowheads="1"/>
          </p:cNvPicPr>
          <p:nvPr/>
        </p:nvPicPr>
        <p:blipFill>
          <a:blip r:embed="rId3" cstate="print"/>
          <a:srcRect/>
          <a:stretch>
            <a:fillRect/>
          </a:stretch>
        </p:blipFill>
        <p:spPr bwMode="auto">
          <a:xfrm>
            <a:off x="352398" y="3360738"/>
            <a:ext cx="290512" cy="287337"/>
          </a:xfrm>
          <a:prstGeom prst="rect">
            <a:avLst/>
          </a:prstGeom>
          <a:noFill/>
        </p:spPr>
      </p:pic>
      <p:pic>
        <p:nvPicPr>
          <p:cNvPr id="510156" name="Picture 204" descr="C:\temp\symbo004.gif"/>
          <p:cNvPicPr>
            <a:picLocks noChangeAspect="1" noChangeArrowheads="1"/>
          </p:cNvPicPr>
          <p:nvPr/>
        </p:nvPicPr>
        <p:blipFill>
          <a:blip r:embed="rId4" cstate="print"/>
          <a:srcRect/>
          <a:stretch>
            <a:fillRect/>
          </a:stretch>
        </p:blipFill>
        <p:spPr bwMode="auto">
          <a:xfrm>
            <a:off x="357158" y="4413259"/>
            <a:ext cx="201613" cy="230187"/>
          </a:xfrm>
          <a:prstGeom prst="rect">
            <a:avLst/>
          </a:prstGeom>
          <a:noFill/>
        </p:spPr>
      </p:pic>
      <p:pic>
        <p:nvPicPr>
          <p:cNvPr id="510157" name="Picture 205" descr="C:\temp\symbo004.gif"/>
          <p:cNvPicPr>
            <a:picLocks noChangeAspect="1" noChangeArrowheads="1"/>
          </p:cNvPicPr>
          <p:nvPr/>
        </p:nvPicPr>
        <p:blipFill>
          <a:blip r:embed="rId4" cstate="print"/>
          <a:srcRect/>
          <a:stretch>
            <a:fillRect/>
          </a:stretch>
        </p:blipFill>
        <p:spPr bwMode="auto">
          <a:xfrm>
            <a:off x="357158" y="4929198"/>
            <a:ext cx="201613" cy="230187"/>
          </a:xfrm>
          <a:prstGeom prst="rect">
            <a:avLst/>
          </a:prstGeom>
          <a:noFill/>
        </p:spPr>
      </p:pic>
      <p:pic>
        <p:nvPicPr>
          <p:cNvPr id="510158" name="Picture 206" descr="C:\temp\symbo004.gif"/>
          <p:cNvPicPr>
            <a:picLocks noChangeAspect="1" noChangeArrowheads="1"/>
          </p:cNvPicPr>
          <p:nvPr/>
        </p:nvPicPr>
        <p:blipFill>
          <a:blip r:embed="rId4" cstate="print"/>
          <a:srcRect/>
          <a:stretch>
            <a:fillRect/>
          </a:stretch>
        </p:blipFill>
        <p:spPr bwMode="auto">
          <a:xfrm>
            <a:off x="357158" y="5500702"/>
            <a:ext cx="201613" cy="230187"/>
          </a:xfrm>
          <a:prstGeom prst="rect">
            <a:avLst/>
          </a:prstGeom>
          <a:noFill/>
        </p:spPr>
      </p:pic>
      <p:sp>
        <p:nvSpPr>
          <p:cNvPr id="12" name="Espace réservé du numéro de diapositive 11"/>
          <p:cNvSpPr>
            <a:spLocks noGrp="1"/>
          </p:cNvSpPr>
          <p:nvPr>
            <p:ph type="sldNum" sz="quarter" idx="12"/>
          </p:nvPr>
        </p:nvSpPr>
        <p:spPr/>
        <p:txBody>
          <a:bodyPr/>
          <a:lstStyle/>
          <a:p>
            <a:fld id="{0EFBD9D0-2AD4-4886-94E0-5599DED6C683}" type="slidenum">
              <a:rPr lang="fr-CA" smtClean="0"/>
              <a:pPr/>
              <a:t>20</a:t>
            </a:fld>
            <a:endParaRPr lang="fr-CA"/>
          </a:p>
        </p:txBody>
      </p: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8" name="Rectangle 6"/>
          <p:cNvSpPr>
            <a:spLocks noGrp="1" noChangeArrowheads="1"/>
          </p:cNvSpPr>
          <p:nvPr>
            <p:ph type="title"/>
          </p:nvPr>
        </p:nvSpPr>
        <p:spPr>
          <a:xfrm>
            <a:off x="214282" y="155448"/>
            <a:ext cx="8472518" cy="844660"/>
          </a:xfrm>
        </p:spPr>
        <p:txBody>
          <a:bodyPr/>
          <a:lstStyle/>
          <a:p>
            <a:r>
              <a:rPr lang="en-US" dirty="0" err="1"/>
              <a:t>Supprimer</a:t>
            </a:r>
            <a:r>
              <a:rPr lang="en-US" dirty="0"/>
              <a:t> un index</a:t>
            </a:r>
          </a:p>
        </p:txBody>
      </p:sp>
      <p:sp>
        <p:nvSpPr>
          <p:cNvPr id="520199" name="Rectangle 7"/>
          <p:cNvSpPr>
            <a:spLocks noGrp="1" noChangeArrowheads="1"/>
          </p:cNvSpPr>
          <p:nvPr>
            <p:ph idx="1"/>
          </p:nvPr>
        </p:nvSpPr>
        <p:spPr>
          <a:xfrm>
            <a:off x="285720" y="1571612"/>
            <a:ext cx="8429684" cy="4429156"/>
          </a:xfrm>
        </p:spPr>
        <p:txBody>
          <a:bodyPr>
            <a:normAutofit/>
          </a:bodyPr>
          <a:lstStyle/>
          <a:p>
            <a:pPr lvl="1">
              <a:buFont typeface="Arial" charset="0"/>
              <a:buNone/>
            </a:pPr>
            <a:endParaRPr lang="fr-CA" dirty="0"/>
          </a:p>
          <a:p>
            <a:pPr lvl="1">
              <a:buFont typeface="Arial" charset="0"/>
              <a:buNone/>
            </a:pPr>
            <a:endParaRPr lang="fr-CA" dirty="0"/>
          </a:p>
          <a:p>
            <a:pPr lvl="1"/>
            <a:r>
              <a:rPr lang="fr-CA" dirty="0"/>
              <a:t>Un index ne peut pas être modifié (pas de Alter  index)</a:t>
            </a:r>
          </a:p>
          <a:p>
            <a:pPr lvl="1"/>
            <a:r>
              <a:rPr lang="fr-CA" dirty="0"/>
              <a:t>Supprimer l'index </a:t>
            </a:r>
            <a:r>
              <a:rPr lang="fr-CA" dirty="0">
                <a:latin typeface="Courier New" pitchFamily="49" charset="0"/>
              </a:rPr>
              <a:t>UPPER_LAST_NAME_IDX</a:t>
            </a:r>
            <a:r>
              <a:rPr lang="fr-CA" dirty="0"/>
              <a:t>   du dictionnaire de données</a:t>
            </a:r>
          </a:p>
          <a:p>
            <a:pPr lvl="1">
              <a:buFont typeface="Arial" charset="0"/>
              <a:buNone/>
            </a:pPr>
            <a:endParaRPr lang="fr-CA" dirty="0"/>
          </a:p>
          <a:p>
            <a:pPr lvl="1">
              <a:buFont typeface="Arial" charset="0"/>
              <a:buNone/>
            </a:pPr>
            <a:endParaRPr lang="fr-CA" dirty="0"/>
          </a:p>
          <a:p>
            <a:pPr lvl="1">
              <a:buFont typeface="Arial" charset="0"/>
              <a:buNone/>
            </a:pPr>
            <a:endParaRPr lang="fr-CA" dirty="0"/>
          </a:p>
          <a:p>
            <a:pPr lvl="1">
              <a:buFont typeface="Arial" charset="0"/>
              <a:buNone/>
            </a:pPr>
            <a:endParaRPr lang="fr-CA" dirty="0"/>
          </a:p>
          <a:p>
            <a:pPr lvl="1">
              <a:buFont typeface="Arial" charset="0"/>
              <a:buNone/>
            </a:pPr>
            <a:endParaRPr lang="fr-CA" dirty="0"/>
          </a:p>
        </p:txBody>
      </p:sp>
      <p:sp>
        <p:nvSpPr>
          <p:cNvPr id="520196" name="Rectangle 4"/>
          <p:cNvSpPr>
            <a:spLocks noChangeArrowheads="1"/>
          </p:cNvSpPr>
          <p:nvPr/>
        </p:nvSpPr>
        <p:spPr bwMode="blackGray">
          <a:xfrm>
            <a:off x="857250" y="4214813"/>
            <a:ext cx="7296150" cy="64135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lIns="92075" tIns="46038" rIns="92075" bIns="46038" anchor="ctr"/>
          <a:lstStyle/>
          <a:p>
            <a:pPr algn="l" eaLnBrk="0" hangingPunct="0">
              <a:spcBef>
                <a:spcPct val="0"/>
              </a:spcBef>
              <a:buClrTx/>
              <a:buFontTx/>
              <a:buNone/>
              <a:tabLst>
                <a:tab pos="1200150" algn="l"/>
              </a:tabLst>
            </a:pPr>
            <a:r>
              <a:rPr lang="en-US" b="1" dirty="0">
                <a:solidFill>
                  <a:srgbClr val="000000"/>
                </a:solidFill>
                <a:latin typeface="Courier New" pitchFamily="49" charset="0"/>
              </a:rPr>
              <a:t>DROP INDEX </a:t>
            </a:r>
            <a:r>
              <a:rPr lang="en-US" b="1" dirty="0" err="1">
                <a:solidFill>
                  <a:srgbClr val="000000"/>
                </a:solidFill>
                <a:latin typeface="Courier New" pitchFamily="49" charset="0"/>
              </a:rPr>
              <a:t>emp_last_name_idx</a:t>
            </a:r>
            <a:r>
              <a:rPr lang="en-US" b="1" dirty="0">
                <a:solidFill>
                  <a:srgbClr val="000000"/>
                </a:solidFill>
                <a:latin typeface="Courier New" pitchFamily="49" charset="0"/>
              </a:rPr>
              <a:t>;</a:t>
            </a:r>
          </a:p>
        </p:txBody>
      </p:sp>
      <p:sp>
        <p:nvSpPr>
          <p:cNvPr id="520197" name="Rectangle 5"/>
          <p:cNvSpPr>
            <a:spLocks noChangeArrowheads="1"/>
          </p:cNvSpPr>
          <p:nvPr/>
        </p:nvSpPr>
        <p:spPr bwMode="blackGray">
          <a:xfrm>
            <a:off x="802466" y="1571612"/>
            <a:ext cx="7296150" cy="534988"/>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wrap="none" lIns="92075" tIns="46038" rIns="92075" bIns="46038" anchor="ctr"/>
          <a:lstStyle/>
          <a:p>
            <a:pPr algn="l" eaLnBrk="0" hangingPunct="0">
              <a:spcBef>
                <a:spcPct val="0"/>
              </a:spcBef>
              <a:buClrTx/>
              <a:buFontTx/>
              <a:buNone/>
              <a:tabLst>
                <a:tab pos="1200150" algn="l"/>
              </a:tabLst>
            </a:pPr>
            <a:r>
              <a:rPr lang="en-US" b="1" dirty="0">
                <a:solidFill>
                  <a:srgbClr val="000000"/>
                </a:solidFill>
                <a:latin typeface="Courier New" pitchFamily="49" charset="0"/>
              </a:rPr>
              <a:t>DROP INDEX </a:t>
            </a:r>
            <a:r>
              <a:rPr lang="en-US" b="1" i="1" dirty="0" err="1">
                <a:solidFill>
                  <a:srgbClr val="000000"/>
                </a:solidFill>
                <a:latin typeface="Courier New" pitchFamily="49" charset="0"/>
              </a:rPr>
              <a:t>index</a:t>
            </a:r>
            <a:r>
              <a:rPr lang="en-US" b="1" dirty="0">
                <a:solidFill>
                  <a:srgbClr val="000000"/>
                </a:solidFill>
                <a:latin typeface="Courier New" pitchFamily="49" charset="0"/>
              </a:rPr>
              <a:t>;</a:t>
            </a:r>
          </a:p>
        </p:txBody>
      </p:sp>
      <p:sp>
        <p:nvSpPr>
          <p:cNvPr id="6" name="Espace réservé du numéro de diapositive 5"/>
          <p:cNvSpPr>
            <a:spLocks noGrp="1"/>
          </p:cNvSpPr>
          <p:nvPr>
            <p:ph type="sldNum" sz="quarter" idx="12"/>
          </p:nvPr>
        </p:nvSpPr>
        <p:spPr/>
        <p:txBody>
          <a:bodyPr/>
          <a:lstStyle/>
          <a:p>
            <a:fld id="{0EFBD9D0-2AD4-4886-94E0-5599DED6C683}" type="slidenum">
              <a:rPr lang="fr-CA" smtClean="0"/>
              <a:pPr/>
              <a:t>21</a:t>
            </a:fld>
            <a:endParaRPr lang="fr-CA"/>
          </a:p>
        </p:txBody>
      </p:sp>
    </p:spTree>
  </p:cSld>
  <p:clrMapOvr>
    <a:masterClrMapping/>
  </p:clrMapOvr>
  <p:transition spd="slow">
    <p:cut/>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e">
  <a:themeElements>
    <a:clrScheme name="Civil">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rigine">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e">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35149</TotalTime>
  <Words>1597</Words>
  <Application>Microsoft Office PowerPoint</Application>
  <PresentationFormat>Affichage à l'écran (4:3)</PresentationFormat>
  <Paragraphs>170</Paragraphs>
  <Slides>21</Slides>
  <Notes>13</Notes>
  <HiddenSlides>0</HiddenSlides>
  <MMClips>0</MMClips>
  <ScaleCrop>false</ScaleCrop>
  <HeadingPairs>
    <vt:vector size="8" baseType="variant">
      <vt:variant>
        <vt:lpstr>Polices utilisées</vt:lpstr>
      </vt:variant>
      <vt:variant>
        <vt:i4>8</vt:i4>
      </vt:variant>
      <vt:variant>
        <vt:lpstr>Thème</vt:lpstr>
      </vt:variant>
      <vt:variant>
        <vt:i4>1</vt:i4>
      </vt:variant>
      <vt:variant>
        <vt:lpstr>Serveurs OLE incorporés</vt:lpstr>
      </vt:variant>
      <vt:variant>
        <vt:i4>1</vt:i4>
      </vt:variant>
      <vt:variant>
        <vt:lpstr>Titres des diapositives</vt:lpstr>
      </vt:variant>
      <vt:variant>
        <vt:i4>21</vt:i4>
      </vt:variant>
    </vt:vector>
  </HeadingPairs>
  <TitlesOfParts>
    <vt:vector size="31" baseType="lpstr">
      <vt:lpstr>Arial</vt:lpstr>
      <vt:lpstr>Bookman Old Style</vt:lpstr>
      <vt:lpstr>Calibri</vt:lpstr>
      <vt:lpstr>Courier New</vt:lpstr>
      <vt:lpstr>Gill Sans MT</vt:lpstr>
      <vt:lpstr>Times New Roman</vt:lpstr>
      <vt:lpstr>Wingdings</vt:lpstr>
      <vt:lpstr>Wingdings 3</vt:lpstr>
      <vt:lpstr>Origine</vt:lpstr>
      <vt:lpstr>Document</vt:lpstr>
      <vt:lpstr>DDL(suite)</vt:lpstr>
      <vt:lpstr>Les catégories d'instructions   SQL</vt:lpstr>
      <vt:lpstr>Les objets qui composent d'une base de données relationnelle</vt:lpstr>
      <vt:lpstr>Valeurs uniques pour colonnes</vt:lpstr>
      <vt:lpstr>Séquences</vt:lpstr>
      <vt:lpstr>Instruction CREATE SEQUENCE Syntaxe</vt:lpstr>
      <vt:lpstr>Exemple de création de séquence</vt:lpstr>
      <vt:lpstr>Exemple d'utilisation de séquence</vt:lpstr>
      <vt:lpstr>Informations sur les séquences</vt:lpstr>
      <vt:lpstr>Modifier une  séquence</vt:lpstr>
      <vt:lpstr>Directives pour la modification d'une séquence</vt:lpstr>
      <vt:lpstr>Utilisation d'une séquence dans deux tables</vt:lpstr>
      <vt:lpstr>Colonne de type identité</vt:lpstr>
      <vt:lpstr>Colonne de type identité</vt:lpstr>
      <vt:lpstr>Informations sur les colonnes identité</vt:lpstr>
      <vt:lpstr>Indexes</vt:lpstr>
      <vt:lpstr>Comment sont créés les indexes?</vt:lpstr>
      <vt:lpstr>Créer un index</vt:lpstr>
      <vt:lpstr>Affichage d'informations sur les indexes</vt:lpstr>
      <vt:lpstr>Directives pour la création d'indexes</vt:lpstr>
      <vt:lpstr>Supprimer un index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asma mokt</dc:creator>
  <cp:lastModifiedBy>Ferdenache, Soraya</cp:lastModifiedBy>
  <cp:revision>151</cp:revision>
  <dcterms:created xsi:type="dcterms:W3CDTF">2022-05-20T09:44:17Z</dcterms:created>
  <dcterms:modified xsi:type="dcterms:W3CDTF">2026-01-25T21:05:34Z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615819-ba40-4aaf-a034-39fd1d37cddf_Enabled">
    <vt:lpwstr>true</vt:lpwstr>
  </property>
  <property fmtid="{D5CDD505-2E9C-101B-9397-08002B2CF9AE}" pid="3" name="MSIP_Label_6b615819-ba40-4aaf-a034-39fd1d37cddf_SetDate">
    <vt:lpwstr>2026-01-11T16:32:48Z</vt:lpwstr>
  </property>
  <property fmtid="{D5CDD505-2E9C-101B-9397-08002B2CF9AE}" pid="4" name="MSIP_Label_6b615819-ba40-4aaf-a034-39fd1d37cddf_Method">
    <vt:lpwstr>Standard</vt:lpwstr>
  </property>
  <property fmtid="{D5CDD505-2E9C-101B-9397-08002B2CF9AE}" pid="5" name="MSIP_Label_6b615819-ba40-4aaf-a034-39fd1d37cddf_Name">
    <vt:lpwstr>defa4170-0d19-0005-0004-bc88714345d2</vt:lpwstr>
  </property>
  <property fmtid="{D5CDD505-2E9C-101B-9397-08002B2CF9AE}" pid="6" name="MSIP_Label_6b615819-ba40-4aaf-a034-39fd1d37cddf_SiteId">
    <vt:lpwstr>f9182dd7-4234-41fb-9e9c-dd20d493b548</vt:lpwstr>
  </property>
  <property fmtid="{D5CDD505-2E9C-101B-9397-08002B2CF9AE}" pid="7" name="MSIP_Label_6b615819-ba40-4aaf-a034-39fd1d37cddf_ActionId">
    <vt:lpwstr>d25e251b-2d3d-403c-82b4-0b9c6a87bfbd</vt:lpwstr>
  </property>
  <property fmtid="{D5CDD505-2E9C-101B-9397-08002B2CF9AE}" pid="8" name="MSIP_Label_6b615819-ba40-4aaf-a034-39fd1d37cddf_ContentBits">
    <vt:lpwstr>0</vt:lpwstr>
  </property>
  <property fmtid="{D5CDD505-2E9C-101B-9397-08002B2CF9AE}" pid="9" name="MSIP_Label_6b615819-ba40-4aaf-a034-39fd1d37cddf_Tag">
    <vt:lpwstr>10, 3, 0, 1</vt:lpwstr>
  </property>
</Properties>
</file>