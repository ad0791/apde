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302" r:id="rId3"/>
    <p:sldId id="303" r:id="rId4"/>
    <p:sldId id="304" r:id="rId5"/>
    <p:sldId id="306" r:id="rId6"/>
    <p:sldId id="307" r:id="rId7"/>
    <p:sldId id="305" r:id="rId8"/>
    <p:sldId id="308" r:id="rId9"/>
    <p:sldId id="309" r:id="rId10"/>
    <p:sldId id="310" r:id="rId11"/>
    <p:sldId id="311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99" r:id="rId21"/>
    <p:sldId id="300" r:id="rId22"/>
    <p:sldId id="269" r:id="rId23"/>
    <p:sldId id="270" r:id="rId24"/>
    <p:sldId id="272" r:id="rId25"/>
    <p:sldId id="274" r:id="rId26"/>
    <p:sldId id="275" r:id="rId27"/>
    <p:sldId id="276" r:id="rId28"/>
    <p:sldId id="301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6" r:id="rId46"/>
    <p:sldId id="297" r:id="rId4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52" autoAdjust="0"/>
  </p:normalViewPr>
  <p:slideViewPr>
    <p:cSldViewPr>
      <p:cViewPr varScale="1">
        <p:scale>
          <a:sx n="77" d="100"/>
          <a:sy n="77" d="100"/>
        </p:scale>
        <p:origin x="-1541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A525E-C899-4DFB-9159-395E4D74FBB7}" type="datetimeFigureOut">
              <a:rPr lang="fr-CA" smtClean="0"/>
              <a:t>2024-09-10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139A2-8B9B-4B30-A369-706EDA2D0F5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26418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Relationship Id="rId4" Type="http://schemas.openxmlformats.org/officeDocument/2006/relationships/image" Target="../media/image29.png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8950" y="161925"/>
            <a:ext cx="5875338" cy="4405313"/>
          </a:xfrm>
          <a:ln cap="flat"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/>
            <a:r>
              <a:rPr lang="fr-FR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2315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8950" y="161925"/>
            <a:ext cx="5875338" cy="4405313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61408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8950" y="161925"/>
            <a:ext cx="5875338" cy="4405313"/>
          </a:xfrm>
          <a:ln cap="flat"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5315" y="4773964"/>
            <a:ext cx="6363011" cy="3756196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endParaRPr lang="fr-FR" dirty="0" smtClean="0"/>
          </a:p>
          <a:p>
            <a:pPr>
              <a:lnSpc>
                <a:spcPct val="90000"/>
              </a:lnSpc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2608754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8F13F-2297-47E6-9545-E1C6A286A2B7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25153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8F13F-2297-47E6-9545-E1C6A286A2B7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5919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9093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557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3883709" y="-1564"/>
            <a:ext cx="2975849" cy="459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13" tIns="44956" rIns="89913" bIns="44956" anchor="ctr"/>
          <a:lstStyle/>
          <a:p>
            <a:endParaRPr lang="fr-CA"/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-3115" y="-1564"/>
            <a:ext cx="2972735" cy="459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9913" tIns="44956" rIns="89913" bIns="44956" anchor="ctr"/>
          <a:lstStyle/>
          <a:p>
            <a:endParaRPr lang="fr-CA"/>
          </a:p>
        </p:txBody>
      </p:sp>
      <p:sp>
        <p:nvSpPr>
          <p:cNvPr id="6042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1" name="Rectangle 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54035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06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37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C7612-3493-4FCB-B55C-7B1B040318A7}" type="slidenum">
              <a:rPr lang="fr-CA" smtClean="0"/>
              <a:pPr/>
              <a:t>35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719391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5" name="Rectangle 7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1176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5000"/>
              </a:lnSpc>
            </a:pPr>
            <a:endParaRPr lang="en-US" dirty="0"/>
          </a:p>
        </p:txBody>
      </p:sp>
      <p:sp>
        <p:nvSpPr>
          <p:cNvPr id="391172" name="Text Box 4"/>
          <p:cNvSpPr txBox="1">
            <a:spLocks noChangeArrowheads="1"/>
          </p:cNvSpPr>
          <p:nvPr/>
        </p:nvSpPr>
        <p:spPr bwMode="auto">
          <a:xfrm>
            <a:off x="769267" y="7648932"/>
            <a:ext cx="350375" cy="378488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med" len="lg"/>
          </a:ln>
          <a:effectLst/>
        </p:spPr>
        <p:txBody>
          <a:bodyPr lIns="12154" tIns="12154" rIns="12154" bIns="12154">
            <a:spAutoFit/>
          </a:bodyPr>
          <a:lstStyle/>
          <a:p>
            <a:pPr defTabSz="786738">
              <a:buClr>
                <a:srgbClr val="000000"/>
              </a:buClr>
            </a:pPr>
            <a:r>
              <a:rPr lang="en-US" sz="2300" dirty="0">
                <a:latin typeface="Arial" charset="0"/>
              </a:rPr>
              <a:t>…</a:t>
            </a:r>
          </a:p>
        </p:txBody>
      </p:sp>
      <p:pic>
        <p:nvPicPr>
          <p:cNvPr id="39117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3939" y="7207918"/>
            <a:ext cx="5405113" cy="652137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</p:pic>
      <p:pic>
        <p:nvPicPr>
          <p:cNvPr id="39117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8386" y="7969527"/>
            <a:ext cx="5585750" cy="716257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  <a:effectLst/>
        </p:spPr>
      </p:pic>
    </p:spTree>
    <p:extLst>
      <p:ext uri="{BB962C8B-B14F-4D97-AF65-F5344CB8AC3E}">
        <p14:creationId xmlns:p14="http://schemas.microsoft.com/office/powerpoint/2010/main" val="2680648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287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BE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Connecteur droit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riangle isocè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riangle isocè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riangle isocè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re et texte sur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8229600" cy="21891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8EECCCE-710D-4B93-BCAC-035EB34A1622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8296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307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75B05AE-4B9B-4AD3-91A2-DDB36665F343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42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10/09/2024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28" name="Connecteur droit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Connecteur droit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angle isocè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 smtClean="0"/>
              <a:t>Requêtes  SQL (SELECT)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268760"/>
            <a:ext cx="3057525" cy="149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212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115616" y="2924944"/>
            <a:ext cx="6858000" cy="1066800"/>
          </a:xfrm>
        </p:spPr>
        <p:txBody>
          <a:bodyPr>
            <a:normAutofit fontScale="90000"/>
          </a:bodyPr>
          <a:lstStyle/>
          <a:p>
            <a:r>
              <a:rPr lang="fr-CA" dirty="0" smtClean="0"/>
              <a:t>Bref aperçu des concepts de base des bases de données relationnelles  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508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404664"/>
            <a:ext cx="8928992" cy="576064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fr-FR" sz="3200" dirty="0" smtClean="0"/>
              <a:t>Définition d’une Base de Données Relationnelle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268760"/>
            <a:ext cx="8568951" cy="1584176"/>
          </a:xfrm>
          <a:ln>
            <a:solidFill>
              <a:srgbClr val="FF0000"/>
            </a:solidFill>
          </a:ln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Au sens du modèle relationnel, une BD relationnelle est un ensemble de </a:t>
            </a:r>
            <a:r>
              <a:rPr lang="fr-FR" b="1" u="sng" dirty="0" smtClean="0"/>
              <a:t>relations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Une relation est </a:t>
            </a:r>
            <a:r>
              <a:rPr lang="fr-CA" dirty="0" smtClean="0"/>
              <a:t>un</a:t>
            </a:r>
            <a:r>
              <a:rPr lang="fr-CA" dirty="0"/>
              <a:t> ensemble d'attributs qui définissent </a:t>
            </a:r>
            <a:r>
              <a:rPr lang="fr-CA" b="1" dirty="0"/>
              <a:t>un </a:t>
            </a:r>
            <a:r>
              <a:rPr lang="fr-CA" b="1" dirty="0" smtClean="0"/>
              <a:t>fait</a:t>
            </a:r>
            <a:r>
              <a:rPr lang="fr-CA" dirty="0" smtClean="0"/>
              <a:t>.</a:t>
            </a:r>
            <a:r>
              <a:rPr lang="fr-CA" dirty="0"/>
              <a:t> 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Les relations sont plus communément appelées </a:t>
            </a:r>
            <a:r>
              <a:rPr lang="fr-FR" b="1" dirty="0" smtClean="0"/>
              <a:t>tables.</a:t>
            </a:r>
          </a:p>
          <a:p>
            <a:pPr lvl="1">
              <a:defRPr/>
            </a:pPr>
            <a:r>
              <a:rPr lang="fr-FR" dirty="0" smtClean="0"/>
              <a:t>Ainsi, dans l’exemple suivant on a 2 relations (ou tables): </a:t>
            </a:r>
            <a:r>
              <a:rPr lang="fr-FR" b="1" dirty="0" err="1" smtClean="0"/>
              <a:t>emp</a:t>
            </a:r>
            <a:r>
              <a:rPr lang="fr-FR" dirty="0" smtClean="0"/>
              <a:t> et </a:t>
            </a:r>
            <a:r>
              <a:rPr lang="fr-FR" b="1" dirty="0" err="1" smtClean="0"/>
              <a:t>dept</a:t>
            </a:r>
            <a:r>
              <a:rPr lang="fr-FR" dirty="0" smtClean="0"/>
              <a:t>.</a:t>
            </a:r>
          </a:p>
          <a:p>
            <a:pPr marL="0" indent="0">
              <a:buFontTx/>
              <a:buNone/>
              <a:defRPr/>
            </a:pPr>
            <a:endParaRPr lang="fr-FR" dirty="0" smtClean="0"/>
          </a:p>
          <a:p>
            <a:pPr marL="0" indent="0">
              <a:buFontTx/>
              <a:buNone/>
              <a:defRPr/>
            </a:pPr>
            <a:endParaRPr lang="fr-FR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676275" y="3324498"/>
            <a:ext cx="7707313" cy="3454105"/>
            <a:chOff x="676275" y="2516188"/>
            <a:chExt cx="7707313" cy="3814762"/>
          </a:xfrm>
        </p:grpSpPr>
        <p:sp>
          <p:nvSpPr>
            <p:cNvPr id="16388" name="Rectangle 4"/>
            <p:cNvSpPr>
              <a:spLocks noChangeArrowheads="1"/>
            </p:cNvSpPr>
            <p:nvPr/>
          </p:nvSpPr>
          <p:spPr bwMode="ltGray">
            <a:xfrm>
              <a:off x="3654425" y="2865438"/>
              <a:ext cx="1662113" cy="1030287"/>
            </a:xfrm>
            <a:prstGeom prst="rect">
              <a:avLst/>
            </a:prstGeom>
            <a:gradFill rotWithShape="0">
              <a:gsLst>
                <a:gs pos="0">
                  <a:srgbClr val="8E8E8E"/>
                </a:gs>
                <a:gs pos="50000">
                  <a:srgbClr val="B2B2B2"/>
                </a:gs>
                <a:gs pos="100000">
                  <a:srgbClr val="8E8E8E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sp>
          <p:nvSpPr>
            <p:cNvPr id="16389" name="Oval 5"/>
            <p:cNvSpPr>
              <a:spLocks noChangeArrowheads="1"/>
            </p:cNvSpPr>
            <p:nvPr/>
          </p:nvSpPr>
          <p:spPr bwMode="ltGray">
            <a:xfrm>
              <a:off x="3654425" y="2516188"/>
              <a:ext cx="1662113" cy="660400"/>
            </a:xfrm>
            <a:prstGeom prst="ellipse">
              <a:avLst/>
            </a:prstGeom>
            <a:gradFill rotWithShape="0">
              <a:gsLst>
                <a:gs pos="0">
                  <a:srgbClr val="A0A0A0"/>
                </a:gs>
                <a:gs pos="100000">
                  <a:srgbClr val="B2B2B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sp>
          <p:nvSpPr>
            <p:cNvPr id="16390" name="Oval 6"/>
            <p:cNvSpPr>
              <a:spLocks noChangeArrowheads="1"/>
            </p:cNvSpPr>
            <p:nvPr/>
          </p:nvSpPr>
          <p:spPr bwMode="ltGray">
            <a:xfrm>
              <a:off x="3654425" y="3575050"/>
              <a:ext cx="1662113" cy="660400"/>
            </a:xfrm>
            <a:prstGeom prst="ellipse">
              <a:avLst/>
            </a:prstGeom>
            <a:gradFill rotWithShape="0">
              <a:gsLst>
                <a:gs pos="0">
                  <a:srgbClr val="8E8E8E"/>
                </a:gs>
                <a:gs pos="50000">
                  <a:srgbClr val="B2B2B2"/>
                </a:gs>
                <a:gs pos="100000">
                  <a:srgbClr val="8E8E8E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sp>
          <p:nvSpPr>
            <p:cNvPr id="13319" name="Rectangle 7"/>
            <p:cNvSpPr>
              <a:spLocks noChangeArrowheads="1"/>
            </p:cNvSpPr>
            <p:nvPr/>
          </p:nvSpPr>
          <p:spPr bwMode="auto">
            <a:xfrm>
              <a:off x="4191000" y="2667000"/>
              <a:ext cx="587375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fr-FR" sz="22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BD</a:t>
              </a:r>
            </a:p>
          </p:txBody>
        </p:sp>
        <p:grpSp>
          <p:nvGrpSpPr>
            <p:cNvPr id="2" name="Group 17"/>
            <p:cNvGrpSpPr>
              <a:grpSpLocks/>
            </p:cNvGrpSpPr>
            <p:nvPr/>
          </p:nvGrpSpPr>
          <p:grpSpPr bwMode="auto">
            <a:xfrm>
              <a:off x="3840163" y="3314700"/>
              <a:ext cx="1198562" cy="725488"/>
              <a:chOff x="2419" y="2088"/>
              <a:chExt cx="755" cy="457"/>
            </a:xfrm>
          </p:grpSpPr>
          <p:sp>
            <p:nvSpPr>
              <p:cNvPr id="16414" name="Rectangle 8"/>
              <p:cNvSpPr>
                <a:spLocks noChangeArrowheads="1"/>
              </p:cNvSpPr>
              <p:nvPr/>
            </p:nvSpPr>
            <p:spPr bwMode="blackWhite">
              <a:xfrm>
                <a:off x="2419" y="2088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15" name="Rectangle 9"/>
              <p:cNvSpPr>
                <a:spLocks noChangeArrowheads="1"/>
              </p:cNvSpPr>
              <p:nvPr/>
            </p:nvSpPr>
            <p:spPr bwMode="blackWhite">
              <a:xfrm>
                <a:off x="2690" y="2088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16" name="Rectangle 10"/>
              <p:cNvSpPr>
                <a:spLocks noChangeArrowheads="1"/>
              </p:cNvSpPr>
              <p:nvPr/>
            </p:nvSpPr>
            <p:spPr bwMode="blackWhite">
              <a:xfrm>
                <a:off x="2959" y="2088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17" name="Rectangle 11"/>
              <p:cNvSpPr>
                <a:spLocks noChangeArrowheads="1"/>
              </p:cNvSpPr>
              <p:nvPr/>
            </p:nvSpPr>
            <p:spPr bwMode="blackWhite">
              <a:xfrm>
                <a:off x="2420" y="2259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18" name="Rectangle 12"/>
              <p:cNvSpPr>
                <a:spLocks noChangeArrowheads="1"/>
              </p:cNvSpPr>
              <p:nvPr/>
            </p:nvSpPr>
            <p:spPr bwMode="blackWhite">
              <a:xfrm>
                <a:off x="2691" y="2259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19" name="Rectangle 13"/>
              <p:cNvSpPr>
                <a:spLocks noChangeArrowheads="1"/>
              </p:cNvSpPr>
              <p:nvPr/>
            </p:nvSpPr>
            <p:spPr bwMode="blackWhite">
              <a:xfrm>
                <a:off x="2960" y="2259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20" name="Rectangle 14"/>
              <p:cNvSpPr>
                <a:spLocks noChangeArrowheads="1"/>
              </p:cNvSpPr>
              <p:nvPr/>
            </p:nvSpPr>
            <p:spPr bwMode="blackWhite">
              <a:xfrm>
                <a:off x="2420" y="2427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21" name="Rectangle 15"/>
              <p:cNvSpPr>
                <a:spLocks noChangeArrowheads="1"/>
              </p:cNvSpPr>
              <p:nvPr/>
            </p:nvSpPr>
            <p:spPr bwMode="blackWhite">
              <a:xfrm>
                <a:off x="2691" y="2427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16422" name="Rectangle 16"/>
              <p:cNvSpPr>
                <a:spLocks noChangeArrowheads="1"/>
              </p:cNvSpPr>
              <p:nvPr/>
            </p:nvSpPr>
            <p:spPr bwMode="blackWhite">
              <a:xfrm>
                <a:off x="2960" y="2427"/>
                <a:ext cx="214" cy="118"/>
              </a:xfrm>
              <a:prstGeom prst="rect">
                <a:avLst/>
              </a:prstGeom>
              <a:gradFill rotWithShape="0">
                <a:gsLst>
                  <a:gs pos="0">
                    <a:srgbClr val="E5895C"/>
                  </a:gs>
                  <a:gs pos="50000">
                    <a:srgbClr val="FF9966"/>
                  </a:gs>
                  <a:gs pos="100000">
                    <a:srgbClr val="E5895C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</p:grpSp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4572000" y="3848100"/>
              <a:ext cx="3811588" cy="2362200"/>
              <a:chOff x="2880" y="2424"/>
              <a:chExt cx="2401" cy="1488"/>
            </a:xfrm>
          </p:grpSpPr>
          <p:sp>
            <p:nvSpPr>
              <p:cNvPr id="16405" name="Freeform 18"/>
              <p:cNvSpPr>
                <a:spLocks/>
              </p:cNvSpPr>
              <p:nvPr/>
            </p:nvSpPr>
            <p:spPr bwMode="blackWhite">
              <a:xfrm>
                <a:off x="2880" y="2424"/>
                <a:ext cx="2401" cy="708"/>
              </a:xfrm>
              <a:custGeom>
                <a:avLst/>
                <a:gdLst>
                  <a:gd name="T0" fmla="*/ 246 w 2401"/>
                  <a:gd name="T1" fmla="*/ 0 h 708"/>
                  <a:gd name="T2" fmla="*/ 2400 w 2401"/>
                  <a:gd name="T3" fmla="*/ 707 h 708"/>
                  <a:gd name="T4" fmla="*/ 0 w 2401"/>
                  <a:gd name="T5" fmla="*/ 707 h 708"/>
                  <a:gd name="T6" fmla="*/ 73 w 2401"/>
                  <a:gd name="T7" fmla="*/ 0 h 708"/>
                  <a:gd name="T8" fmla="*/ 246 w 2401"/>
                  <a:gd name="T9" fmla="*/ 0 h 7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01"/>
                  <a:gd name="T16" fmla="*/ 0 h 708"/>
                  <a:gd name="T17" fmla="*/ 2401 w 2401"/>
                  <a:gd name="T18" fmla="*/ 708 h 7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01" h="708">
                    <a:moveTo>
                      <a:pt x="246" y="0"/>
                    </a:moveTo>
                    <a:lnTo>
                      <a:pt x="2400" y="707"/>
                    </a:lnTo>
                    <a:lnTo>
                      <a:pt x="0" y="707"/>
                    </a:lnTo>
                    <a:lnTo>
                      <a:pt x="73" y="0"/>
                    </a:lnTo>
                    <a:lnTo>
                      <a:pt x="246" y="0"/>
                    </a:lnTo>
                  </a:path>
                </a:pathLst>
              </a:custGeom>
              <a:solidFill>
                <a:srgbClr val="FF3300">
                  <a:alpha val="50195"/>
                </a:srgbClr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3331" name="Rectangle 19"/>
              <p:cNvSpPr>
                <a:spLocks noChangeArrowheads="1"/>
              </p:cNvSpPr>
              <p:nvPr/>
            </p:nvSpPr>
            <p:spPr bwMode="blackWhite">
              <a:xfrm>
                <a:off x="2888" y="3120"/>
                <a:ext cx="2378" cy="786"/>
              </a:xfrm>
              <a:prstGeom prst="rect">
                <a:avLst/>
              </a:prstGeom>
              <a:gradFill rotWithShape="0">
                <a:gsLst>
                  <a:gs pos="0">
                    <a:srgbClr val="FF9966">
                      <a:gamma/>
                      <a:shade val="89804"/>
                      <a:invGamma/>
                    </a:srgbClr>
                  </a:gs>
                  <a:gs pos="50000">
                    <a:srgbClr val="FF9966"/>
                  </a:gs>
                  <a:gs pos="100000">
                    <a:srgbClr val="FF9966">
                      <a:gamma/>
                      <a:shade val="89804"/>
                      <a:invGamma/>
                    </a:srgbClr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53882" dir="2700000" algn="ctr" rotWithShape="0">
                  <a:srgbClr val="000000"/>
                </a:outerShdw>
              </a:effectLst>
            </p:spPr>
            <p:txBody>
              <a:bodyPr lIns="92075" tIns="46038" rIns="92075" bIns="46038">
                <a:spAutoFit/>
              </a:bodyPr>
              <a:lstStyle/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>
                    <a:solidFill>
                      <a:srgbClr val="000000"/>
                    </a:solidFill>
                    <a:latin typeface="Courier New" pitchFamily="49" charset="0"/>
                  </a:rPr>
                  <a:t>DEPTNO  DNAME  		LOC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>
                    <a:solidFill>
                      <a:srgbClr val="000000"/>
                    </a:solidFill>
                    <a:latin typeface="Courier New" pitchFamily="49" charset="0"/>
                  </a:rPr>
                  <a:t>    10  ACCOUNTING  	NEW YORK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>
                    <a:solidFill>
                      <a:srgbClr val="000000"/>
                    </a:solidFill>
                    <a:latin typeface="Courier New" pitchFamily="49" charset="0"/>
                  </a:rPr>
                  <a:t>    20  RESEARCH    	DALLAS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>
                    <a:solidFill>
                      <a:srgbClr val="000000"/>
                    </a:solidFill>
                    <a:latin typeface="Courier New" pitchFamily="49" charset="0"/>
                  </a:rPr>
                  <a:t>	    30  SALES       	CHICAGO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>
                    <a:solidFill>
                      <a:srgbClr val="000000"/>
                    </a:solidFill>
                    <a:latin typeface="Courier New" pitchFamily="49" charset="0"/>
                  </a:rPr>
                  <a:t>	    40  OPERATIONS 	BOSTON</a:t>
                </a:r>
              </a:p>
            </p:txBody>
          </p:sp>
          <p:sp>
            <p:nvSpPr>
              <p:cNvPr id="13332" name="Rectangle 20"/>
              <p:cNvSpPr>
                <a:spLocks noChangeArrowheads="1"/>
              </p:cNvSpPr>
              <p:nvPr/>
            </p:nvSpPr>
            <p:spPr bwMode="blackWhite">
              <a:xfrm>
                <a:off x="2978" y="2867"/>
                <a:ext cx="147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fr-FR" sz="18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itchFamily="34" charset="0"/>
                  </a:rPr>
                  <a:t>Nom de table : </a:t>
                </a:r>
                <a:r>
                  <a:rPr lang="fr-FR" sz="1800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itchFamily="34" charset="0"/>
                  </a:rPr>
                  <a:t>DEPT</a:t>
                </a:r>
              </a:p>
            </p:txBody>
          </p:sp>
          <p:sp>
            <p:nvSpPr>
              <p:cNvPr id="16408" name="Line 21"/>
              <p:cNvSpPr>
                <a:spLocks noChangeShapeType="1"/>
              </p:cNvSpPr>
              <p:nvPr/>
            </p:nvSpPr>
            <p:spPr bwMode="blackWhite">
              <a:xfrm>
                <a:off x="2896" y="3296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09" name="Line 22"/>
              <p:cNvSpPr>
                <a:spLocks noChangeShapeType="1"/>
              </p:cNvSpPr>
              <p:nvPr/>
            </p:nvSpPr>
            <p:spPr bwMode="blackWhite">
              <a:xfrm>
                <a:off x="2896" y="3444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10" name="Line 23"/>
              <p:cNvSpPr>
                <a:spLocks noChangeShapeType="1"/>
              </p:cNvSpPr>
              <p:nvPr/>
            </p:nvSpPr>
            <p:spPr bwMode="blackWhite">
              <a:xfrm>
                <a:off x="2896" y="3592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11" name="Line 24"/>
              <p:cNvSpPr>
                <a:spLocks noChangeShapeType="1"/>
              </p:cNvSpPr>
              <p:nvPr/>
            </p:nvSpPr>
            <p:spPr bwMode="blackWhite">
              <a:xfrm>
                <a:off x="2896" y="3740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12" name="Line 25"/>
              <p:cNvSpPr>
                <a:spLocks noChangeShapeType="1"/>
              </p:cNvSpPr>
              <p:nvPr/>
            </p:nvSpPr>
            <p:spPr bwMode="blackWhite">
              <a:xfrm>
                <a:off x="3340" y="3120"/>
                <a:ext cx="0" cy="7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13" name="Line 26"/>
              <p:cNvSpPr>
                <a:spLocks noChangeShapeType="1"/>
              </p:cNvSpPr>
              <p:nvPr/>
            </p:nvSpPr>
            <p:spPr bwMode="blackWhite">
              <a:xfrm>
                <a:off x="4092" y="3120"/>
                <a:ext cx="0" cy="7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</p:grpSp>
        <p:grpSp>
          <p:nvGrpSpPr>
            <p:cNvPr id="4" name="Group 38"/>
            <p:cNvGrpSpPr>
              <a:grpSpLocks/>
            </p:cNvGrpSpPr>
            <p:nvPr/>
          </p:nvGrpSpPr>
          <p:grpSpPr bwMode="auto">
            <a:xfrm>
              <a:off x="676275" y="3848100"/>
              <a:ext cx="3787775" cy="2482850"/>
              <a:chOff x="426" y="2424"/>
              <a:chExt cx="2386" cy="1564"/>
            </a:xfrm>
          </p:grpSpPr>
          <p:sp>
            <p:nvSpPr>
              <p:cNvPr id="16395" name="Freeform 28"/>
              <p:cNvSpPr>
                <a:spLocks/>
              </p:cNvSpPr>
              <p:nvPr/>
            </p:nvSpPr>
            <p:spPr bwMode="blackWhite">
              <a:xfrm>
                <a:off x="426" y="2424"/>
                <a:ext cx="2373" cy="717"/>
              </a:xfrm>
              <a:custGeom>
                <a:avLst/>
                <a:gdLst>
                  <a:gd name="T0" fmla="*/ 2009 w 2373"/>
                  <a:gd name="T1" fmla="*/ 0 h 717"/>
                  <a:gd name="T2" fmla="*/ 0 w 2373"/>
                  <a:gd name="T3" fmla="*/ 707 h 717"/>
                  <a:gd name="T4" fmla="*/ 2372 w 2373"/>
                  <a:gd name="T5" fmla="*/ 716 h 717"/>
                  <a:gd name="T6" fmla="*/ 2181 w 2373"/>
                  <a:gd name="T7" fmla="*/ 0 h 717"/>
                  <a:gd name="T8" fmla="*/ 2009 w 2373"/>
                  <a:gd name="T9" fmla="*/ 0 h 7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73"/>
                  <a:gd name="T16" fmla="*/ 0 h 717"/>
                  <a:gd name="T17" fmla="*/ 2373 w 2373"/>
                  <a:gd name="T18" fmla="*/ 717 h 7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73" h="717">
                    <a:moveTo>
                      <a:pt x="2009" y="0"/>
                    </a:moveTo>
                    <a:lnTo>
                      <a:pt x="0" y="707"/>
                    </a:lnTo>
                    <a:lnTo>
                      <a:pt x="2372" y="716"/>
                    </a:lnTo>
                    <a:lnTo>
                      <a:pt x="2181" y="0"/>
                    </a:lnTo>
                    <a:lnTo>
                      <a:pt x="2009" y="0"/>
                    </a:lnTo>
                  </a:path>
                </a:pathLst>
              </a:custGeom>
              <a:solidFill>
                <a:srgbClr val="FF3300">
                  <a:alpha val="50195"/>
                </a:srgbClr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3341" name="Rectangle 29"/>
              <p:cNvSpPr>
                <a:spLocks noChangeArrowheads="1"/>
              </p:cNvSpPr>
              <p:nvPr/>
            </p:nvSpPr>
            <p:spPr bwMode="blackWhite">
              <a:xfrm>
                <a:off x="432" y="3120"/>
                <a:ext cx="2378" cy="868"/>
              </a:xfrm>
              <a:prstGeom prst="rect">
                <a:avLst/>
              </a:prstGeom>
              <a:gradFill rotWithShape="0">
                <a:gsLst>
                  <a:gs pos="0">
                    <a:srgbClr val="FF9966">
                      <a:gamma/>
                      <a:shade val="89804"/>
                      <a:invGamma/>
                    </a:srgbClr>
                  </a:gs>
                  <a:gs pos="50000">
                    <a:srgbClr val="FF9966"/>
                  </a:gs>
                  <a:gs pos="100000">
                    <a:srgbClr val="FF9966">
                      <a:gamma/>
                      <a:shade val="89804"/>
                      <a:invGamma/>
                    </a:srgbClr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53882" dir="2700000" algn="ctr" rotWithShape="0">
                  <a:srgbClr val="000000"/>
                </a:outerShdw>
              </a:effectLst>
            </p:spPr>
            <p:txBody>
              <a:bodyPr lIns="92075" tIns="46038" rIns="92075" bIns="46038">
                <a:spAutoFit/>
              </a:bodyPr>
              <a:lstStyle/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 dirty="0">
                    <a:solidFill>
                      <a:srgbClr val="000000"/>
                    </a:solidFill>
                    <a:latin typeface="Courier New" pitchFamily="49" charset="0"/>
                  </a:rPr>
                  <a:t>	EMPNO     ENAME      JOB		  DEPTNO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 dirty="0">
                    <a:solidFill>
                      <a:srgbClr val="000000"/>
                    </a:solidFill>
                    <a:latin typeface="Courier New" pitchFamily="49" charset="0"/>
                  </a:rPr>
                  <a:t>	 7839     KING       PRESIDENT	      10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 dirty="0">
                    <a:solidFill>
                      <a:srgbClr val="000000"/>
                    </a:solidFill>
                    <a:latin typeface="Courier New" pitchFamily="49" charset="0"/>
                  </a:rPr>
                  <a:t> 7698     BLAKE      MANAGER	      30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 dirty="0">
                    <a:solidFill>
                      <a:srgbClr val="000000"/>
                    </a:solidFill>
                    <a:latin typeface="Courier New" pitchFamily="49" charset="0"/>
                  </a:rPr>
                  <a:t>	 7782     CLARK      MANAGER  	      10</a:t>
                </a:r>
              </a:p>
              <a:p>
                <a:pPr algn="l" defTabSz="400050">
                  <a:lnSpc>
                    <a:spcPct val="125000"/>
                  </a:lnSpc>
                  <a:spcBef>
                    <a:spcPct val="0"/>
                  </a:spcBef>
                  <a:tabLst>
                    <a:tab pos="400050" algn="r"/>
                    <a:tab pos="685800" algn="l"/>
                  </a:tabLst>
                  <a:defRPr/>
                </a:pPr>
                <a:r>
                  <a:rPr lang="fr-FR" sz="1200" b="1" dirty="0">
                    <a:solidFill>
                      <a:srgbClr val="000000"/>
                    </a:solidFill>
                    <a:latin typeface="Courier New" pitchFamily="49" charset="0"/>
                  </a:rPr>
                  <a:t>	 7566     JONES      MANAGER	      20</a:t>
                </a:r>
              </a:p>
            </p:txBody>
          </p:sp>
          <p:sp>
            <p:nvSpPr>
              <p:cNvPr id="13342" name="Rectangle 30"/>
              <p:cNvSpPr>
                <a:spLocks noChangeArrowheads="1"/>
              </p:cNvSpPr>
              <p:nvPr/>
            </p:nvSpPr>
            <p:spPr bwMode="blackWhite">
              <a:xfrm>
                <a:off x="1352" y="2867"/>
                <a:ext cx="14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fr-FR" sz="1800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itchFamily="34" charset="0"/>
                  </a:rPr>
                  <a:t>Nom de table : </a:t>
                </a:r>
                <a:r>
                  <a:rPr lang="fr-FR" sz="1800" b="1" dirty="0">
                    <a:solidFill>
                      <a:srgbClr val="00206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Arial" pitchFamily="34" charset="0"/>
                  </a:rPr>
                  <a:t>EMP</a:t>
                </a:r>
              </a:p>
            </p:txBody>
          </p:sp>
          <p:sp>
            <p:nvSpPr>
              <p:cNvPr id="16398" name="Line 31"/>
              <p:cNvSpPr>
                <a:spLocks noChangeShapeType="1"/>
              </p:cNvSpPr>
              <p:nvPr/>
            </p:nvSpPr>
            <p:spPr bwMode="blackWhite">
              <a:xfrm>
                <a:off x="428" y="3296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399" name="Line 32"/>
              <p:cNvSpPr>
                <a:spLocks noChangeShapeType="1"/>
              </p:cNvSpPr>
              <p:nvPr/>
            </p:nvSpPr>
            <p:spPr bwMode="blackWhite">
              <a:xfrm>
                <a:off x="428" y="3444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00" name="Line 33"/>
              <p:cNvSpPr>
                <a:spLocks noChangeShapeType="1"/>
              </p:cNvSpPr>
              <p:nvPr/>
            </p:nvSpPr>
            <p:spPr bwMode="blackWhite">
              <a:xfrm>
                <a:off x="428" y="3592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01" name="Line 34"/>
              <p:cNvSpPr>
                <a:spLocks noChangeShapeType="1"/>
              </p:cNvSpPr>
              <p:nvPr/>
            </p:nvSpPr>
            <p:spPr bwMode="blackWhite">
              <a:xfrm>
                <a:off x="428" y="3740"/>
                <a:ext cx="2384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02" name="Line 35"/>
              <p:cNvSpPr>
                <a:spLocks noChangeShapeType="1"/>
              </p:cNvSpPr>
              <p:nvPr/>
            </p:nvSpPr>
            <p:spPr bwMode="blackWhite">
              <a:xfrm>
                <a:off x="920" y="3120"/>
                <a:ext cx="0" cy="7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03" name="Line 36"/>
              <p:cNvSpPr>
                <a:spLocks noChangeShapeType="1"/>
              </p:cNvSpPr>
              <p:nvPr/>
            </p:nvSpPr>
            <p:spPr bwMode="blackWhite">
              <a:xfrm>
                <a:off x="1508" y="3120"/>
                <a:ext cx="0" cy="7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16404" name="Line 37"/>
              <p:cNvSpPr>
                <a:spLocks noChangeShapeType="1"/>
              </p:cNvSpPr>
              <p:nvPr/>
            </p:nvSpPr>
            <p:spPr bwMode="blackWhite">
              <a:xfrm>
                <a:off x="2260" y="3120"/>
                <a:ext cx="0" cy="7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</p:grpSp>
      </p:grpSp>
      <p:sp>
        <p:nvSpPr>
          <p:cNvPr id="42" name="Espace réservé du numéro de diapositive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4990E-3DEB-49B6-B47F-4768F9739EAD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6630324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268760"/>
            <a:ext cx="8712968" cy="4951452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fr-FR" sz="2400" b="1" dirty="0" err="1" smtClean="0"/>
              <a:t>Tuple</a:t>
            </a:r>
            <a:r>
              <a:rPr lang="fr-FR" sz="2400" b="1" dirty="0" smtClean="0"/>
              <a:t> ou enregistrement</a:t>
            </a:r>
            <a:r>
              <a:rPr lang="fr-FR" sz="2400" dirty="0" smtClean="0"/>
              <a:t> :</a:t>
            </a:r>
          </a:p>
          <a:p>
            <a:pPr lvl="1">
              <a:spcBef>
                <a:spcPct val="0"/>
              </a:spcBef>
            </a:pPr>
            <a:r>
              <a:rPr lang="fr-FR" sz="2000" dirty="0" smtClean="0"/>
              <a:t>Chaque </a:t>
            </a:r>
            <a:r>
              <a:rPr lang="fr-FR" sz="2000" b="1" dirty="0" smtClean="0"/>
              <a:t>ligne</a:t>
            </a:r>
            <a:r>
              <a:rPr lang="fr-FR" sz="2000" dirty="0" smtClean="0"/>
              <a:t> dans une table.</a:t>
            </a:r>
          </a:p>
          <a:p>
            <a:pPr lvl="1">
              <a:spcBef>
                <a:spcPct val="0"/>
              </a:spcBef>
            </a:pPr>
            <a:r>
              <a:rPr lang="fr-FR" dirty="0"/>
              <a:t>Chaque enregistrement dans </a:t>
            </a:r>
            <a:r>
              <a:rPr lang="fr-FR" dirty="0" smtClean="0"/>
              <a:t>une </a:t>
            </a:r>
            <a:r>
              <a:rPr lang="fr-FR" dirty="0"/>
              <a:t>table </a:t>
            </a:r>
            <a:r>
              <a:rPr lang="fr-FR" dirty="0" smtClean="0"/>
              <a:t>est unique</a:t>
            </a:r>
          </a:p>
          <a:p>
            <a:pPr lvl="1">
              <a:spcBef>
                <a:spcPct val="0"/>
              </a:spcBef>
            </a:pPr>
            <a:r>
              <a:rPr lang="fr-FR" sz="2000" dirty="0" smtClean="0"/>
              <a:t>Le nombre d’enregistrements est indéterminé(évolue au fur et à mesure qu’on ajoute des données)</a:t>
            </a:r>
          </a:p>
          <a:p>
            <a:pPr>
              <a:spcBef>
                <a:spcPct val="0"/>
              </a:spcBef>
            </a:pPr>
            <a:r>
              <a:rPr lang="fr-FR" sz="2000" b="1" dirty="0" smtClean="0"/>
              <a:t>Attribut : </a:t>
            </a:r>
          </a:p>
          <a:p>
            <a:pPr lvl="1">
              <a:spcBef>
                <a:spcPct val="0"/>
              </a:spcBef>
            </a:pPr>
            <a:r>
              <a:rPr lang="fr-FR" sz="2000" dirty="0" smtClean="0"/>
              <a:t>Chaque colonne dans une table.</a:t>
            </a:r>
          </a:p>
          <a:p>
            <a:pPr lvl="1">
              <a:spcBef>
                <a:spcPct val="0"/>
              </a:spcBef>
            </a:pPr>
            <a:r>
              <a:rPr lang="fr-FR" sz="2000" dirty="0" smtClean="0"/>
              <a:t>Le nombre d’attributs est </a:t>
            </a:r>
            <a:r>
              <a:rPr lang="fr-FR" sz="2000" b="1" dirty="0" smtClean="0"/>
              <a:t>fixe</a:t>
            </a:r>
            <a:r>
              <a:rPr lang="fr-FR" sz="2000" dirty="0" smtClean="0"/>
              <a:t> (défini à la création de la table)</a:t>
            </a:r>
          </a:p>
          <a:p>
            <a:pPr>
              <a:spcBef>
                <a:spcPct val="0"/>
              </a:spcBef>
              <a:tabLst>
                <a:tab pos="577850" algn="l"/>
              </a:tabLst>
            </a:pPr>
            <a:r>
              <a:rPr lang="fr-FR" sz="2400" b="1" dirty="0" smtClean="0"/>
              <a:t>Champ</a:t>
            </a:r>
          </a:p>
          <a:p>
            <a:pPr lvl="1">
              <a:spcBef>
                <a:spcPct val="0"/>
              </a:spcBef>
              <a:tabLst>
                <a:tab pos="577850" algn="l"/>
              </a:tabLst>
            </a:pPr>
            <a:r>
              <a:rPr lang="fr-FR" sz="2000" dirty="0" smtClean="0"/>
              <a:t>Valeu</a:t>
            </a:r>
            <a:r>
              <a:rPr lang="fr-FR" dirty="0" smtClean="0"/>
              <a:t>r à l’intersection d’une ligne et d’une colonne.</a:t>
            </a:r>
          </a:p>
          <a:p>
            <a:pPr>
              <a:spcBef>
                <a:spcPct val="0"/>
              </a:spcBef>
              <a:tabLst>
                <a:tab pos="577850" algn="l"/>
              </a:tabLst>
            </a:pPr>
            <a:r>
              <a:rPr lang="fr-CA" dirty="0"/>
              <a:t>Cardinalité de relation</a:t>
            </a:r>
          </a:p>
          <a:p>
            <a:pPr lvl="1">
              <a:spcBef>
                <a:spcPct val="0"/>
              </a:spcBef>
              <a:tabLst>
                <a:tab pos="577850" algn="l"/>
              </a:tabLst>
            </a:pPr>
            <a:r>
              <a:rPr lang="fr-CA" dirty="0" smtClean="0"/>
              <a:t>Les </a:t>
            </a:r>
            <a:r>
              <a:rPr lang="fr-CA" dirty="0"/>
              <a:t>cardinalités d’une entité dans une association expriment le nombre de fois qu’une occurrence de cette entité peut être impliquée dans une occurrence de l'association, au minimum et au maximum</a:t>
            </a:r>
            <a:r>
              <a:rPr lang="fr-CA" dirty="0" smtClean="0"/>
              <a:t>.</a:t>
            </a:r>
          </a:p>
          <a:p>
            <a:pPr lvl="1">
              <a:spcBef>
                <a:spcPct val="0"/>
              </a:spcBef>
              <a:tabLst>
                <a:tab pos="577850" algn="l"/>
              </a:tabLst>
            </a:pPr>
            <a:r>
              <a:rPr lang="fr-CA" sz="2000" dirty="0" smtClean="0"/>
              <a:t>Dans le modèle relationnel, on utilise généralement les cardinalités suivantes:</a:t>
            </a:r>
          </a:p>
          <a:p>
            <a:pPr lvl="2">
              <a:spcBef>
                <a:spcPct val="0"/>
              </a:spcBef>
              <a:tabLst>
                <a:tab pos="577850" algn="l"/>
              </a:tabLst>
            </a:pPr>
            <a:r>
              <a:rPr lang="fr-CA" sz="1800" dirty="0" smtClean="0"/>
              <a:t>0,n  (ou 1,n)</a:t>
            </a:r>
          </a:p>
          <a:p>
            <a:pPr lvl="2">
              <a:spcBef>
                <a:spcPct val="0"/>
              </a:spcBef>
              <a:tabLst>
                <a:tab pos="577850" algn="l"/>
              </a:tabLst>
            </a:pPr>
            <a:r>
              <a:rPr lang="fr-CA" dirty="0" smtClean="0"/>
              <a:t>n, n</a:t>
            </a:r>
          </a:p>
          <a:p>
            <a:pPr lvl="2">
              <a:spcBef>
                <a:spcPct val="0"/>
              </a:spcBef>
              <a:tabLst>
                <a:tab pos="577850" algn="l"/>
              </a:tabLst>
            </a:pPr>
            <a:r>
              <a:rPr lang="fr-CA" sz="1800" dirty="0" smtClean="0"/>
              <a:t>1, 1</a:t>
            </a:r>
            <a:endParaRPr lang="fr-CA" sz="18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4282" y="404664"/>
            <a:ext cx="8472518" cy="524006"/>
          </a:xfrm>
        </p:spPr>
        <p:txBody>
          <a:bodyPr>
            <a:normAutofit fontScale="90000"/>
          </a:bodyPr>
          <a:lstStyle/>
          <a:p>
            <a:r>
              <a:rPr lang="fr-CA" dirty="0" smtClean="0"/>
              <a:t>Attribut et </a:t>
            </a:r>
            <a:r>
              <a:rPr lang="fr-CA" dirty="0" err="1" smtClean="0"/>
              <a:t>Tuple</a:t>
            </a:r>
            <a:endParaRPr lang="fr-CA" dirty="0"/>
          </a:p>
        </p:txBody>
      </p:sp>
      <p:pic>
        <p:nvPicPr>
          <p:cNvPr id="4" name="Picture 2" descr="http://static.commentcamarche.net/www.commentcamarche.net/pictures/relation-images-table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188641"/>
            <a:ext cx="2160240" cy="1496250"/>
          </a:xfrm>
          <a:prstGeom prst="rect">
            <a:avLst/>
          </a:prstGeom>
          <a:noFill/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4990E-3DEB-49B6-B47F-4768F9739EAD}" type="slidenum">
              <a:rPr lang="fr-CA" smtClean="0"/>
              <a:pPr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925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7105650" y="6364288"/>
            <a:ext cx="1905000" cy="457200"/>
          </a:xfrm>
          <a:prstGeom prst="rect">
            <a:avLst/>
          </a:prstGeom>
          <a:noFill/>
        </p:spPr>
        <p:txBody>
          <a:bodyPr/>
          <a:lstStyle/>
          <a:p>
            <a:fld id="{A02EBC94-63C7-492C-853F-D0954C17EF07}" type="slidenum">
              <a:rPr lang="fr-CA"/>
              <a:pPr/>
              <a:t>5</a:t>
            </a:fld>
            <a:endParaRPr lang="fr-CA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533400"/>
            <a:ext cx="8507288" cy="663352"/>
          </a:xfrm>
        </p:spPr>
        <p:txBody>
          <a:bodyPr>
            <a:normAutofit/>
          </a:bodyPr>
          <a:lstStyle/>
          <a:p>
            <a:r>
              <a:rPr lang="fr-CA" dirty="0" smtClean="0"/>
              <a:t>Propriétés des relations(tables)</a:t>
            </a:r>
            <a:endParaRPr lang="fr-FR" b="0" dirty="0" smtClean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340768"/>
            <a:ext cx="8496944" cy="4876800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fr-CA" dirty="0" smtClean="0"/>
              <a:t>Chaque relation a un nom unique</a:t>
            </a:r>
          </a:p>
          <a:p>
            <a:pPr>
              <a:spcAft>
                <a:spcPts val="1200"/>
              </a:spcAft>
            </a:pPr>
            <a:r>
              <a:rPr lang="fr-CA" dirty="0" smtClean="0"/>
              <a:t>Chaque attribut d'une relation donnée a un nom unique</a:t>
            </a:r>
          </a:p>
          <a:p>
            <a:pPr>
              <a:spcAft>
                <a:spcPts val="1200"/>
              </a:spcAft>
            </a:pPr>
            <a:r>
              <a:rPr lang="fr-CA" dirty="0" smtClean="0"/>
              <a:t>Le nombre d'attributs est le même pour toutes les lignes</a:t>
            </a:r>
          </a:p>
          <a:p>
            <a:pPr>
              <a:spcAft>
                <a:spcPts val="1200"/>
              </a:spcAft>
            </a:pPr>
            <a:r>
              <a:rPr lang="fr-CA" dirty="0" smtClean="0"/>
              <a:t>La valeur d'un attribut d'une ligne donnée peut être vide</a:t>
            </a:r>
          </a:p>
          <a:p>
            <a:pPr>
              <a:spcAft>
                <a:spcPts val="1200"/>
              </a:spcAft>
            </a:pPr>
            <a:r>
              <a:rPr lang="fr-CA" dirty="0" smtClean="0"/>
              <a:t>Chaque attribut a un type particulier atomique (1ère FN) </a:t>
            </a:r>
          </a:p>
          <a:p>
            <a:pPr>
              <a:spcAft>
                <a:spcPts val="1200"/>
              </a:spcAft>
            </a:pPr>
            <a:r>
              <a:rPr lang="fr-CA" dirty="0" smtClean="0"/>
              <a:t>Aucun doublon parmi les lignes.</a:t>
            </a:r>
          </a:p>
          <a:p>
            <a:pPr>
              <a:spcAft>
                <a:spcPts val="1200"/>
              </a:spcAft>
            </a:pPr>
            <a:r>
              <a:rPr lang="fr-CA" dirty="0" smtClean="0"/>
              <a:t>Ordre des colonnes/des lignes sans importance</a:t>
            </a:r>
          </a:p>
          <a:p>
            <a:pPr>
              <a:spcAft>
                <a:spcPts val="1200"/>
              </a:spcAft>
            </a:pPr>
            <a:r>
              <a:rPr lang="fr-CA" dirty="0" smtClean="0"/>
              <a:t>Contraintes additionnelles permettant de normaliser les tables pour assurer la non-redondance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72801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404664"/>
            <a:ext cx="8822214" cy="64807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fr-FR" sz="3000" dirty="0" smtClean="0"/>
              <a:t>Notions de clé primaire, clé étrangère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idx="1"/>
          </p:nvPr>
        </p:nvSpPr>
        <p:spPr>
          <a:xfrm>
            <a:off x="107504" y="1340768"/>
            <a:ext cx="8911525" cy="37467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fr-FR" sz="2000" dirty="0"/>
              <a:t>Une </a:t>
            </a:r>
            <a:r>
              <a:rPr lang="fr-FR" sz="2000" b="1" dirty="0"/>
              <a:t>clé primaire:</a:t>
            </a:r>
          </a:p>
          <a:p>
            <a:pPr lvl="1">
              <a:spcBef>
                <a:spcPct val="0"/>
              </a:spcBef>
            </a:pPr>
            <a:r>
              <a:rPr lang="fr-FR" sz="1600" b="1" dirty="0" smtClean="0"/>
              <a:t>Est un ou plusieurs attributs dont les valeurs définissent de manière unique les </a:t>
            </a:r>
            <a:r>
              <a:rPr lang="fr-FR" sz="1600" b="1" i="1" dirty="0" err="1" smtClean="0"/>
              <a:t>tuples</a:t>
            </a:r>
            <a:r>
              <a:rPr lang="fr-FR" sz="1600" b="1" dirty="0" smtClean="0"/>
              <a:t> (lignes) de la table</a:t>
            </a:r>
            <a:endParaRPr lang="fr-CA" sz="1600" b="1" dirty="0" smtClean="0"/>
          </a:p>
          <a:p>
            <a:pPr lvl="1"/>
            <a:r>
              <a:rPr lang="fr-FR" sz="2000" dirty="0" smtClean="0"/>
              <a:t>Lorsque la clé est formée d'un seul attribut, on dit qu'on a une </a:t>
            </a:r>
            <a:r>
              <a:rPr lang="fr-FR" sz="2000" b="1" i="1" dirty="0" smtClean="0"/>
              <a:t>clé simple</a:t>
            </a:r>
            <a:r>
              <a:rPr lang="fr-FR" sz="2000" dirty="0" smtClean="0"/>
              <a:t>. </a:t>
            </a:r>
          </a:p>
          <a:p>
            <a:pPr lvl="1"/>
            <a:r>
              <a:rPr lang="fr-FR" sz="2000" dirty="0" smtClean="0"/>
              <a:t>Si la clé est formée de plusieurs attributs, alors on a une </a:t>
            </a:r>
            <a:r>
              <a:rPr lang="fr-FR" sz="2000" b="1" i="1" dirty="0" smtClean="0"/>
              <a:t>clé composée</a:t>
            </a:r>
            <a:r>
              <a:rPr lang="fr-FR" sz="2000" dirty="0" smtClean="0"/>
              <a:t>.</a:t>
            </a:r>
          </a:p>
          <a:p>
            <a:pPr lvl="1"/>
            <a:r>
              <a:rPr lang="fr-FR" sz="2000" dirty="0" smtClean="0"/>
              <a:t>Exemple: le numéro de client dans la table clients</a:t>
            </a:r>
          </a:p>
          <a:p>
            <a:pPr>
              <a:spcBef>
                <a:spcPct val="0"/>
              </a:spcBef>
            </a:pPr>
            <a:r>
              <a:rPr lang="fr-FR" sz="2000" dirty="0" smtClean="0"/>
              <a:t>Une </a:t>
            </a:r>
            <a:r>
              <a:rPr lang="fr-FR" sz="2000" b="1" dirty="0" smtClean="0"/>
              <a:t>clé étrangère</a:t>
            </a:r>
          </a:p>
          <a:p>
            <a:pPr lvl="1">
              <a:spcBef>
                <a:spcPct val="0"/>
              </a:spcBef>
            </a:pPr>
            <a:r>
              <a:rPr lang="fr-FR" sz="2000" b="1" dirty="0" smtClean="0"/>
              <a:t> </a:t>
            </a:r>
            <a:r>
              <a:rPr lang="fr-FR" sz="2000" dirty="0" smtClean="0"/>
              <a:t>est un ou un ensemble d'attributs, qui permet de lier 2 tables.</a:t>
            </a:r>
          </a:p>
          <a:p>
            <a:pPr lvl="1">
              <a:spcBef>
                <a:spcPct val="0"/>
              </a:spcBef>
            </a:pPr>
            <a:r>
              <a:rPr lang="fr-FR" sz="2000" dirty="0" smtClean="0"/>
              <a:t>Un attribut clé étrangère, est généralement clé primaire d'une autre table</a:t>
            </a:r>
          </a:p>
          <a:p>
            <a:pPr lvl="1">
              <a:spcBef>
                <a:spcPct val="0"/>
              </a:spcBef>
            </a:pPr>
            <a:r>
              <a:rPr lang="fr-FR" sz="2000" dirty="0" smtClean="0"/>
              <a:t>(exemple : n° client dans la table commande).</a:t>
            </a:r>
          </a:p>
          <a:p>
            <a:endParaRPr lang="fr-CA" sz="2000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4990E-3DEB-49B6-B47F-4768F9739EAD}" type="slidenum">
              <a:rPr lang="fr-CA" smtClean="0"/>
              <a:pPr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170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332656"/>
            <a:ext cx="8483600" cy="54840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dirty="0" smtClean="0"/>
              <a:t>Résumé de terminologie des BD relationnelles</a:t>
            </a:r>
          </a:p>
        </p:txBody>
      </p:sp>
      <p:grpSp>
        <p:nvGrpSpPr>
          <p:cNvPr id="14" name="Groupe 13"/>
          <p:cNvGrpSpPr/>
          <p:nvPr/>
        </p:nvGrpSpPr>
        <p:grpSpPr>
          <a:xfrm>
            <a:off x="909638" y="1168425"/>
            <a:ext cx="7116762" cy="5068887"/>
            <a:chOff x="909638" y="769938"/>
            <a:chExt cx="7116762" cy="5068887"/>
          </a:xfrm>
        </p:grpSpPr>
        <p:sp>
          <p:nvSpPr>
            <p:cNvPr id="21506" name="Rectangle 2"/>
            <p:cNvSpPr>
              <a:spLocks noChangeArrowheads="1"/>
            </p:cNvSpPr>
            <p:nvPr/>
          </p:nvSpPr>
          <p:spPr bwMode="blackWhite">
            <a:xfrm>
              <a:off x="1141413" y="1063625"/>
              <a:ext cx="6884987" cy="47752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fr-CA"/>
            </a:p>
          </p:txBody>
        </p:sp>
        <p:grpSp>
          <p:nvGrpSpPr>
            <p:cNvPr id="2" name="Group 8"/>
            <p:cNvGrpSpPr>
              <a:grpSpLocks/>
            </p:cNvGrpSpPr>
            <p:nvPr/>
          </p:nvGrpSpPr>
          <p:grpSpPr bwMode="auto">
            <a:xfrm>
              <a:off x="909638" y="5303838"/>
              <a:ext cx="6802437" cy="457200"/>
              <a:chOff x="551" y="3542"/>
              <a:chExt cx="4285" cy="288"/>
            </a:xfrm>
          </p:grpSpPr>
          <p:sp>
            <p:nvSpPr>
              <p:cNvPr id="20511" name="Rectangle 4"/>
              <p:cNvSpPr>
                <a:spLocks noChangeArrowheads="1"/>
              </p:cNvSpPr>
              <p:nvPr/>
            </p:nvSpPr>
            <p:spPr bwMode="ltGray">
              <a:xfrm>
                <a:off x="964" y="3598"/>
                <a:ext cx="3872" cy="167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grpSp>
            <p:nvGrpSpPr>
              <p:cNvPr id="3" name="Group 7"/>
              <p:cNvGrpSpPr>
                <a:grpSpLocks/>
              </p:cNvGrpSpPr>
              <p:nvPr/>
            </p:nvGrpSpPr>
            <p:grpSpPr bwMode="auto">
              <a:xfrm>
                <a:off x="551" y="3542"/>
                <a:ext cx="211" cy="288"/>
                <a:chOff x="551" y="3542"/>
                <a:chExt cx="211" cy="288"/>
              </a:xfrm>
            </p:grpSpPr>
            <p:sp>
              <p:nvSpPr>
                <p:cNvPr id="21509" name="Oval 5"/>
                <p:cNvSpPr>
                  <a:spLocks noChangeArrowheads="1"/>
                </p:cNvSpPr>
                <p:nvPr/>
              </p:nvSpPr>
              <p:spPr bwMode="auto">
                <a:xfrm>
                  <a:off x="551" y="3581"/>
                  <a:ext cx="211" cy="211"/>
                </a:xfrm>
                <a:prstGeom prst="ellipse">
                  <a:avLst/>
                </a:prstGeom>
                <a:solidFill>
                  <a:srgbClr val="FFCCCC"/>
                </a:solidFill>
                <a:ln w="9525">
                  <a:noFill/>
                  <a:round/>
                  <a:headEnd/>
                  <a:tailEnd/>
                </a:ln>
                <a:effectLst>
                  <a:outerShdw dist="53882" dir="2700000" algn="ctr" rotWithShape="0">
                    <a:srgbClr val="000000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CA"/>
                </a:p>
              </p:txBody>
            </p:sp>
            <p:sp>
              <p:nvSpPr>
                <p:cNvPr id="20514" name="Rectangle 6"/>
                <p:cNvSpPr>
                  <a:spLocks noChangeArrowheads="1"/>
                </p:cNvSpPr>
                <p:nvPr/>
              </p:nvSpPr>
              <p:spPr bwMode="auto">
                <a:xfrm>
                  <a:off x="554" y="3542"/>
                  <a:ext cx="20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fr-FR" sz="2000" b="1">
                      <a:solidFill>
                        <a:srgbClr val="000000"/>
                      </a:solidFill>
                      <a:latin typeface="Arial" pitchFamily="34" charset="0"/>
                    </a:rPr>
                    <a:t>1</a:t>
                  </a:r>
                </a:p>
              </p:txBody>
            </p:sp>
          </p:grpSp>
        </p:grp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1373188" y="769938"/>
              <a:ext cx="725487" cy="4886325"/>
              <a:chOff x="843" y="686"/>
              <a:chExt cx="457" cy="3078"/>
            </a:xfrm>
          </p:grpSpPr>
          <p:sp>
            <p:nvSpPr>
              <p:cNvPr id="20507" name="Rectangle 9"/>
              <p:cNvSpPr>
                <a:spLocks noChangeArrowheads="1"/>
              </p:cNvSpPr>
              <p:nvPr/>
            </p:nvSpPr>
            <p:spPr bwMode="ltGray">
              <a:xfrm>
                <a:off x="843" y="1014"/>
                <a:ext cx="457" cy="2750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959" y="686"/>
                <a:ext cx="211" cy="288"/>
                <a:chOff x="959" y="686"/>
                <a:chExt cx="211" cy="288"/>
              </a:xfrm>
            </p:grpSpPr>
            <p:sp>
              <p:nvSpPr>
                <p:cNvPr id="21514" name="Oval 10"/>
                <p:cNvSpPr>
                  <a:spLocks noChangeArrowheads="1"/>
                </p:cNvSpPr>
                <p:nvPr/>
              </p:nvSpPr>
              <p:spPr bwMode="auto">
                <a:xfrm>
                  <a:off x="959" y="725"/>
                  <a:ext cx="211" cy="211"/>
                </a:xfrm>
                <a:prstGeom prst="ellipse">
                  <a:avLst/>
                </a:prstGeom>
                <a:solidFill>
                  <a:srgbClr val="FFCCCC"/>
                </a:solidFill>
                <a:ln w="9525">
                  <a:noFill/>
                  <a:round/>
                  <a:headEnd/>
                  <a:tailEnd/>
                </a:ln>
                <a:effectLst>
                  <a:outerShdw dist="53882" dir="2700000" algn="ctr" rotWithShape="0">
                    <a:srgbClr val="000000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CA"/>
                </a:p>
              </p:txBody>
            </p:sp>
            <p:sp>
              <p:nvSpPr>
                <p:cNvPr id="20510" name="Rectangle 11"/>
                <p:cNvSpPr>
                  <a:spLocks noChangeArrowheads="1"/>
                </p:cNvSpPr>
                <p:nvPr/>
              </p:nvSpPr>
              <p:spPr bwMode="auto">
                <a:xfrm>
                  <a:off x="962" y="686"/>
                  <a:ext cx="20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fr-FR" sz="2000" b="1">
                      <a:solidFill>
                        <a:srgbClr val="000000"/>
                      </a:solidFill>
                      <a:latin typeface="Arial" pitchFamily="34" charset="0"/>
                    </a:rPr>
                    <a:t>2</a:t>
                  </a:r>
                </a:p>
              </p:txBody>
            </p:sp>
          </p:grpSp>
        </p:grpSp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2859088" y="769938"/>
              <a:ext cx="971550" cy="4886325"/>
              <a:chOff x="1779" y="686"/>
              <a:chExt cx="612" cy="3078"/>
            </a:xfrm>
          </p:grpSpPr>
          <p:sp>
            <p:nvSpPr>
              <p:cNvPr id="20503" name="Rectangle 14"/>
              <p:cNvSpPr>
                <a:spLocks noChangeArrowheads="1"/>
              </p:cNvSpPr>
              <p:nvPr/>
            </p:nvSpPr>
            <p:spPr bwMode="ltGray">
              <a:xfrm>
                <a:off x="1779" y="1014"/>
                <a:ext cx="612" cy="2750"/>
              </a:xfrm>
              <a:prstGeom prst="rect">
                <a:avLst/>
              </a:prstGeom>
              <a:solidFill>
                <a:srgbClr val="0066CC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grpSp>
            <p:nvGrpSpPr>
              <p:cNvPr id="7" name="Group 17"/>
              <p:cNvGrpSpPr>
                <a:grpSpLocks/>
              </p:cNvGrpSpPr>
              <p:nvPr/>
            </p:nvGrpSpPr>
            <p:grpSpPr bwMode="auto">
              <a:xfrm>
                <a:off x="1979" y="686"/>
                <a:ext cx="211" cy="288"/>
                <a:chOff x="1979" y="686"/>
                <a:chExt cx="211" cy="288"/>
              </a:xfrm>
            </p:grpSpPr>
            <p:sp>
              <p:nvSpPr>
                <p:cNvPr id="21519" name="Oval 15"/>
                <p:cNvSpPr>
                  <a:spLocks noChangeArrowheads="1"/>
                </p:cNvSpPr>
                <p:nvPr/>
              </p:nvSpPr>
              <p:spPr bwMode="auto">
                <a:xfrm>
                  <a:off x="1979" y="725"/>
                  <a:ext cx="211" cy="211"/>
                </a:xfrm>
                <a:prstGeom prst="ellipse">
                  <a:avLst/>
                </a:prstGeom>
                <a:solidFill>
                  <a:srgbClr val="FFCCCC"/>
                </a:solidFill>
                <a:ln w="9525">
                  <a:noFill/>
                  <a:round/>
                  <a:headEnd/>
                  <a:tailEnd/>
                </a:ln>
                <a:effectLst>
                  <a:outerShdw dist="53882" dir="2700000" algn="ctr" rotWithShape="0">
                    <a:srgbClr val="000000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CA"/>
                </a:p>
              </p:txBody>
            </p:sp>
            <p:sp>
              <p:nvSpPr>
                <p:cNvPr id="20506" name="Rectangle 16"/>
                <p:cNvSpPr>
                  <a:spLocks noChangeArrowheads="1"/>
                </p:cNvSpPr>
                <p:nvPr/>
              </p:nvSpPr>
              <p:spPr bwMode="auto">
                <a:xfrm>
                  <a:off x="1982" y="686"/>
                  <a:ext cx="20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fr-FR" sz="2000" b="1">
                      <a:solidFill>
                        <a:srgbClr val="000000"/>
                      </a:solidFill>
                      <a:latin typeface="Arial" pitchFamily="34" charset="0"/>
                    </a:rPr>
                    <a:t>3</a:t>
                  </a:r>
                </a:p>
              </p:txBody>
            </p:sp>
          </p:grpSp>
        </p:grpSp>
        <p:grpSp>
          <p:nvGrpSpPr>
            <p:cNvPr id="8" name="Group 23"/>
            <p:cNvGrpSpPr>
              <a:grpSpLocks/>
            </p:cNvGrpSpPr>
            <p:nvPr/>
          </p:nvGrpSpPr>
          <p:grpSpPr bwMode="auto">
            <a:xfrm>
              <a:off x="6991350" y="769938"/>
              <a:ext cx="763588" cy="4886325"/>
              <a:chOff x="4382" y="686"/>
              <a:chExt cx="481" cy="3078"/>
            </a:xfrm>
          </p:grpSpPr>
          <p:sp>
            <p:nvSpPr>
              <p:cNvPr id="20499" name="Rectangle 19"/>
              <p:cNvSpPr>
                <a:spLocks noChangeArrowheads="1"/>
              </p:cNvSpPr>
              <p:nvPr/>
            </p:nvSpPr>
            <p:spPr bwMode="ltGray">
              <a:xfrm>
                <a:off x="4382" y="1014"/>
                <a:ext cx="481" cy="2750"/>
              </a:xfrm>
              <a:prstGeom prst="rect">
                <a:avLst/>
              </a:prstGeom>
              <a:solidFill>
                <a:srgbClr val="FFCC66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grpSp>
            <p:nvGrpSpPr>
              <p:cNvPr id="9" name="Group 22"/>
              <p:cNvGrpSpPr>
                <a:grpSpLocks/>
              </p:cNvGrpSpPr>
              <p:nvPr/>
            </p:nvGrpSpPr>
            <p:grpSpPr bwMode="auto">
              <a:xfrm>
                <a:off x="4499" y="686"/>
                <a:ext cx="211" cy="288"/>
                <a:chOff x="4499" y="686"/>
                <a:chExt cx="211" cy="288"/>
              </a:xfrm>
            </p:grpSpPr>
            <p:sp>
              <p:nvSpPr>
                <p:cNvPr id="21524" name="Oval 20"/>
                <p:cNvSpPr>
                  <a:spLocks noChangeArrowheads="1"/>
                </p:cNvSpPr>
                <p:nvPr/>
              </p:nvSpPr>
              <p:spPr bwMode="auto">
                <a:xfrm>
                  <a:off x="4499" y="725"/>
                  <a:ext cx="211" cy="211"/>
                </a:xfrm>
                <a:prstGeom prst="ellipse">
                  <a:avLst/>
                </a:prstGeom>
                <a:solidFill>
                  <a:srgbClr val="FFCCCC"/>
                </a:solidFill>
                <a:ln w="9525">
                  <a:noFill/>
                  <a:round/>
                  <a:headEnd/>
                  <a:tailEnd/>
                </a:ln>
                <a:effectLst>
                  <a:outerShdw dist="53882" dir="2700000" algn="ctr" rotWithShape="0">
                    <a:srgbClr val="000000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CA"/>
                </a:p>
              </p:txBody>
            </p:sp>
            <p:sp>
              <p:nvSpPr>
                <p:cNvPr id="20502" name="Rectangle 21"/>
                <p:cNvSpPr>
                  <a:spLocks noChangeArrowheads="1"/>
                </p:cNvSpPr>
                <p:nvPr/>
              </p:nvSpPr>
              <p:spPr bwMode="auto">
                <a:xfrm>
                  <a:off x="4502" y="686"/>
                  <a:ext cx="20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fr-FR" sz="2000" b="1">
                      <a:solidFill>
                        <a:srgbClr val="000000"/>
                      </a:solidFill>
                      <a:latin typeface="Arial" pitchFamily="34" charset="0"/>
                    </a:rPr>
                    <a:t>4</a:t>
                  </a:r>
                </a:p>
              </p:txBody>
            </p:sp>
          </p:grpSp>
        </p:grpSp>
        <p:grpSp>
          <p:nvGrpSpPr>
            <p:cNvPr id="10" name="Group 28"/>
            <p:cNvGrpSpPr>
              <a:grpSpLocks/>
            </p:cNvGrpSpPr>
            <p:nvPr/>
          </p:nvGrpSpPr>
          <p:grpSpPr bwMode="auto">
            <a:xfrm>
              <a:off x="5605463" y="3370263"/>
              <a:ext cx="954087" cy="457200"/>
              <a:chOff x="3509" y="2324"/>
              <a:chExt cx="601" cy="288"/>
            </a:xfrm>
          </p:grpSpPr>
          <p:sp>
            <p:nvSpPr>
              <p:cNvPr id="20495" name="Rectangle 24"/>
              <p:cNvSpPr>
                <a:spLocks noChangeArrowheads="1"/>
              </p:cNvSpPr>
              <p:nvPr/>
            </p:nvSpPr>
            <p:spPr bwMode="ltGray">
              <a:xfrm>
                <a:off x="3509" y="2389"/>
                <a:ext cx="345" cy="191"/>
              </a:xfrm>
              <a:prstGeom prst="rect">
                <a:avLst/>
              </a:prstGeom>
              <a:solidFill>
                <a:srgbClr val="9933FF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grpSp>
            <p:nvGrpSpPr>
              <p:cNvPr id="11" name="Group 27"/>
              <p:cNvGrpSpPr>
                <a:grpSpLocks/>
              </p:cNvGrpSpPr>
              <p:nvPr/>
            </p:nvGrpSpPr>
            <p:grpSpPr bwMode="auto">
              <a:xfrm>
                <a:off x="3899" y="2324"/>
                <a:ext cx="211" cy="288"/>
                <a:chOff x="3899" y="2324"/>
                <a:chExt cx="211" cy="288"/>
              </a:xfrm>
            </p:grpSpPr>
            <p:sp>
              <p:nvSpPr>
                <p:cNvPr id="21529" name="Oval 25"/>
                <p:cNvSpPr>
                  <a:spLocks noChangeArrowheads="1"/>
                </p:cNvSpPr>
                <p:nvPr/>
              </p:nvSpPr>
              <p:spPr bwMode="auto">
                <a:xfrm>
                  <a:off x="3899" y="2363"/>
                  <a:ext cx="211" cy="211"/>
                </a:xfrm>
                <a:prstGeom prst="ellipse">
                  <a:avLst/>
                </a:prstGeom>
                <a:solidFill>
                  <a:srgbClr val="FFCCCC"/>
                </a:solidFill>
                <a:ln w="9525">
                  <a:noFill/>
                  <a:round/>
                  <a:headEnd/>
                  <a:tailEnd/>
                </a:ln>
                <a:effectLst>
                  <a:outerShdw dist="53882" dir="2700000" algn="ctr" rotWithShape="0">
                    <a:srgbClr val="000000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CA"/>
                </a:p>
              </p:txBody>
            </p:sp>
            <p:sp>
              <p:nvSpPr>
                <p:cNvPr id="20498" name="Rectangle 26"/>
                <p:cNvSpPr>
                  <a:spLocks noChangeArrowheads="1"/>
                </p:cNvSpPr>
                <p:nvPr/>
              </p:nvSpPr>
              <p:spPr bwMode="auto">
                <a:xfrm>
                  <a:off x="3902" y="2324"/>
                  <a:ext cx="20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fr-FR" sz="2000" b="1">
                      <a:solidFill>
                        <a:srgbClr val="000000"/>
                      </a:solidFill>
                      <a:latin typeface="Arial" pitchFamily="34" charset="0"/>
                    </a:rPr>
                    <a:t>5</a:t>
                  </a:r>
                </a:p>
              </p:txBody>
            </p:sp>
          </p:grpSp>
        </p:grpSp>
        <p:sp>
          <p:nvSpPr>
            <p:cNvPr id="20489" name="Rectangle 29"/>
            <p:cNvSpPr>
              <a:spLocks noChangeArrowheads="1"/>
            </p:cNvSpPr>
            <p:nvPr/>
          </p:nvSpPr>
          <p:spPr bwMode="auto">
            <a:xfrm>
              <a:off x="1295400" y="1295400"/>
              <a:ext cx="6491288" cy="4394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EMPNO 	ENAME    	JOB                     MGR    HIREDATE        SAL        COMM   DEPTNO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------------- 	------------	---------------------  --------  ----------------   -----------   --------------    -----------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7839 	KING       	PRESIDENT                   	17-NOV-81	5000                                  10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7698 	BLAKE	MANAGER    	7839   	01-MAY-81     	2850                                  30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7782 	CLARK 	MANAGER	7839  	09-JUN-81     	2450                                  10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7566 	JONES 	MANAGER	7839   	02-APR-81     	2975                                  20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7654 	MARTIN	SALESMAN     	7698   	28-SEP-81      	1250           1400               30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7499 	ALLEN 	SALESMAN      	7698   	20-FEB-81     	1600             300               30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7844 	TURNER 	SALESMAN     	7698   	08-SEP-81      	1500                 0               30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7900 	JAMES 	CLERK            	7698  	03-DEC-81      	  950                                  30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7521 	WARD	SALESMAN     	7698   	22-FEB-81     	1250             500               30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 7902 	FORD	ANALYST         	7566   	03-DEC-81     	3000                                  20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7369 	SMITH 	CLERK            	7902  	17-DEC-80    	  800                                  20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7788 	SCOTT	ANALYST        	7566   	09-DEC-82     	3000                                  20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7876 	ADAMS 	CLERK              	7788  	12-JAN-83     	1100                                  20</a:t>
              </a:r>
            </a:p>
            <a:p>
              <a:pPr algn="l" defTabSz="822325">
                <a:lnSpc>
                  <a:spcPct val="100000"/>
                </a:lnSpc>
                <a:spcBef>
                  <a:spcPct val="50000"/>
                </a:spcBef>
                <a:tabLst>
                  <a:tab pos="793750" algn="l"/>
                  <a:tab pos="1544638" algn="l"/>
                  <a:tab pos="2741613" algn="l"/>
                  <a:tab pos="3262313" algn="l"/>
                  <a:tab pos="4343400" algn="l"/>
                </a:tabLst>
              </a:pPr>
              <a:r>
                <a:rPr lang="fr-FR" sz="1200" b="1" dirty="0">
                  <a:solidFill>
                    <a:srgbClr val="000000"/>
                  </a:solidFill>
                  <a:latin typeface="Arial" pitchFamily="34" charset="0"/>
                </a:rPr>
                <a:t>       7934 	MILLER 	CLERK        	7782   	23-JAN-82     	1300                                  10</a:t>
              </a:r>
            </a:p>
          </p:txBody>
        </p:sp>
        <p:grpSp>
          <p:nvGrpSpPr>
            <p:cNvPr id="12" name="Group 34"/>
            <p:cNvGrpSpPr>
              <a:grpSpLocks/>
            </p:cNvGrpSpPr>
            <p:nvPr/>
          </p:nvGrpSpPr>
          <p:grpSpPr bwMode="auto">
            <a:xfrm>
              <a:off x="4068763" y="1398588"/>
              <a:ext cx="449262" cy="704850"/>
              <a:chOff x="2541" y="1082"/>
              <a:chExt cx="283" cy="444"/>
            </a:xfrm>
          </p:grpSpPr>
          <p:sp>
            <p:nvSpPr>
              <p:cNvPr id="20491" name="Rectangle 30"/>
              <p:cNvSpPr>
                <a:spLocks noChangeArrowheads="1"/>
              </p:cNvSpPr>
              <p:nvPr/>
            </p:nvSpPr>
            <p:spPr bwMode="ltGray">
              <a:xfrm>
                <a:off x="2541" y="1335"/>
                <a:ext cx="283" cy="191"/>
              </a:xfrm>
              <a:prstGeom prst="rect">
                <a:avLst/>
              </a:prstGeom>
              <a:solidFill>
                <a:srgbClr val="33CCFF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grpSp>
            <p:nvGrpSpPr>
              <p:cNvPr id="13" name="Group 33"/>
              <p:cNvGrpSpPr>
                <a:grpSpLocks/>
              </p:cNvGrpSpPr>
              <p:nvPr/>
            </p:nvGrpSpPr>
            <p:grpSpPr bwMode="auto">
              <a:xfrm>
                <a:off x="2567" y="1082"/>
                <a:ext cx="211" cy="288"/>
                <a:chOff x="2567" y="1082"/>
                <a:chExt cx="211" cy="288"/>
              </a:xfrm>
            </p:grpSpPr>
            <p:sp>
              <p:nvSpPr>
                <p:cNvPr id="21535" name="Oval 31"/>
                <p:cNvSpPr>
                  <a:spLocks noChangeArrowheads="1"/>
                </p:cNvSpPr>
                <p:nvPr/>
              </p:nvSpPr>
              <p:spPr bwMode="auto">
                <a:xfrm>
                  <a:off x="2567" y="1121"/>
                  <a:ext cx="211" cy="211"/>
                </a:xfrm>
                <a:prstGeom prst="ellipse">
                  <a:avLst/>
                </a:prstGeom>
                <a:solidFill>
                  <a:srgbClr val="FFCCCC"/>
                </a:solidFill>
                <a:ln w="9525">
                  <a:noFill/>
                  <a:round/>
                  <a:headEnd/>
                  <a:tailEnd/>
                </a:ln>
                <a:effectLst>
                  <a:outerShdw dist="53882" dir="2700000" algn="ctr" rotWithShape="0">
                    <a:srgbClr val="000000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fr-CA"/>
                </a:p>
              </p:txBody>
            </p:sp>
            <p:sp>
              <p:nvSpPr>
                <p:cNvPr id="20494" name="Rectangle 32"/>
                <p:cNvSpPr>
                  <a:spLocks noChangeArrowheads="1"/>
                </p:cNvSpPr>
                <p:nvPr/>
              </p:nvSpPr>
              <p:spPr bwMode="auto">
                <a:xfrm>
                  <a:off x="2570" y="1082"/>
                  <a:ext cx="205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r>
                    <a:rPr lang="fr-FR" sz="2000" b="1">
                      <a:solidFill>
                        <a:srgbClr val="000000"/>
                      </a:solidFill>
                      <a:latin typeface="Arial" pitchFamily="34" charset="0"/>
                    </a:rPr>
                    <a:t>6</a:t>
                  </a:r>
                </a:p>
              </p:txBody>
            </p:sp>
          </p:grpSp>
        </p:grpSp>
      </p:grpSp>
      <p:sp>
        <p:nvSpPr>
          <p:cNvPr id="35" name="Espace réservé du numéro de diapositive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4990E-3DEB-49B6-B47F-4768F9739EAD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36244358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Résumé de terminologie des BD relationnelles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  <a:buAutoNum type="arabicPeriod"/>
            </a:pPr>
            <a:r>
              <a:rPr lang="fr-FR" dirty="0"/>
              <a:t>Enregistrement ou rangée d'une table</a:t>
            </a:r>
          </a:p>
          <a:p>
            <a:pPr marL="228600" indent="-228600">
              <a:lnSpc>
                <a:spcPct val="90000"/>
              </a:lnSpc>
              <a:buAutoNum type="arabicPeriod"/>
            </a:pPr>
            <a:r>
              <a:rPr lang="fr-FR" dirty="0"/>
              <a:t>Colonne dans une table</a:t>
            </a:r>
          </a:p>
          <a:p>
            <a:pPr marL="228600" indent="-228600">
              <a:lnSpc>
                <a:spcPct val="90000"/>
              </a:lnSpc>
              <a:buAutoNum type="arabicPeriod"/>
            </a:pPr>
            <a:r>
              <a:rPr lang="fr-FR" dirty="0"/>
              <a:t>Colonne qui n'est pas une clé dans la table</a:t>
            </a:r>
          </a:p>
          <a:p>
            <a:pPr marL="228600" indent="-228600">
              <a:lnSpc>
                <a:spcPct val="90000"/>
              </a:lnSpc>
              <a:buAutoNum type="arabicPeriod"/>
            </a:pPr>
            <a:r>
              <a:rPr lang="fr-FR" dirty="0"/>
              <a:t>Colonne qui est une clé</a:t>
            </a:r>
          </a:p>
          <a:p>
            <a:pPr marL="228600" indent="-228600">
              <a:lnSpc>
                <a:spcPct val="90000"/>
              </a:lnSpc>
              <a:buAutoNum type="arabicPeriod"/>
            </a:pPr>
            <a:r>
              <a:rPr lang="fr-FR" dirty="0"/>
              <a:t>Champ: valeur correspondant à l'intersection d'une colonne et d'une rangée</a:t>
            </a:r>
          </a:p>
          <a:p>
            <a:pPr marL="228600" indent="-228600">
              <a:lnSpc>
                <a:spcPct val="90000"/>
              </a:lnSpc>
              <a:buAutoNum type="arabicPeriod"/>
            </a:pPr>
            <a:r>
              <a:rPr lang="fr-FR" dirty="0"/>
              <a:t>Champ nul: champ sans valeur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8727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1520" y="533400"/>
            <a:ext cx="8435280" cy="663352"/>
          </a:xfrm>
        </p:spPr>
        <p:txBody>
          <a:bodyPr>
            <a:normAutofit/>
          </a:bodyPr>
          <a:lstStyle/>
          <a:p>
            <a:r>
              <a:rPr lang="fr-CA" dirty="0" smtClean="0"/>
              <a:t>SQL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fr-CA" sz="2400" b="1" dirty="0" err="1" smtClean="0"/>
              <a:t>Structured</a:t>
            </a:r>
            <a:r>
              <a:rPr lang="fr-CA" sz="2400" b="1" dirty="0" smtClean="0"/>
              <a:t> </a:t>
            </a:r>
            <a:r>
              <a:rPr lang="fr-CA" sz="2400" b="1" dirty="0" err="1" smtClean="0"/>
              <a:t>Query</a:t>
            </a:r>
            <a:r>
              <a:rPr lang="fr-CA" sz="2400" b="1" dirty="0" smtClean="0"/>
              <a:t> </a:t>
            </a:r>
            <a:r>
              <a:rPr lang="fr-CA" sz="2400" b="1" dirty="0" err="1" smtClean="0"/>
              <a:t>Language</a:t>
            </a:r>
            <a:r>
              <a:rPr lang="fr-CA" sz="2400" b="1" dirty="0" smtClean="0"/>
              <a:t> = Langage d'interrogation structuré</a:t>
            </a:r>
          </a:p>
          <a:p>
            <a:r>
              <a:rPr lang="fr-CA" sz="2400" dirty="0" smtClean="0"/>
              <a:t> Permet d'exploiter une base de données relationnelle </a:t>
            </a:r>
            <a:r>
              <a:rPr lang="fr-CA" dirty="0" smtClean="0"/>
              <a:t>(créer, </a:t>
            </a:r>
            <a:r>
              <a:rPr lang="fr-CA" dirty="0"/>
              <a:t>modifier, </a:t>
            </a:r>
            <a:r>
              <a:rPr lang="fr-CA" dirty="0" smtClean="0"/>
              <a:t>supprimer, sélectionner,,</a:t>
            </a:r>
            <a:r>
              <a:rPr lang="fr-CA" sz="2400" dirty="0" smtClean="0"/>
              <a:t>)</a:t>
            </a:r>
          </a:p>
          <a:p>
            <a:r>
              <a:rPr lang="fr-CA" sz="2400" dirty="0" smtClean="0"/>
              <a:t> Langage normalisé mais implémentations parfois différentes (dialectes)</a:t>
            </a:r>
          </a:p>
          <a:p>
            <a:r>
              <a:rPr lang="fr-CA" sz="2400" dirty="0" smtClean="0"/>
              <a:t> L4G (langage de quatrième génération)</a:t>
            </a:r>
          </a:p>
          <a:p>
            <a:r>
              <a:rPr lang="fr-CA" sz="2400" dirty="0" smtClean="0"/>
              <a:t> Langage: </a:t>
            </a:r>
          </a:p>
          <a:p>
            <a:pPr lvl="1"/>
            <a:r>
              <a:rPr lang="fr-CA" sz="2000" b="1" dirty="0" smtClean="0"/>
              <a:t>Déclaratif</a:t>
            </a:r>
            <a:r>
              <a:rPr lang="fr-CA" sz="2000" dirty="0" smtClean="0"/>
              <a:t>(On spécifie ce que l’on veut obtenir ou faire et  c’est le SGBD qui décide comment il doit l’exécuter)</a:t>
            </a:r>
          </a:p>
          <a:p>
            <a:r>
              <a:rPr lang="fr-CA" sz="2700" dirty="0" smtClean="0"/>
              <a:t>Inspiré du modèle d'algèbre relationnelle de E.F. </a:t>
            </a:r>
            <a:r>
              <a:rPr lang="fr-CA" sz="2700" dirty="0" err="1" smtClean="0"/>
              <a:t>Codd</a:t>
            </a:r>
            <a:r>
              <a:rPr lang="fr-CA" sz="2700" dirty="0" smtClean="0"/>
              <a:t> (1970), créé e se basant sur la théorie des </a:t>
            </a:r>
            <a:r>
              <a:rPr lang="fr-CA" sz="2700" dirty="0" err="1" smtClean="0"/>
              <a:t>esembles</a:t>
            </a:r>
            <a:r>
              <a:rPr lang="fr-CA" sz="2700" dirty="0" smtClean="0"/>
              <a:t>.</a:t>
            </a:r>
          </a:p>
          <a:p>
            <a:r>
              <a:rPr lang="fr-CA" sz="2400" dirty="0" smtClean="0"/>
              <a:t> Utilisé par la majorité des SGBDR.</a:t>
            </a:r>
          </a:p>
          <a:p>
            <a:endParaRPr lang="fr-CA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47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76672"/>
            <a:ext cx="8435280" cy="432048"/>
          </a:xfrm>
        </p:spPr>
        <p:txBody>
          <a:bodyPr>
            <a:normAutofit fontScale="90000"/>
          </a:bodyPr>
          <a:lstStyle/>
          <a:p>
            <a:r>
              <a:rPr lang="fr-CA" dirty="0" smtClean="0"/>
              <a:t>Les types d’instruction SQL</a:t>
            </a:r>
            <a:endParaRPr lang="fr-CA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9812354"/>
              </p:ext>
            </p:extLst>
          </p:nvPr>
        </p:nvGraphicFramePr>
        <p:xfrm>
          <a:off x="827584" y="1268760"/>
          <a:ext cx="7488832" cy="487074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080120"/>
                <a:gridCol w="1512168"/>
                <a:gridCol w="4896544"/>
              </a:tblGrid>
              <a:tr h="1022608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 smtClean="0"/>
                        <a:t>1</a:t>
                      </a:r>
                      <a:endParaRPr lang="fr-CA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sz="1600" dirty="0" smtClean="0"/>
                        <a:t>CREATE</a:t>
                      </a:r>
                    </a:p>
                    <a:p>
                      <a:r>
                        <a:rPr lang="it-IT" sz="1600" dirty="0" smtClean="0"/>
                        <a:t>ALTER</a:t>
                      </a:r>
                    </a:p>
                    <a:p>
                      <a:r>
                        <a:rPr lang="it-IT" sz="1600" dirty="0" smtClean="0"/>
                        <a:t>DROP</a:t>
                      </a:r>
                    </a:p>
                    <a:p>
                      <a:r>
                        <a:rPr lang="it-IT" sz="1600" dirty="0" smtClean="0"/>
                        <a:t>RENAME</a:t>
                      </a:r>
                    </a:p>
                    <a:p>
                      <a:r>
                        <a:rPr lang="it-IT" sz="1600" dirty="0" smtClean="0"/>
                        <a:t>TRUNCATE</a:t>
                      </a:r>
                      <a:endParaRPr lang="it-IT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defRPr/>
                      </a:pPr>
                      <a:endParaRPr lang="fr-FR" sz="16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fr-FR" sz="1600" dirty="0" smtClean="0">
                          <a:effectLst/>
                        </a:rPr>
                        <a:t>Langage de définition de Données </a:t>
                      </a:r>
                      <a:br>
                        <a:rPr lang="fr-FR" sz="1600" dirty="0" smtClean="0">
                          <a:effectLst/>
                        </a:rPr>
                      </a:br>
                      <a:r>
                        <a:rPr lang="fr-FR" sz="1600" dirty="0" smtClean="0">
                          <a:effectLst/>
                        </a:rPr>
                        <a:t>                  (DDL)</a:t>
                      </a:r>
                    </a:p>
                    <a:p>
                      <a:endParaRPr lang="fr-CA" sz="1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</a:tr>
              <a:tr h="1004903">
                <a:tc>
                  <a:txBody>
                    <a:bodyPr/>
                    <a:lstStyle/>
                    <a:p>
                      <a:pPr algn="ctr"/>
                      <a:r>
                        <a:rPr lang="fr-CA" sz="1600" dirty="0" smtClean="0"/>
                        <a:t>2</a:t>
                      </a:r>
                      <a:endParaRPr lang="fr-CA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endParaRPr lang="fr-FR" sz="1600" dirty="0" smtClean="0"/>
                    </a:p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r>
                        <a:rPr lang="fr-FR" sz="1600" dirty="0" smtClean="0"/>
                        <a:t>INSERT</a:t>
                      </a:r>
                    </a:p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r>
                        <a:rPr lang="fr-FR" sz="1600" dirty="0" smtClean="0"/>
                        <a:t>UPDATE</a:t>
                      </a:r>
                    </a:p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r>
                        <a:rPr lang="fr-FR" sz="1600" dirty="0" smtClean="0"/>
                        <a:t>DELETE</a:t>
                      </a:r>
                      <a:endParaRPr lang="fr-FR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600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fr-FR" sz="1600" dirty="0" smtClean="0">
                          <a:effectLst/>
                        </a:rPr>
                        <a:t>Langage de manipulation de données  </a:t>
                      </a:r>
                      <a:br>
                        <a:rPr lang="fr-FR" sz="1600" dirty="0" smtClean="0">
                          <a:effectLst/>
                        </a:rPr>
                      </a:br>
                      <a:r>
                        <a:rPr lang="fr-FR" sz="1600" dirty="0" smtClean="0">
                          <a:effectLst/>
                        </a:rPr>
                        <a:t>                          (DML)</a:t>
                      </a:r>
                    </a:p>
                    <a:p>
                      <a:endParaRPr lang="fr-CA" sz="1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</a:tr>
              <a:tr h="91876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fr-CA" sz="1600" dirty="0" smtClean="0"/>
                        <a:t>3</a:t>
                      </a:r>
                      <a:endParaRPr lang="fr-CA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endParaRPr lang="fr-FR" sz="1600" dirty="0" smtClean="0"/>
                    </a:p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r>
                        <a:rPr lang="fr-FR" sz="1600" dirty="0" smtClean="0"/>
                        <a:t>COMMIT</a:t>
                      </a:r>
                    </a:p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r>
                        <a:rPr lang="fr-FR" sz="1600" dirty="0" smtClean="0"/>
                        <a:t>ROLLBACK</a:t>
                      </a:r>
                    </a:p>
                    <a:p>
                      <a:pPr marL="0" indent="0">
                        <a:lnSpc>
                          <a:spcPct val="65000"/>
                        </a:lnSpc>
                        <a:spcBef>
                          <a:spcPts val="600"/>
                        </a:spcBef>
                        <a:buFontTx/>
                        <a:buNone/>
                        <a:defRPr/>
                      </a:pPr>
                      <a:r>
                        <a:rPr lang="fr-FR" sz="1600" dirty="0" smtClean="0"/>
                        <a:t>SAVEPOINT</a:t>
                      </a:r>
                      <a:endParaRPr lang="fr-FR" sz="16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endParaRPr lang="fr-CA" sz="1600" dirty="0" smtClean="0">
                        <a:effectLst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effectLst/>
                        </a:rPr>
                        <a:t>Contrôle des transactions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endParaRPr lang="fr-CA" sz="16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</a:tr>
              <a:tr h="601166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CA" sz="2400" b="1" dirty="0" smtClean="0"/>
                        <a:t>4</a:t>
                      </a:r>
                      <a:endParaRPr lang="fr-CA" sz="2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1200"/>
                        </a:spcBef>
                        <a:spcAft>
                          <a:spcPts val="600"/>
                        </a:spcAft>
                      </a:pPr>
                      <a:r>
                        <a:rPr lang="fr-FR" sz="2400" b="1" dirty="0" smtClean="0"/>
                        <a:t>SELECT</a:t>
                      </a:r>
                      <a:endParaRPr lang="fr-CA" sz="2400" b="1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 smtClean="0">
                          <a:effectLst/>
                        </a:rPr>
                        <a:t>Recherche de données </a:t>
                      </a:r>
                      <a:endParaRPr lang="fr-CA" sz="2400" b="1" dirty="0" smtClean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916778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fr-CA" sz="1600" strike="noStrike" dirty="0" smtClean="0"/>
                        <a:t>5</a:t>
                      </a:r>
                      <a:endParaRPr lang="fr-CA" sz="1600" b="1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65000"/>
                        </a:lnSpc>
                        <a:spcAft>
                          <a:spcPts val="600"/>
                        </a:spcAft>
                        <a:buFontTx/>
                        <a:buNone/>
                        <a:defRPr/>
                      </a:pPr>
                      <a:endParaRPr lang="fr-FR" sz="1600" strike="noStrike" dirty="0" smtClean="0"/>
                    </a:p>
                    <a:p>
                      <a:pPr marL="0" indent="0">
                        <a:lnSpc>
                          <a:spcPct val="6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FontTx/>
                        <a:buNone/>
                        <a:defRPr/>
                      </a:pPr>
                      <a:r>
                        <a:rPr lang="fr-FR" sz="1600" strike="noStrike" dirty="0" smtClean="0"/>
                        <a:t>GRANT</a:t>
                      </a:r>
                    </a:p>
                    <a:p>
                      <a:pPr marL="0" indent="0">
                        <a:lnSpc>
                          <a:spcPct val="65000"/>
                        </a:lnSpc>
                        <a:spcAft>
                          <a:spcPts val="600"/>
                        </a:spcAft>
                        <a:buFontTx/>
                        <a:buNone/>
                        <a:defRPr/>
                      </a:pPr>
                      <a:r>
                        <a:rPr lang="fr-FR" sz="1600" strike="noStrike" dirty="0" smtClean="0"/>
                        <a:t>REVOKE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fr-CA" sz="1600" strike="noStrike" dirty="0" smtClean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fr-FR" sz="1600" strike="noStrike" dirty="0" smtClean="0">
                          <a:effectLst/>
                        </a:rPr>
                        <a:t>Langage de contrôle des données </a:t>
                      </a:r>
                      <a:br>
                        <a:rPr lang="fr-FR" sz="1600" strike="noStrike" dirty="0" smtClean="0">
                          <a:effectLst/>
                        </a:rPr>
                      </a:br>
                      <a:r>
                        <a:rPr lang="fr-FR" sz="1600" strike="noStrike" dirty="0" smtClean="0">
                          <a:effectLst/>
                        </a:rPr>
                        <a:t>                        (DCL)</a:t>
                      </a:r>
                      <a:endParaRPr lang="fr-FR" sz="1600" b="1" strike="noStrike" dirty="0" smtClean="0"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8046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Requêtes sur une BD relationnelle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CA" sz="4000" dirty="0" smtClean="0"/>
              <a:t>SELECT</a:t>
            </a:r>
            <a:endParaRPr lang="fr-CA" sz="4000" dirty="0"/>
          </a:p>
        </p:txBody>
      </p:sp>
    </p:spTree>
    <p:extLst>
      <p:ext uri="{BB962C8B-B14F-4D97-AF65-F5344CB8AC3E}">
        <p14:creationId xmlns:p14="http://schemas.microsoft.com/office/powerpoint/2010/main" val="163131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L'algèbre relationnelle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 smtClean="0"/>
              <a:t>C'est une théorie mathématique proche de la théorie des ensembles qui définit des opérations qui peuvent être effectuées sur des </a:t>
            </a:r>
            <a:r>
              <a:rPr lang="fr-CA" i="1" dirty="0" smtClean="0"/>
              <a:t>relations(tables)</a:t>
            </a:r>
          </a:p>
          <a:p>
            <a:r>
              <a:rPr lang="fr-CA" i="1" dirty="0" smtClean="0"/>
              <a:t>Elle est basée sur un </a:t>
            </a:r>
            <a:r>
              <a:rPr lang="fr-CA" b="1" i="1" u="sng" dirty="0" smtClean="0"/>
              <a:t>ensemble d'opérateurs</a:t>
            </a:r>
            <a:r>
              <a:rPr lang="fr-CA" i="1" dirty="0" smtClean="0"/>
              <a:t>:</a:t>
            </a:r>
          </a:p>
          <a:p>
            <a:pPr lvl="1"/>
            <a:r>
              <a:rPr lang="fr-CA" sz="2000" b="1" i="1" dirty="0" smtClean="0">
                <a:solidFill>
                  <a:srgbClr val="00B050"/>
                </a:solidFill>
              </a:rPr>
              <a:t>Sélection</a:t>
            </a:r>
          </a:p>
          <a:p>
            <a:pPr lvl="1"/>
            <a:r>
              <a:rPr lang="fr-CA" sz="2000" b="1" i="1" dirty="0" smtClean="0">
                <a:solidFill>
                  <a:srgbClr val="00B050"/>
                </a:solidFill>
              </a:rPr>
              <a:t>Projection</a:t>
            </a:r>
          </a:p>
          <a:p>
            <a:pPr lvl="1"/>
            <a:r>
              <a:rPr lang="fr-CA" i="1" dirty="0" smtClean="0"/>
              <a:t>Jointure</a:t>
            </a:r>
          </a:p>
          <a:p>
            <a:pPr lvl="1"/>
            <a:r>
              <a:rPr lang="fr-CA" i="1" dirty="0" smtClean="0"/>
              <a:t>Union</a:t>
            </a:r>
          </a:p>
          <a:p>
            <a:pPr lvl="1"/>
            <a:r>
              <a:rPr lang="fr-CA" i="1" dirty="0" smtClean="0"/>
              <a:t>Division</a:t>
            </a:r>
          </a:p>
          <a:p>
            <a:pPr lvl="1"/>
            <a:r>
              <a:rPr lang="fr-CA" i="1" dirty="0" smtClean="0"/>
              <a:t>Intersection</a:t>
            </a:r>
          </a:p>
          <a:p>
            <a:pPr lvl="1"/>
            <a:r>
              <a:rPr lang="fr-CA" i="1" dirty="0" smtClean="0"/>
              <a:t>Différence</a:t>
            </a:r>
          </a:p>
          <a:p>
            <a:pPr lvl="1"/>
            <a:r>
              <a:rPr lang="fr-CA" i="1" dirty="0" smtClean="0"/>
              <a:t>Produit cartésien</a:t>
            </a:r>
          </a:p>
          <a:p>
            <a:pPr lvl="1"/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874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91049" y="346841"/>
            <a:ext cx="7765322" cy="613525"/>
          </a:xfrm>
        </p:spPr>
        <p:txBody>
          <a:bodyPr>
            <a:normAutofit/>
          </a:bodyPr>
          <a:lstStyle/>
          <a:p>
            <a:r>
              <a:rPr lang="fr-CA" dirty="0"/>
              <a:t>Instruction </a:t>
            </a:r>
            <a:r>
              <a:rPr lang="fr-CA" dirty="0" smtClean="0"/>
              <a:t>SQL </a:t>
            </a:r>
            <a:r>
              <a:rPr lang="fr-CA" dirty="0"/>
              <a:t>SELECT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399536"/>
            <a:ext cx="4032449" cy="4972451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fr-CA" sz="2200" dirty="0"/>
              <a:t>L’instruction SELECT permet :</a:t>
            </a:r>
          </a:p>
          <a:p>
            <a:pPr lvl="1"/>
            <a:r>
              <a:rPr lang="fr-CA" sz="2200" dirty="0"/>
              <a:t>de sélectionner une ou plusieurs rangées (enregistrements) dans une table, on parle alors de </a:t>
            </a:r>
            <a:r>
              <a:rPr lang="fr-CA" sz="2200" b="1" u="sng" dirty="0"/>
              <a:t>sélection de données</a:t>
            </a:r>
          </a:p>
          <a:p>
            <a:pPr lvl="1"/>
            <a:r>
              <a:rPr lang="fr-CA" sz="2200" dirty="0"/>
              <a:t>De sélectionner une ou plusieurs colonnes dans une table, on parle alors de </a:t>
            </a:r>
            <a:r>
              <a:rPr lang="fr-CA" sz="2200" b="1" u="sng" dirty="0"/>
              <a:t>projection</a:t>
            </a:r>
            <a:r>
              <a:rPr lang="fr-CA" sz="2200" dirty="0"/>
              <a:t> </a:t>
            </a:r>
            <a:r>
              <a:rPr lang="fr-CA" sz="2200" b="1" u="sng" dirty="0"/>
              <a:t>de</a:t>
            </a:r>
            <a:r>
              <a:rPr lang="fr-CA" sz="2200" dirty="0"/>
              <a:t> </a:t>
            </a:r>
            <a:r>
              <a:rPr lang="fr-CA" sz="2200" b="1" u="sng" dirty="0"/>
              <a:t>données</a:t>
            </a:r>
          </a:p>
          <a:p>
            <a:pPr lvl="1"/>
            <a:r>
              <a:rPr lang="fr-CA" sz="2200" dirty="0"/>
              <a:t>De sélectionner des données stockées dans plusieurs tables, on parle alors de </a:t>
            </a:r>
            <a:r>
              <a:rPr lang="fr-CA" sz="2200" b="1" u="sng" dirty="0"/>
              <a:t>jointure</a:t>
            </a:r>
            <a:r>
              <a:rPr lang="fr-CA" sz="2200" dirty="0"/>
              <a:t> </a:t>
            </a:r>
            <a:r>
              <a:rPr lang="fr-CA" sz="2200" b="1" u="sng" dirty="0"/>
              <a:t>de</a:t>
            </a:r>
            <a:r>
              <a:rPr lang="fr-CA" sz="2200" dirty="0"/>
              <a:t> </a:t>
            </a:r>
            <a:r>
              <a:rPr lang="fr-CA" sz="2200" b="1" u="sng" dirty="0"/>
              <a:t>données</a:t>
            </a:r>
          </a:p>
        </p:txBody>
      </p:sp>
      <p:grpSp>
        <p:nvGrpSpPr>
          <p:cNvPr id="49" name="Groupe 48"/>
          <p:cNvGrpSpPr/>
          <p:nvPr/>
        </p:nvGrpSpPr>
        <p:grpSpPr>
          <a:xfrm>
            <a:off x="5432678" y="2867989"/>
            <a:ext cx="1791893" cy="1557679"/>
            <a:chOff x="5000628" y="2857496"/>
            <a:chExt cx="2389190" cy="1557679"/>
          </a:xfrm>
        </p:grpSpPr>
        <p:sp>
          <p:nvSpPr>
            <p:cNvPr id="6" name="Rectangle 2"/>
            <p:cNvSpPr>
              <a:spLocks noChangeArrowheads="1"/>
            </p:cNvSpPr>
            <p:nvPr/>
          </p:nvSpPr>
          <p:spPr bwMode="blackWhite">
            <a:xfrm>
              <a:off x="5137982" y="3345328"/>
              <a:ext cx="2244098" cy="1056148"/>
            </a:xfrm>
            <a:prstGeom prst="rect">
              <a:avLst/>
            </a:prstGeom>
            <a:solidFill>
              <a:srgbClr val="CC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5482335" y="3354046"/>
              <a:ext cx="1553458" cy="1041203"/>
              <a:chOff x="1244" y="1460"/>
              <a:chExt cx="803" cy="836"/>
            </a:xfrm>
          </p:grpSpPr>
          <p:sp>
            <p:nvSpPr>
              <p:cNvPr id="8" name="Rectangle 6"/>
              <p:cNvSpPr>
                <a:spLocks noChangeArrowheads="1"/>
              </p:cNvSpPr>
              <p:nvPr/>
            </p:nvSpPr>
            <p:spPr bwMode="ltGray">
              <a:xfrm>
                <a:off x="1244" y="1460"/>
                <a:ext cx="425" cy="836"/>
              </a:xfrm>
              <a:prstGeom prst="rect">
                <a:avLst/>
              </a:prstGeom>
              <a:solidFill>
                <a:srgbClr val="FF66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/>
            </p:nvSpPr>
            <p:spPr bwMode="ltGray">
              <a:xfrm>
                <a:off x="1852" y="1460"/>
                <a:ext cx="195" cy="836"/>
              </a:xfrm>
              <a:prstGeom prst="rect">
                <a:avLst/>
              </a:prstGeom>
              <a:solidFill>
                <a:srgbClr val="FF66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</p:grp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5000628" y="2857496"/>
              <a:ext cx="1673536" cy="400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buClrTx/>
                <a:buFontTx/>
                <a:buNone/>
              </a:pPr>
              <a:r>
                <a:rPr lang="en-US" sz="2000" dirty="0"/>
                <a:t>Projection</a:t>
              </a:r>
            </a:p>
          </p:txBody>
        </p:sp>
        <p:sp>
          <p:nvSpPr>
            <p:cNvPr id="12" name="Line 60"/>
            <p:cNvSpPr>
              <a:spLocks noChangeShapeType="1"/>
            </p:cNvSpPr>
            <p:nvPr/>
          </p:nvSpPr>
          <p:spPr bwMode="auto">
            <a:xfrm>
              <a:off x="6318068" y="3335364"/>
              <a:ext cx="0" cy="107981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3" name="Line 61"/>
            <p:cNvSpPr>
              <a:spLocks noChangeShapeType="1"/>
            </p:cNvSpPr>
            <p:nvPr/>
          </p:nvSpPr>
          <p:spPr bwMode="auto">
            <a:xfrm>
              <a:off x="5470727" y="3335364"/>
              <a:ext cx="0" cy="107981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4" name="Line 62"/>
            <p:cNvSpPr>
              <a:spLocks noChangeShapeType="1"/>
            </p:cNvSpPr>
            <p:nvPr/>
          </p:nvSpPr>
          <p:spPr bwMode="auto">
            <a:xfrm>
              <a:off x="5139917" y="3469874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5" name="Line 63"/>
            <p:cNvSpPr>
              <a:spLocks noChangeShapeType="1"/>
            </p:cNvSpPr>
            <p:nvPr/>
          </p:nvSpPr>
          <p:spPr bwMode="auto">
            <a:xfrm>
              <a:off x="5139917" y="3589438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6" name="Line 64"/>
            <p:cNvSpPr>
              <a:spLocks noChangeShapeType="1"/>
            </p:cNvSpPr>
            <p:nvPr/>
          </p:nvSpPr>
          <p:spPr bwMode="auto">
            <a:xfrm>
              <a:off x="5139917" y="3709001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7" name="Line 65"/>
            <p:cNvSpPr>
              <a:spLocks noChangeShapeType="1"/>
            </p:cNvSpPr>
            <p:nvPr/>
          </p:nvSpPr>
          <p:spPr bwMode="auto">
            <a:xfrm>
              <a:off x="5139917" y="3828565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8" name="Line 66"/>
            <p:cNvSpPr>
              <a:spLocks noChangeShapeType="1"/>
            </p:cNvSpPr>
            <p:nvPr/>
          </p:nvSpPr>
          <p:spPr bwMode="auto">
            <a:xfrm>
              <a:off x="5139917" y="3948129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19" name="Line 67"/>
            <p:cNvSpPr>
              <a:spLocks noChangeShapeType="1"/>
            </p:cNvSpPr>
            <p:nvPr/>
          </p:nvSpPr>
          <p:spPr bwMode="auto">
            <a:xfrm>
              <a:off x="5139917" y="4067693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20" name="Line 68"/>
            <p:cNvSpPr>
              <a:spLocks noChangeShapeType="1"/>
            </p:cNvSpPr>
            <p:nvPr/>
          </p:nvSpPr>
          <p:spPr bwMode="auto">
            <a:xfrm>
              <a:off x="5139917" y="4187257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21" name="Line 69"/>
            <p:cNvSpPr>
              <a:spLocks noChangeShapeType="1"/>
            </p:cNvSpPr>
            <p:nvPr/>
          </p:nvSpPr>
          <p:spPr bwMode="auto">
            <a:xfrm>
              <a:off x="5139917" y="4306821"/>
              <a:ext cx="224990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22" name="Line 70"/>
            <p:cNvSpPr>
              <a:spLocks noChangeShapeType="1"/>
            </p:cNvSpPr>
            <p:nvPr/>
          </p:nvSpPr>
          <p:spPr bwMode="auto">
            <a:xfrm>
              <a:off x="6648879" y="3335364"/>
              <a:ext cx="0" cy="107981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23" name="Line 71"/>
            <p:cNvSpPr>
              <a:spLocks noChangeShapeType="1"/>
            </p:cNvSpPr>
            <p:nvPr/>
          </p:nvSpPr>
          <p:spPr bwMode="auto">
            <a:xfrm>
              <a:off x="7045465" y="3334118"/>
              <a:ext cx="0" cy="10798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24" name="Rectangle 78"/>
            <p:cNvSpPr>
              <a:spLocks noChangeArrowheads="1"/>
            </p:cNvSpPr>
            <p:nvPr/>
          </p:nvSpPr>
          <p:spPr bwMode="blackWhite">
            <a:xfrm>
              <a:off x="5137982" y="3345328"/>
              <a:ext cx="2244098" cy="105614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</p:grpSp>
      <p:grpSp>
        <p:nvGrpSpPr>
          <p:cNvPr id="48" name="Groupe 47"/>
          <p:cNvGrpSpPr/>
          <p:nvPr/>
        </p:nvGrpSpPr>
        <p:grpSpPr>
          <a:xfrm>
            <a:off x="5493185" y="824210"/>
            <a:ext cx="1768091" cy="1643074"/>
            <a:chOff x="5000628" y="1071546"/>
            <a:chExt cx="1974850" cy="1456824"/>
          </a:xfrm>
        </p:grpSpPr>
        <p:sp>
          <p:nvSpPr>
            <p:cNvPr id="26" name="Rectangle 4"/>
            <p:cNvSpPr>
              <a:spLocks noChangeArrowheads="1"/>
            </p:cNvSpPr>
            <p:nvPr/>
          </p:nvSpPr>
          <p:spPr bwMode="blackWhite">
            <a:xfrm>
              <a:off x="5127628" y="1446595"/>
              <a:ext cx="1841500" cy="1081775"/>
            </a:xfrm>
            <a:prstGeom prst="rect">
              <a:avLst/>
            </a:prstGeom>
            <a:solidFill>
              <a:srgbClr val="CC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grpSp>
          <p:nvGrpSpPr>
            <p:cNvPr id="27" name="Group 8"/>
            <p:cNvGrpSpPr>
              <a:grpSpLocks/>
            </p:cNvGrpSpPr>
            <p:nvPr/>
          </p:nvGrpSpPr>
          <p:grpSpPr bwMode="auto">
            <a:xfrm>
              <a:off x="5137153" y="1577991"/>
              <a:ext cx="1825625" cy="857256"/>
              <a:chOff x="3422" y="1549"/>
              <a:chExt cx="1150" cy="672"/>
            </a:xfrm>
          </p:grpSpPr>
          <p:sp>
            <p:nvSpPr>
              <p:cNvPr id="28" name="Rectangle 9"/>
              <p:cNvSpPr>
                <a:spLocks noChangeArrowheads="1"/>
              </p:cNvSpPr>
              <p:nvPr/>
            </p:nvSpPr>
            <p:spPr bwMode="ltGray">
              <a:xfrm>
                <a:off x="3422" y="1741"/>
                <a:ext cx="1150" cy="91"/>
              </a:xfrm>
              <a:prstGeom prst="rect">
                <a:avLst/>
              </a:prstGeom>
              <a:solidFill>
                <a:srgbClr val="FF66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29" name="Rectangle 10"/>
              <p:cNvSpPr>
                <a:spLocks noChangeArrowheads="1"/>
              </p:cNvSpPr>
              <p:nvPr/>
            </p:nvSpPr>
            <p:spPr bwMode="ltGray">
              <a:xfrm>
                <a:off x="3422" y="2026"/>
                <a:ext cx="1150" cy="195"/>
              </a:xfrm>
              <a:prstGeom prst="rect">
                <a:avLst/>
              </a:prstGeom>
              <a:solidFill>
                <a:srgbClr val="FF66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30" name="Rectangle 11"/>
              <p:cNvSpPr>
                <a:spLocks noChangeArrowheads="1"/>
              </p:cNvSpPr>
              <p:nvPr/>
            </p:nvSpPr>
            <p:spPr bwMode="ltGray">
              <a:xfrm>
                <a:off x="3422" y="1549"/>
                <a:ext cx="1150" cy="85"/>
              </a:xfrm>
              <a:prstGeom prst="rect">
                <a:avLst/>
              </a:prstGeom>
              <a:solidFill>
                <a:srgbClr val="FF66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</p:grpSp>
        <p:sp>
          <p:nvSpPr>
            <p:cNvPr id="31" name="Line 14"/>
            <p:cNvSpPr>
              <a:spLocks noChangeShapeType="1"/>
            </p:cNvSpPr>
            <p:nvPr/>
          </p:nvSpPr>
          <p:spPr bwMode="auto">
            <a:xfrm>
              <a:off x="5129216" y="15741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2" name="Line 15"/>
            <p:cNvSpPr>
              <a:spLocks noChangeShapeType="1"/>
            </p:cNvSpPr>
            <p:nvPr/>
          </p:nvSpPr>
          <p:spPr bwMode="auto">
            <a:xfrm>
              <a:off x="5129216" y="1688974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>
              <a:off x="5129216" y="1819094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4" name="Line 17"/>
            <p:cNvSpPr>
              <a:spLocks noChangeShapeType="1"/>
            </p:cNvSpPr>
            <p:nvPr/>
          </p:nvSpPr>
          <p:spPr bwMode="auto">
            <a:xfrm>
              <a:off x="5129216" y="1941559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5" name="Line 18"/>
            <p:cNvSpPr>
              <a:spLocks noChangeShapeType="1"/>
            </p:cNvSpPr>
            <p:nvPr/>
          </p:nvSpPr>
          <p:spPr bwMode="auto">
            <a:xfrm>
              <a:off x="5129216" y="2064024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6" name="Line 19"/>
            <p:cNvSpPr>
              <a:spLocks noChangeShapeType="1"/>
            </p:cNvSpPr>
            <p:nvPr/>
          </p:nvSpPr>
          <p:spPr bwMode="auto">
            <a:xfrm>
              <a:off x="5129216" y="2186489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7" name="Line 20"/>
            <p:cNvSpPr>
              <a:spLocks noChangeShapeType="1"/>
            </p:cNvSpPr>
            <p:nvPr/>
          </p:nvSpPr>
          <p:spPr bwMode="auto">
            <a:xfrm>
              <a:off x="5129216" y="2308954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38" name="Line 21"/>
            <p:cNvSpPr>
              <a:spLocks noChangeShapeType="1"/>
            </p:cNvSpPr>
            <p:nvPr/>
          </p:nvSpPr>
          <p:spPr bwMode="auto">
            <a:xfrm>
              <a:off x="5129216" y="2431419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grpSp>
          <p:nvGrpSpPr>
            <p:cNvPr id="39" name="Group 80"/>
            <p:cNvGrpSpPr>
              <a:grpSpLocks/>
            </p:cNvGrpSpPr>
            <p:nvPr/>
          </p:nvGrpSpPr>
          <p:grpSpPr bwMode="auto">
            <a:xfrm>
              <a:off x="5400678" y="1436390"/>
              <a:ext cx="1292225" cy="1083051"/>
              <a:chOff x="3708" y="1414"/>
              <a:chExt cx="814" cy="867"/>
            </a:xfrm>
          </p:grpSpPr>
          <p:sp>
            <p:nvSpPr>
              <p:cNvPr id="40" name="Line 12"/>
              <p:cNvSpPr>
                <a:spLocks noChangeShapeType="1"/>
              </p:cNvSpPr>
              <p:nvPr/>
            </p:nvSpPr>
            <p:spPr bwMode="auto">
              <a:xfrm>
                <a:off x="4146" y="1414"/>
                <a:ext cx="0" cy="86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1" name="Line 13"/>
              <p:cNvSpPr>
                <a:spLocks noChangeShapeType="1"/>
              </p:cNvSpPr>
              <p:nvPr/>
            </p:nvSpPr>
            <p:spPr bwMode="auto">
              <a:xfrm>
                <a:off x="3708" y="1414"/>
                <a:ext cx="0" cy="86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2" name="Line 22"/>
              <p:cNvSpPr>
                <a:spLocks noChangeShapeType="1"/>
              </p:cNvSpPr>
              <p:nvPr/>
            </p:nvSpPr>
            <p:spPr bwMode="auto">
              <a:xfrm>
                <a:off x="4317" y="1414"/>
                <a:ext cx="0" cy="867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3" name="Line 23"/>
              <p:cNvSpPr>
                <a:spLocks noChangeShapeType="1"/>
              </p:cNvSpPr>
              <p:nvPr/>
            </p:nvSpPr>
            <p:spPr bwMode="auto">
              <a:xfrm>
                <a:off x="4522" y="1422"/>
                <a:ext cx="0" cy="85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CA"/>
              </a:p>
            </p:txBody>
          </p:sp>
        </p:grpSp>
        <p:sp>
          <p:nvSpPr>
            <p:cNvPr id="44" name="Rectangle 29"/>
            <p:cNvSpPr>
              <a:spLocks noChangeArrowheads="1"/>
            </p:cNvSpPr>
            <p:nvPr/>
          </p:nvSpPr>
          <p:spPr bwMode="auto">
            <a:xfrm>
              <a:off x="5000628" y="1071546"/>
              <a:ext cx="1260481" cy="355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buClrTx/>
                <a:buFontTx/>
                <a:buNone/>
              </a:pPr>
              <a:r>
                <a:rPr lang="en-US" sz="2000" dirty="0"/>
                <a:t>Selection</a:t>
              </a:r>
            </a:p>
          </p:txBody>
        </p:sp>
        <p:sp>
          <p:nvSpPr>
            <p:cNvPr id="46" name="Rectangle 76"/>
            <p:cNvSpPr>
              <a:spLocks noChangeArrowheads="1"/>
            </p:cNvSpPr>
            <p:nvPr/>
          </p:nvSpPr>
          <p:spPr bwMode="blackWhite">
            <a:xfrm>
              <a:off x="5127628" y="1446595"/>
              <a:ext cx="1841500" cy="108177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</p:grpSp>
      <p:grpSp>
        <p:nvGrpSpPr>
          <p:cNvPr id="84" name="Groupe 83"/>
          <p:cNvGrpSpPr/>
          <p:nvPr/>
        </p:nvGrpSpPr>
        <p:grpSpPr>
          <a:xfrm>
            <a:off x="4786290" y="4929199"/>
            <a:ext cx="3053999" cy="1214446"/>
            <a:chOff x="1641475" y="4351338"/>
            <a:chExt cx="5857875" cy="1366837"/>
          </a:xfrm>
        </p:grpSpPr>
        <p:sp>
          <p:nvSpPr>
            <p:cNvPr id="50" name="Rectangle 3"/>
            <p:cNvSpPr>
              <a:spLocks noChangeArrowheads="1"/>
            </p:cNvSpPr>
            <p:nvPr/>
          </p:nvSpPr>
          <p:spPr bwMode="blackWhite">
            <a:xfrm>
              <a:off x="1641475" y="4352925"/>
              <a:ext cx="1841500" cy="1346200"/>
            </a:xfrm>
            <a:prstGeom prst="rect">
              <a:avLst/>
            </a:prstGeom>
            <a:solidFill>
              <a:srgbClr val="CC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sp>
          <p:nvSpPr>
            <p:cNvPr id="51" name="Rectangle 25"/>
            <p:cNvSpPr>
              <a:spLocks noChangeArrowheads="1"/>
            </p:cNvSpPr>
            <p:nvPr/>
          </p:nvSpPr>
          <p:spPr bwMode="blackWhite">
            <a:xfrm>
              <a:off x="5651500" y="4354513"/>
              <a:ext cx="1841500" cy="1346200"/>
            </a:xfrm>
            <a:prstGeom prst="rect">
              <a:avLst/>
            </a:prstGeom>
            <a:solidFill>
              <a:srgbClr val="CCCC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grpSp>
          <p:nvGrpSpPr>
            <p:cNvPr id="52" name="Group 26"/>
            <p:cNvGrpSpPr>
              <a:grpSpLocks/>
            </p:cNvGrpSpPr>
            <p:nvPr/>
          </p:nvGrpSpPr>
          <p:grpSpPr bwMode="auto">
            <a:xfrm>
              <a:off x="3216275" y="4360863"/>
              <a:ext cx="2708275" cy="1330325"/>
              <a:chOff x="2026" y="2771"/>
              <a:chExt cx="1706" cy="838"/>
            </a:xfrm>
          </p:grpSpPr>
          <p:sp>
            <p:nvSpPr>
              <p:cNvPr id="53" name="Rectangle 27"/>
              <p:cNvSpPr>
                <a:spLocks noChangeArrowheads="1"/>
              </p:cNvSpPr>
              <p:nvPr/>
            </p:nvSpPr>
            <p:spPr bwMode="ltGray">
              <a:xfrm>
                <a:off x="2026" y="2771"/>
                <a:ext cx="165" cy="835"/>
              </a:xfrm>
              <a:prstGeom prst="rect">
                <a:avLst/>
              </a:prstGeom>
              <a:solidFill>
                <a:srgbClr val="FF66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  <p:sp>
            <p:nvSpPr>
              <p:cNvPr id="54" name="Rectangle 28"/>
              <p:cNvSpPr>
                <a:spLocks noChangeArrowheads="1"/>
              </p:cNvSpPr>
              <p:nvPr/>
            </p:nvSpPr>
            <p:spPr bwMode="ltGray">
              <a:xfrm>
                <a:off x="3567" y="2774"/>
                <a:ext cx="165" cy="835"/>
              </a:xfrm>
              <a:prstGeom prst="rect">
                <a:avLst/>
              </a:prstGeom>
              <a:solidFill>
                <a:srgbClr val="FF66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fr-CA"/>
              </a:p>
            </p:txBody>
          </p:sp>
        </p:grpSp>
        <p:sp>
          <p:nvSpPr>
            <p:cNvPr id="55" name="Line 31"/>
            <p:cNvSpPr>
              <a:spLocks noChangeShapeType="1"/>
            </p:cNvSpPr>
            <p:nvPr/>
          </p:nvSpPr>
          <p:spPr bwMode="auto">
            <a:xfrm>
              <a:off x="2609850" y="4354513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6" name="Line 32"/>
            <p:cNvSpPr>
              <a:spLocks noChangeShapeType="1"/>
            </p:cNvSpPr>
            <p:nvPr/>
          </p:nvSpPr>
          <p:spPr bwMode="auto">
            <a:xfrm>
              <a:off x="1914525" y="4354513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7" name="Line 33"/>
            <p:cNvSpPr>
              <a:spLocks noChangeShapeType="1"/>
            </p:cNvSpPr>
            <p:nvPr/>
          </p:nvSpPr>
          <p:spPr bwMode="auto">
            <a:xfrm>
              <a:off x="1643063" y="45116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8" name="Line 34"/>
            <p:cNvSpPr>
              <a:spLocks noChangeShapeType="1"/>
            </p:cNvSpPr>
            <p:nvPr/>
          </p:nvSpPr>
          <p:spPr bwMode="auto">
            <a:xfrm>
              <a:off x="1643063" y="46640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9" name="Line 35"/>
            <p:cNvSpPr>
              <a:spLocks noChangeShapeType="1"/>
            </p:cNvSpPr>
            <p:nvPr/>
          </p:nvSpPr>
          <p:spPr bwMode="auto">
            <a:xfrm>
              <a:off x="1643063" y="48164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0" name="Line 36"/>
            <p:cNvSpPr>
              <a:spLocks noChangeShapeType="1"/>
            </p:cNvSpPr>
            <p:nvPr/>
          </p:nvSpPr>
          <p:spPr bwMode="auto">
            <a:xfrm>
              <a:off x="1643063" y="49688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1" name="Line 37"/>
            <p:cNvSpPr>
              <a:spLocks noChangeShapeType="1"/>
            </p:cNvSpPr>
            <p:nvPr/>
          </p:nvSpPr>
          <p:spPr bwMode="auto">
            <a:xfrm>
              <a:off x="1643063" y="51212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2" name="Line 38"/>
            <p:cNvSpPr>
              <a:spLocks noChangeShapeType="1"/>
            </p:cNvSpPr>
            <p:nvPr/>
          </p:nvSpPr>
          <p:spPr bwMode="auto">
            <a:xfrm>
              <a:off x="1643063" y="52736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3" name="Line 39"/>
            <p:cNvSpPr>
              <a:spLocks noChangeShapeType="1"/>
            </p:cNvSpPr>
            <p:nvPr/>
          </p:nvSpPr>
          <p:spPr bwMode="auto">
            <a:xfrm>
              <a:off x="1643063" y="54260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4" name="Line 40"/>
            <p:cNvSpPr>
              <a:spLocks noChangeShapeType="1"/>
            </p:cNvSpPr>
            <p:nvPr/>
          </p:nvSpPr>
          <p:spPr bwMode="auto">
            <a:xfrm>
              <a:off x="1643063" y="5578475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5" name="Line 41"/>
            <p:cNvSpPr>
              <a:spLocks noChangeShapeType="1"/>
            </p:cNvSpPr>
            <p:nvPr/>
          </p:nvSpPr>
          <p:spPr bwMode="auto">
            <a:xfrm>
              <a:off x="2881313" y="4354513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6" name="Line 42"/>
            <p:cNvSpPr>
              <a:spLocks noChangeShapeType="1"/>
            </p:cNvSpPr>
            <p:nvPr/>
          </p:nvSpPr>
          <p:spPr bwMode="auto">
            <a:xfrm>
              <a:off x="3206750" y="4352925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7" name="Line 43"/>
            <p:cNvSpPr>
              <a:spLocks noChangeShapeType="1"/>
            </p:cNvSpPr>
            <p:nvPr/>
          </p:nvSpPr>
          <p:spPr bwMode="auto">
            <a:xfrm>
              <a:off x="6351588" y="4368800"/>
              <a:ext cx="0" cy="1333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8" name="Line 44"/>
            <p:cNvSpPr>
              <a:spLocks noChangeShapeType="1"/>
            </p:cNvSpPr>
            <p:nvPr/>
          </p:nvSpPr>
          <p:spPr bwMode="auto">
            <a:xfrm>
              <a:off x="5924550" y="4356100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69" name="Line 45"/>
            <p:cNvSpPr>
              <a:spLocks noChangeShapeType="1"/>
            </p:cNvSpPr>
            <p:nvPr/>
          </p:nvSpPr>
          <p:spPr bwMode="auto">
            <a:xfrm>
              <a:off x="5653088" y="45132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0" name="Line 46"/>
            <p:cNvSpPr>
              <a:spLocks noChangeShapeType="1"/>
            </p:cNvSpPr>
            <p:nvPr/>
          </p:nvSpPr>
          <p:spPr bwMode="auto">
            <a:xfrm>
              <a:off x="5653088" y="46656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1" name="Line 47"/>
            <p:cNvSpPr>
              <a:spLocks noChangeShapeType="1"/>
            </p:cNvSpPr>
            <p:nvPr/>
          </p:nvSpPr>
          <p:spPr bwMode="auto">
            <a:xfrm>
              <a:off x="5653088" y="48180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2" name="Line 48"/>
            <p:cNvSpPr>
              <a:spLocks noChangeShapeType="1"/>
            </p:cNvSpPr>
            <p:nvPr/>
          </p:nvSpPr>
          <p:spPr bwMode="auto">
            <a:xfrm>
              <a:off x="5653088" y="49704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3" name="Line 49"/>
            <p:cNvSpPr>
              <a:spLocks noChangeShapeType="1"/>
            </p:cNvSpPr>
            <p:nvPr/>
          </p:nvSpPr>
          <p:spPr bwMode="auto">
            <a:xfrm>
              <a:off x="5653088" y="51228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4" name="Line 50"/>
            <p:cNvSpPr>
              <a:spLocks noChangeShapeType="1"/>
            </p:cNvSpPr>
            <p:nvPr/>
          </p:nvSpPr>
          <p:spPr bwMode="auto">
            <a:xfrm>
              <a:off x="5653088" y="52752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5" name="Line 51"/>
            <p:cNvSpPr>
              <a:spLocks noChangeShapeType="1"/>
            </p:cNvSpPr>
            <p:nvPr/>
          </p:nvSpPr>
          <p:spPr bwMode="auto">
            <a:xfrm>
              <a:off x="5653088" y="54276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6" name="Line 52"/>
            <p:cNvSpPr>
              <a:spLocks noChangeShapeType="1"/>
            </p:cNvSpPr>
            <p:nvPr/>
          </p:nvSpPr>
          <p:spPr bwMode="auto">
            <a:xfrm>
              <a:off x="5653088" y="5580063"/>
              <a:ext cx="18462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7" name="Line 53"/>
            <p:cNvSpPr>
              <a:spLocks noChangeShapeType="1"/>
            </p:cNvSpPr>
            <p:nvPr/>
          </p:nvSpPr>
          <p:spPr bwMode="auto">
            <a:xfrm>
              <a:off x="6891338" y="4356100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8" name="Line 54"/>
            <p:cNvSpPr>
              <a:spLocks noChangeShapeType="1"/>
            </p:cNvSpPr>
            <p:nvPr/>
          </p:nvSpPr>
          <p:spPr bwMode="auto">
            <a:xfrm>
              <a:off x="7216775" y="4354513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79" name="Line 55"/>
            <p:cNvSpPr>
              <a:spLocks noChangeShapeType="1"/>
            </p:cNvSpPr>
            <p:nvPr/>
          </p:nvSpPr>
          <p:spPr bwMode="auto">
            <a:xfrm>
              <a:off x="6643688" y="4351338"/>
              <a:ext cx="0" cy="13620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3696899" y="4551363"/>
              <a:ext cx="2187971" cy="4510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>
                <a:buClrTx/>
                <a:buFontTx/>
                <a:buNone/>
              </a:pPr>
              <a:r>
                <a:rPr lang="en-US" sz="2000" b="1" dirty="0"/>
                <a:t>Jointure</a:t>
              </a:r>
            </a:p>
          </p:txBody>
        </p:sp>
        <p:sp>
          <p:nvSpPr>
            <p:cNvPr id="81" name="Line 73"/>
            <p:cNvSpPr>
              <a:spLocks noChangeShapeType="1"/>
            </p:cNvSpPr>
            <p:nvPr/>
          </p:nvSpPr>
          <p:spPr bwMode="auto">
            <a:xfrm flipV="1">
              <a:off x="3505200" y="5067300"/>
              <a:ext cx="21145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sm" len="sm"/>
              <a:tailEnd type="triangle" w="sm" len="sm"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82" name="Rectangle 77"/>
            <p:cNvSpPr>
              <a:spLocks noChangeArrowheads="1"/>
            </p:cNvSpPr>
            <p:nvPr/>
          </p:nvSpPr>
          <p:spPr bwMode="blackWhite">
            <a:xfrm>
              <a:off x="5651500" y="4354513"/>
              <a:ext cx="1841500" cy="13462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blackWhite">
            <a:xfrm>
              <a:off x="1641475" y="4352925"/>
              <a:ext cx="1841500" cy="134620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CA"/>
            </a:p>
          </p:txBody>
        </p:sp>
      </p:grpSp>
      <p:sp>
        <p:nvSpPr>
          <p:cNvPr id="85" name="Espace réservé du numéro de diapositive 8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8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49927" y="377741"/>
            <a:ext cx="7765322" cy="712852"/>
          </a:xfrm>
        </p:spPr>
        <p:txBody>
          <a:bodyPr/>
          <a:lstStyle/>
          <a:p>
            <a:r>
              <a:rPr lang="fr-CA" dirty="0"/>
              <a:t>L’instruction </a:t>
            </a:r>
            <a:r>
              <a:rPr lang="fr-CA" dirty="0" smtClean="0"/>
              <a:t>SELECT de base</a:t>
            </a:r>
            <a:endParaRPr lang="fr-CA" dirty="0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1224887" y="2212903"/>
            <a:ext cx="6615402" cy="1285884"/>
          </a:xfrm>
        </p:spPr>
        <p:txBody>
          <a:bodyPr>
            <a:normAutofit lnSpcReduction="10000"/>
          </a:bodyPr>
          <a:lstStyle/>
          <a:p>
            <a:r>
              <a:rPr lang="fr-CA" dirty="0" smtClean="0"/>
              <a:t>SELECT : indique les colonnes à afficher</a:t>
            </a:r>
          </a:p>
          <a:p>
            <a:r>
              <a:rPr lang="fr-CA" dirty="0" smtClean="0"/>
              <a:t>FROM: la table contenant les données à afficher</a:t>
            </a:r>
            <a:endParaRPr lang="fr-CA" dirty="0"/>
          </a:p>
        </p:txBody>
      </p:sp>
      <p:grpSp>
        <p:nvGrpSpPr>
          <p:cNvPr id="21527" name="Group 23"/>
          <p:cNvGrpSpPr>
            <a:grpSpLocks/>
          </p:cNvGrpSpPr>
          <p:nvPr/>
        </p:nvGrpSpPr>
        <p:grpSpPr bwMode="auto">
          <a:xfrm>
            <a:off x="1043608" y="3414396"/>
            <a:ext cx="6749349" cy="2606892"/>
            <a:chOff x="249" y="1979"/>
            <a:chExt cx="5341" cy="1618"/>
          </a:xfrm>
        </p:grpSpPr>
        <p:sp>
          <p:nvSpPr>
            <p:cNvPr id="21514" name="Text Box 10"/>
            <p:cNvSpPr txBox="1">
              <a:spLocks noChangeArrowheads="1"/>
            </p:cNvSpPr>
            <p:nvPr/>
          </p:nvSpPr>
          <p:spPr bwMode="auto">
            <a:xfrm>
              <a:off x="295" y="2568"/>
              <a:ext cx="117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fr-CA" sz="1600"/>
            </a:p>
          </p:txBody>
        </p:sp>
        <p:sp>
          <p:nvSpPr>
            <p:cNvPr id="21508" name="Text Box 4"/>
            <p:cNvSpPr txBox="1">
              <a:spLocks noChangeArrowheads="1"/>
            </p:cNvSpPr>
            <p:nvPr/>
          </p:nvSpPr>
          <p:spPr bwMode="auto">
            <a:xfrm>
              <a:off x="249" y="2450"/>
              <a:ext cx="2131" cy="11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/>
                <a:t>DEPTNO   DNAME          LOC</a:t>
              </a:r>
            </a:p>
            <a:p>
              <a:r>
                <a:rPr lang="en-US" sz="1200" dirty="0"/>
                <a:t>-------  -------------- ------------</a:t>
              </a:r>
            </a:p>
            <a:p>
              <a:r>
                <a:rPr lang="en-US" sz="1200" dirty="0"/>
                <a:t>     10   ACCOUNTING   NEW YORK</a:t>
              </a:r>
            </a:p>
            <a:p>
              <a:r>
                <a:rPr lang="en-US" sz="1200" dirty="0"/>
                <a:t>     20   RESEARCH       DALLAS</a:t>
              </a:r>
            </a:p>
            <a:p>
              <a:r>
                <a:rPr lang="en-US" sz="1200" dirty="0"/>
                <a:t>     30   SALES             CHICAGO</a:t>
              </a:r>
            </a:p>
            <a:p>
              <a:r>
                <a:rPr lang="en-US" sz="1200" dirty="0"/>
                <a:t>     40   OPERATIONS   BOSTON</a:t>
              </a:r>
              <a:endParaRPr lang="fr-CA" sz="1200" dirty="0"/>
            </a:p>
            <a:p>
              <a:pPr>
                <a:spcBef>
                  <a:spcPct val="50000"/>
                </a:spcBef>
              </a:pPr>
              <a:endParaRPr lang="fr-CA" sz="1200" dirty="0"/>
            </a:p>
          </p:txBody>
        </p:sp>
        <p:sp>
          <p:nvSpPr>
            <p:cNvPr id="21509" name="Text Box 5"/>
            <p:cNvSpPr txBox="1">
              <a:spLocks noChangeArrowheads="1"/>
            </p:cNvSpPr>
            <p:nvPr/>
          </p:nvSpPr>
          <p:spPr bwMode="auto">
            <a:xfrm>
              <a:off x="274" y="1997"/>
              <a:ext cx="1927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CA" sz="1400" b="1"/>
                <a:t>Contenu de la table Dept</a:t>
              </a:r>
            </a:p>
          </p:txBody>
        </p:sp>
        <p:sp>
          <p:nvSpPr>
            <p:cNvPr id="21512" name="Oval 8"/>
            <p:cNvSpPr>
              <a:spLocks noChangeArrowheads="1"/>
            </p:cNvSpPr>
            <p:nvPr/>
          </p:nvSpPr>
          <p:spPr bwMode="auto">
            <a:xfrm>
              <a:off x="2426" y="2644"/>
              <a:ext cx="1542" cy="741"/>
            </a:xfrm>
            <a:prstGeom prst="ellips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fr-CA" sz="1400" b="1" dirty="0">
                  <a:latin typeface="Courier New" pitchFamily="49" charset="0"/>
                  <a:cs typeface="Courier New" pitchFamily="49" charset="0"/>
                </a:rPr>
                <a:t>SELECT </a:t>
              </a:r>
              <a:r>
                <a:rPr lang="fr-CA" sz="1400" dirty="0" err="1">
                  <a:latin typeface="Courier New" pitchFamily="49" charset="0"/>
                  <a:cs typeface="Courier New" pitchFamily="49" charset="0"/>
                </a:rPr>
                <a:t>dname</a:t>
              </a:r>
              <a:endParaRPr lang="fr-CA" sz="1400" b="1" dirty="0">
                <a:latin typeface="Courier New" pitchFamily="49" charset="0"/>
                <a:cs typeface="Courier New" pitchFamily="49" charset="0"/>
              </a:endParaRPr>
            </a:p>
            <a:p>
              <a:r>
                <a:rPr lang="fr-CA" sz="1400" b="1" dirty="0">
                  <a:latin typeface="Courier New" pitchFamily="49" charset="0"/>
                  <a:cs typeface="Courier New" pitchFamily="49" charset="0"/>
                </a:rPr>
                <a:t>FROM </a:t>
              </a:r>
              <a:r>
                <a:rPr lang="fr-CA" sz="1400" dirty="0" err="1">
                  <a:latin typeface="Courier New" pitchFamily="49" charset="0"/>
                  <a:cs typeface="Courier New" pitchFamily="49" charset="0"/>
                </a:rPr>
                <a:t>dept</a:t>
              </a:r>
              <a:endParaRPr lang="fr-CA" sz="14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1518" name="Rectangle 14"/>
            <p:cNvSpPr>
              <a:spLocks noChangeArrowheads="1"/>
            </p:cNvSpPr>
            <p:nvPr/>
          </p:nvSpPr>
          <p:spPr bwMode="auto">
            <a:xfrm>
              <a:off x="4059" y="2523"/>
              <a:ext cx="1531" cy="8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200" dirty="0"/>
                <a:t>DNAME</a:t>
              </a:r>
            </a:p>
            <a:p>
              <a:r>
                <a:rPr lang="en-US" sz="1200" dirty="0"/>
                <a:t>------------</a:t>
              </a:r>
            </a:p>
            <a:p>
              <a:r>
                <a:rPr lang="en-US" sz="1200" dirty="0"/>
                <a:t>ACCOUNTING</a:t>
              </a:r>
            </a:p>
            <a:p>
              <a:r>
                <a:rPr lang="en-US" sz="1200" dirty="0"/>
                <a:t>RESEARCH</a:t>
              </a:r>
            </a:p>
            <a:p>
              <a:r>
                <a:rPr lang="en-US" sz="1200" dirty="0"/>
                <a:t>SALES</a:t>
              </a:r>
            </a:p>
            <a:p>
              <a:r>
                <a:rPr lang="en-US" sz="1200" dirty="0"/>
                <a:t>OPERATIONS</a:t>
              </a:r>
              <a:endParaRPr lang="fr-CA" sz="1200" dirty="0"/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>
              <a:off x="4269" y="1982"/>
              <a:ext cx="1179" cy="2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400" b="1"/>
                <a:t>Résultat</a:t>
              </a:r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>
              <a:off x="2472" y="1979"/>
              <a:ext cx="1179" cy="21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CA" sz="1400" b="1"/>
                <a:t>Requête SQL</a:t>
              </a:r>
            </a:p>
          </p:txBody>
        </p:sp>
        <p:sp>
          <p:nvSpPr>
            <p:cNvPr id="21524" name="Line 20"/>
            <p:cNvSpPr>
              <a:spLocks noChangeShapeType="1"/>
            </p:cNvSpPr>
            <p:nvPr/>
          </p:nvSpPr>
          <p:spPr bwMode="auto">
            <a:xfrm>
              <a:off x="1020" y="220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5" name="Line 21"/>
            <p:cNvSpPr>
              <a:spLocks noChangeShapeType="1"/>
            </p:cNvSpPr>
            <p:nvPr/>
          </p:nvSpPr>
          <p:spPr bwMode="auto">
            <a:xfrm>
              <a:off x="3107" y="2160"/>
              <a:ext cx="0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  <p:sp>
          <p:nvSpPr>
            <p:cNvPr id="21526" name="Line 22"/>
            <p:cNvSpPr>
              <a:spLocks noChangeShapeType="1"/>
            </p:cNvSpPr>
            <p:nvPr/>
          </p:nvSpPr>
          <p:spPr bwMode="auto">
            <a:xfrm>
              <a:off x="4830" y="2160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18" name="Rectangle 3"/>
          <p:cNvSpPr>
            <a:spLocks noChangeArrowheads="1"/>
          </p:cNvSpPr>
          <p:nvPr/>
        </p:nvSpPr>
        <p:spPr bwMode="blackGray">
          <a:xfrm>
            <a:off x="467544" y="1245420"/>
            <a:ext cx="7992888" cy="87105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/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SELECT *|{[DISTINCT] </a:t>
            </a:r>
            <a:r>
              <a:rPr lang="en-US" b="1" i="1" dirty="0" err="1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|</a:t>
            </a:r>
            <a:r>
              <a:rPr lang="en-US" b="1" i="1" dirty="0" err="1">
                <a:solidFill>
                  <a:srgbClr val="000000"/>
                </a:solidFill>
                <a:latin typeface="Courier New" pitchFamily="49" charset="0"/>
              </a:rPr>
              <a:t>expression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[</a:t>
            </a:r>
            <a:r>
              <a:rPr lang="en-US" b="1" i="1" dirty="0">
                <a:solidFill>
                  <a:srgbClr val="000000"/>
                </a:solidFill>
                <a:latin typeface="Courier New" pitchFamily="49" charset="0"/>
              </a:rPr>
              <a:t>alias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],...}</a:t>
            </a:r>
          </a:p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FROM    </a:t>
            </a:r>
            <a:r>
              <a:rPr lang="en-US" b="1" i="1" dirty="0">
                <a:solidFill>
                  <a:srgbClr val="000000"/>
                </a:solidFill>
                <a:latin typeface="Courier New" pitchFamily="49" charset="0"/>
              </a:rPr>
              <a:t>table;</a:t>
            </a:r>
          </a:p>
        </p:txBody>
      </p:sp>
      <p:sp>
        <p:nvSpPr>
          <p:cNvPr id="16" name="Espace réservé du numéro de diapositiv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2219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502443"/>
            <a:ext cx="7765322" cy="604822"/>
          </a:xfrm>
        </p:spPr>
        <p:txBody>
          <a:bodyPr>
            <a:normAutofit/>
          </a:bodyPr>
          <a:lstStyle/>
          <a:p>
            <a:r>
              <a:rPr lang="fr-CA" dirty="0"/>
              <a:t>Afficher toutes les colonnes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196752"/>
            <a:ext cx="7200800" cy="1292472"/>
          </a:xfrm>
        </p:spPr>
        <p:txBody>
          <a:bodyPr>
            <a:normAutofit/>
          </a:bodyPr>
          <a:lstStyle/>
          <a:p>
            <a:r>
              <a:rPr lang="fr-CA" dirty="0"/>
              <a:t>Afficher tout le contenu de la table </a:t>
            </a:r>
            <a:r>
              <a:rPr lang="fr-CA" dirty="0" err="1"/>
              <a:t>dept</a:t>
            </a:r>
            <a:r>
              <a:rPr lang="fr-CA" dirty="0"/>
              <a:t>:</a:t>
            </a:r>
          </a:p>
          <a:p>
            <a:pPr lvl="1">
              <a:buFont typeface="Wingdings" pitchFamily="2" charset="2"/>
              <a:buNone/>
            </a:pPr>
            <a:r>
              <a:rPr lang="fr-CA" dirty="0"/>
              <a:t>		</a:t>
            </a:r>
            <a:r>
              <a:rPr lang="fr-CA" sz="1800" b="1" dirty="0"/>
              <a:t>SELECT</a:t>
            </a:r>
            <a:r>
              <a:rPr lang="fr-CA" sz="1800" dirty="0"/>
              <a:t> </a:t>
            </a:r>
            <a:r>
              <a:rPr lang="fr-CA" sz="1800" dirty="0" smtClean="0"/>
              <a:t>   * </a:t>
            </a:r>
            <a:endParaRPr lang="fr-CA" sz="1800" dirty="0"/>
          </a:p>
          <a:p>
            <a:pPr lvl="1">
              <a:buFont typeface="Wingdings" pitchFamily="2" charset="2"/>
              <a:buNone/>
            </a:pPr>
            <a:r>
              <a:rPr lang="fr-CA" sz="1800" dirty="0"/>
              <a:t>		</a:t>
            </a:r>
            <a:r>
              <a:rPr lang="fr-CA" sz="1800" b="1" dirty="0"/>
              <a:t>FROM</a:t>
            </a:r>
            <a:r>
              <a:rPr lang="fr-CA" sz="1800" dirty="0"/>
              <a:t> </a:t>
            </a:r>
            <a:r>
              <a:rPr lang="fr-CA" sz="1800" dirty="0" err="1" smtClean="0"/>
              <a:t>dept</a:t>
            </a:r>
            <a:r>
              <a:rPr lang="fr-CA" sz="1800" dirty="0" smtClean="0"/>
              <a:t>;</a:t>
            </a:r>
            <a:endParaRPr lang="fr-CA" sz="1800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15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718817"/>
            <a:ext cx="4352925" cy="32480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1295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981346" cy="801467"/>
          </a:xfrm>
        </p:spPr>
        <p:txBody>
          <a:bodyPr>
            <a:normAutofit fontScale="90000"/>
          </a:bodyPr>
          <a:lstStyle/>
          <a:p>
            <a:r>
              <a:rPr lang="fr-CA" dirty="0" smtClean="0"/>
              <a:t>Afficher uniquement </a:t>
            </a:r>
            <a:r>
              <a:rPr lang="fr-CA" b="1" dirty="0" smtClean="0"/>
              <a:t>certaines</a:t>
            </a:r>
            <a:r>
              <a:rPr lang="fr-CA" dirty="0" smtClean="0"/>
              <a:t> colonnes (Projection)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7584" y="1214422"/>
            <a:ext cx="7012705" cy="1404792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/>
            <a:r>
              <a:rPr lang="fr-CA" sz="1800" dirty="0">
                <a:solidFill>
                  <a:schemeClr val="dk1"/>
                </a:solidFill>
              </a:rPr>
              <a:t>Afficher le nom et la localisation de tous les départements:</a:t>
            </a:r>
          </a:p>
          <a:p>
            <a:pPr marL="914400" lvl="2"/>
            <a:r>
              <a:rPr lang="fr-CA" sz="1800" dirty="0">
                <a:solidFill>
                  <a:schemeClr val="dk1"/>
                </a:solidFill>
              </a:rPr>
              <a:t>SELECT </a:t>
            </a:r>
            <a:r>
              <a:rPr lang="fr-CA" sz="1800" dirty="0" err="1">
                <a:solidFill>
                  <a:schemeClr val="dk1"/>
                </a:solidFill>
              </a:rPr>
              <a:t>dname</a:t>
            </a:r>
            <a:r>
              <a:rPr lang="fr-CA" sz="1800" dirty="0">
                <a:solidFill>
                  <a:schemeClr val="dk1"/>
                </a:solidFill>
              </a:rPr>
              <a:t>, </a:t>
            </a:r>
            <a:r>
              <a:rPr lang="fr-CA" sz="1800" dirty="0" err="1">
                <a:solidFill>
                  <a:schemeClr val="dk1"/>
                </a:solidFill>
              </a:rPr>
              <a:t>loc</a:t>
            </a:r>
            <a:endParaRPr lang="fr-CA" sz="1800" dirty="0">
              <a:solidFill>
                <a:schemeClr val="dk1"/>
              </a:solidFill>
            </a:endParaRPr>
          </a:p>
          <a:p>
            <a:pPr marL="914400" lvl="2"/>
            <a:r>
              <a:rPr lang="fr-CA" sz="1800" dirty="0">
                <a:solidFill>
                  <a:schemeClr val="dk1"/>
                </a:solidFill>
              </a:rPr>
              <a:t>FROM </a:t>
            </a:r>
            <a:r>
              <a:rPr lang="fr-CA" sz="1800" dirty="0" err="1">
                <a:solidFill>
                  <a:schemeClr val="dk1"/>
                </a:solidFill>
              </a:rPr>
              <a:t>dept</a:t>
            </a:r>
            <a:endParaRPr lang="fr-CA" sz="1800" dirty="0">
              <a:solidFill>
                <a:schemeClr val="dk1"/>
              </a:solidFill>
            </a:endParaRPr>
          </a:p>
          <a:p>
            <a:pPr marL="0"/>
            <a:endParaRPr lang="fr-CA" sz="1800" dirty="0">
              <a:solidFill>
                <a:schemeClr val="dk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16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708920"/>
            <a:ext cx="4382269" cy="351094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ZoneTexte 3"/>
          <p:cNvSpPr txBox="1"/>
          <p:nvPr/>
        </p:nvSpPr>
        <p:spPr>
          <a:xfrm>
            <a:off x="5148064" y="2706241"/>
            <a:ext cx="3600400" cy="316545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>
            <a:normAutofit/>
          </a:bodyPr>
          <a:lstStyle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/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lvl="2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" pitchFamily="2" charset="2"/>
              <a:buNone/>
              <a:defRPr kumimoji="0" sz="2000" b="1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r>
              <a:rPr lang="fr-CA" sz="1800" dirty="0"/>
              <a:t>Le texte en vert est un </a:t>
            </a:r>
            <a:r>
              <a:rPr lang="fr-CA" sz="1800" b="1" dirty="0"/>
              <a:t>commentaire</a:t>
            </a:r>
            <a:r>
              <a:rPr lang="fr-CA" sz="1800" dirty="0"/>
              <a:t>. Il sert à documenter le code et  n’est pas considéré lors de l’exécution du code (c’est comme il ‘existe </a:t>
            </a:r>
            <a:r>
              <a:rPr lang="fr-CA" sz="1800" dirty="0" smtClean="0"/>
              <a:t>pas).</a:t>
            </a:r>
          </a:p>
          <a:p>
            <a:r>
              <a:rPr lang="fr-CA" sz="1800" dirty="0" smtClean="0"/>
              <a:t>On peut sélectionner une ou plusieurs commandes SQL pour les exécuter en cliquant sur </a:t>
            </a:r>
            <a:endParaRPr lang="fr-CA" sz="1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251" y="5085184"/>
            <a:ext cx="9620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508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7"/>
          <p:cNvSpPr>
            <a:spLocks noGrp="1" noChangeArrowheads="1"/>
          </p:cNvSpPr>
          <p:nvPr>
            <p:ph type="title"/>
          </p:nvPr>
        </p:nvSpPr>
        <p:spPr>
          <a:xfrm>
            <a:off x="669479" y="260648"/>
            <a:ext cx="7765322" cy="720080"/>
          </a:xfrm>
        </p:spPr>
        <p:txBody>
          <a:bodyPr>
            <a:normAutofit/>
          </a:bodyPr>
          <a:lstStyle/>
          <a:p>
            <a:r>
              <a:rPr lang="fr-CA" dirty="0" smtClean="0"/>
              <a:t>Expressions calculées</a:t>
            </a:r>
          </a:p>
        </p:txBody>
      </p:sp>
      <p:sp>
        <p:nvSpPr>
          <p:cNvPr id="14339" name="Rectangle 58"/>
          <p:cNvSpPr>
            <a:spLocks noGrp="1" noChangeArrowheads="1"/>
          </p:cNvSpPr>
          <p:nvPr>
            <p:ph type="body" idx="1"/>
          </p:nvPr>
        </p:nvSpPr>
        <p:spPr>
          <a:xfrm>
            <a:off x="562559" y="1259153"/>
            <a:ext cx="7428033" cy="1000132"/>
          </a:xfrm>
        </p:spPr>
        <p:txBody>
          <a:bodyPr>
            <a:normAutofit fontScale="62500" lnSpcReduction="20000"/>
          </a:bodyPr>
          <a:lstStyle/>
          <a:p>
            <a:pPr marL="0" indent="0"/>
            <a:r>
              <a:rPr lang="fr-CA" dirty="0" smtClean="0"/>
              <a:t>On peut créer des expressions sur des données de type numérique ou date en utilisant les opérateurs arithmétique: +, *,-,/</a:t>
            </a:r>
          </a:p>
          <a:p>
            <a:pPr marL="0" indent="0"/>
            <a:r>
              <a:rPr lang="fr-CA" dirty="0" smtClean="0"/>
              <a:t>Une expression dans un SELECT est aussi connue sous le nom de </a:t>
            </a:r>
            <a:r>
              <a:rPr lang="fr-CA" b="1" dirty="0" smtClean="0"/>
              <a:t>Champ calculé</a:t>
            </a:r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blackGray">
          <a:xfrm>
            <a:off x="1547664" y="1988840"/>
            <a:ext cx="5760640" cy="58578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/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SELECT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+ 300</a:t>
            </a:r>
          </a:p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FROM   </a:t>
            </a:r>
            <a:r>
              <a:rPr lang="en-US" b="1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17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80928"/>
            <a:ext cx="5333137" cy="346852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2" name="ZoneTexte 1"/>
          <p:cNvSpPr txBox="1"/>
          <p:nvPr/>
        </p:nvSpPr>
        <p:spPr>
          <a:xfrm>
            <a:off x="4499992" y="4797152"/>
            <a:ext cx="4104456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>
            <a:defPPr>
              <a:defRPr lang="fr-FR"/>
            </a:defPPr>
            <a:lvl1pPr eaLnBrk="0" hangingPunct="0">
              <a:tabLst>
                <a:tab pos="1200150" algn="l"/>
              </a:tabLst>
              <a:defRPr b="1">
                <a:solidFill>
                  <a:srgbClr val="000000"/>
                </a:solidFill>
                <a:latin typeface="Courier New" pitchFamily="49" charset="0"/>
              </a:defRPr>
            </a:lvl1pPr>
          </a:lstStyle>
          <a:p>
            <a:r>
              <a:rPr lang="fr-CA" dirty="0"/>
              <a:t>L’expression  n’a pas de nom</a:t>
            </a:r>
          </a:p>
        </p:txBody>
      </p:sp>
    </p:spTree>
    <p:extLst>
      <p:ext uri="{BB962C8B-B14F-4D97-AF65-F5344CB8AC3E}">
        <p14:creationId xmlns:p14="http://schemas.microsoft.com/office/powerpoint/2010/main" val="384899958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2"/>
          <p:cNvSpPr>
            <a:spLocks noChangeArrowheads="1"/>
          </p:cNvSpPr>
          <p:nvPr/>
        </p:nvSpPr>
        <p:spPr bwMode="blackGray">
          <a:xfrm>
            <a:off x="1525207" y="2230173"/>
            <a:ext cx="5457825" cy="11031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/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SELECT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, 12*sal+100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FROM 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xfrm>
            <a:off x="683568" y="404664"/>
            <a:ext cx="7765322" cy="676046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fr-CA" dirty="0" smtClean="0"/>
              <a:t>Priorité des opérateurs</a:t>
            </a:r>
          </a:p>
        </p:txBody>
      </p:sp>
      <p:sp>
        <p:nvSpPr>
          <p:cNvPr id="16388" name="Rectangle 5"/>
          <p:cNvSpPr>
            <a:spLocks noChangeArrowheads="1"/>
          </p:cNvSpPr>
          <p:nvPr/>
        </p:nvSpPr>
        <p:spPr bwMode="blackWhite">
          <a:xfrm>
            <a:off x="4067944" y="2435650"/>
            <a:ext cx="1543050" cy="3460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16389" name="Rectangle 14"/>
          <p:cNvSpPr>
            <a:spLocks noChangeArrowheads="1"/>
          </p:cNvSpPr>
          <p:nvPr/>
        </p:nvSpPr>
        <p:spPr bwMode="blackGray">
          <a:xfrm>
            <a:off x="1525208" y="3849688"/>
            <a:ext cx="5457825" cy="74136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/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SELECT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12*(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sal+100</a:t>
            </a: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eaLnBrk="0" hangingPunct="0">
              <a:tabLst>
                <a:tab pos="1200150" algn="l"/>
              </a:tabLst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FROM 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390" name="Rectangle 15"/>
          <p:cNvSpPr>
            <a:spLocks noChangeArrowheads="1"/>
          </p:cNvSpPr>
          <p:nvPr/>
        </p:nvSpPr>
        <p:spPr bwMode="blackWhite">
          <a:xfrm>
            <a:off x="4644008" y="3921130"/>
            <a:ext cx="1368152" cy="346075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CA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814388" y="1592785"/>
            <a:ext cx="725233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A" dirty="0" smtClean="0"/>
              <a:t>Utiliser les </a:t>
            </a:r>
            <a:r>
              <a:rPr lang="fr-CA" b="1" dirty="0" smtClean="0"/>
              <a:t>parenthèses</a:t>
            </a:r>
            <a:r>
              <a:rPr lang="fr-CA" dirty="0" smtClean="0"/>
              <a:t> pour définir l’ordre d’évaluation des expressions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128878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6172200" cy="650857"/>
          </a:xfrm>
        </p:spPr>
        <p:txBody>
          <a:bodyPr>
            <a:normAutofit/>
          </a:bodyPr>
          <a:lstStyle/>
          <a:p>
            <a:r>
              <a:rPr lang="fr-CA" dirty="0"/>
              <a:t>Utiliser des alias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1502" y="1142984"/>
            <a:ext cx="7963853" cy="1965976"/>
          </a:xfrm>
        </p:spPr>
        <p:txBody>
          <a:bodyPr>
            <a:normAutofit fontScale="92500" lnSpcReduction="20000"/>
          </a:bodyPr>
          <a:lstStyle/>
          <a:p>
            <a:r>
              <a:rPr lang="fr-CA" sz="2400" dirty="0"/>
              <a:t>Un alias permet de donner des noms significatifs aux entêtes de colonnes.</a:t>
            </a:r>
          </a:p>
          <a:p>
            <a:r>
              <a:rPr lang="fr-CA" sz="2400" dirty="0"/>
              <a:t>Utiles pour les champs calculés (expressions dans SELECT)</a:t>
            </a:r>
          </a:p>
          <a:p>
            <a:r>
              <a:rPr lang="fr-CA" sz="2400" dirty="0"/>
              <a:t>Suit immédiatement le nom de la colonne</a:t>
            </a:r>
          </a:p>
          <a:p>
            <a:r>
              <a:rPr lang="fr-CA" sz="2400" dirty="0"/>
              <a:t>Nécessite des guillemets "…" s'il contient des espaces ou des caractères spéciaux ou si on veut conserver la casse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CCCE-710D-4B93-BCAC-035EB34A1622}" type="slidenum">
              <a:rPr lang="fr-FR" smtClean="0"/>
              <a:pPr/>
              <a:t>19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104753"/>
            <a:ext cx="5367953" cy="3132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0981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846929"/>
          </a:xfrm>
        </p:spPr>
        <p:txBody>
          <a:bodyPr/>
          <a:lstStyle/>
          <a:p>
            <a:r>
              <a:rPr lang="fr-CA" dirty="0"/>
              <a:t>Utiliser des alias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11970" y="1412776"/>
            <a:ext cx="8336494" cy="1296144"/>
          </a:xfr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>
            <a:normAutofit lnSpcReduction="10000"/>
          </a:bodyPr>
          <a:lstStyle/>
          <a:p>
            <a:pPr marL="0" eaLnBrk="0" hangingPunct="0">
              <a:tabLst>
                <a:tab pos="1200150" algn="l"/>
              </a:tabLst>
            </a:pPr>
            <a:r>
              <a:rPr lang="fr-CA" sz="1800" b="1" dirty="0">
                <a:solidFill>
                  <a:srgbClr val="000000"/>
                </a:solidFill>
                <a:latin typeface="Courier New" pitchFamily="49" charset="0"/>
              </a:rPr>
              <a:t>On peut aussi utiliser une autre façon pour les alias </a:t>
            </a:r>
            <a:r>
              <a:rPr lang="fr-CA" sz="1800" b="1" dirty="0" smtClean="0">
                <a:solidFill>
                  <a:srgbClr val="000000"/>
                </a:solidFill>
                <a:latin typeface="Courier New" pitchFamily="49" charset="0"/>
              </a:rPr>
              <a:t>dans </a:t>
            </a:r>
            <a:br>
              <a:rPr lang="fr-CA" sz="1800" b="1" dirty="0" smtClean="0">
                <a:solidFill>
                  <a:srgbClr val="000000"/>
                </a:solidFill>
                <a:latin typeface="Courier New" pitchFamily="49" charset="0"/>
              </a:rPr>
            </a:br>
            <a:r>
              <a:rPr lang="fr-CA" sz="18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fr-CA" sz="1800" b="1" dirty="0" err="1" smtClean="0">
                <a:solidFill>
                  <a:srgbClr val="000000"/>
                </a:solidFill>
                <a:latin typeface="Courier New" pitchFamily="49" charset="0"/>
              </a:rPr>
              <a:t>Sql</a:t>
            </a:r>
            <a:r>
              <a:rPr lang="fr-CA" sz="1800" b="1" dirty="0" smtClean="0">
                <a:solidFill>
                  <a:srgbClr val="000000"/>
                </a:solidFill>
                <a:latin typeface="Courier New" pitchFamily="49" charset="0"/>
              </a:rPr>
              <a:t> Serveur</a:t>
            </a:r>
          </a:p>
          <a:p>
            <a:pPr marL="0" indent="0" eaLnBrk="0" hangingPunct="0">
              <a:buNone/>
              <a:tabLst>
                <a:tab pos="1200150" algn="l"/>
              </a:tabLst>
            </a:pPr>
            <a:r>
              <a:rPr lang="fr-CA" sz="1800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fr-CA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   </a:t>
            </a:r>
            <a:r>
              <a:rPr lang="fr-CA" sz="20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alias = </a:t>
            </a:r>
            <a:r>
              <a:rPr lang="fr-CA" sz="20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expression</a:t>
            </a:r>
          </a:p>
          <a:p>
            <a:pPr marL="274320" lvl="1" indent="0" eaLnBrk="0" hangingPunct="0">
              <a:buNone/>
              <a:tabLst>
                <a:tab pos="1200150" algn="l"/>
              </a:tabLst>
            </a:pPr>
            <a:r>
              <a:rPr lang="fr-CA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fr-CA" sz="2000" b="1" dirty="0" err="1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fr-CA" sz="2000" b="1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…………</a:t>
            </a:r>
            <a:endParaRPr lang="fr-CA" sz="2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564904"/>
            <a:ext cx="6302802" cy="386747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674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Utiliser des alias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489720"/>
          </a:xfrm>
        </p:spPr>
        <p:txBody>
          <a:bodyPr>
            <a:normAutofit fontScale="70000" lnSpcReduction="20000"/>
          </a:bodyPr>
          <a:lstStyle/>
          <a:p>
            <a:r>
              <a:rPr lang="fr-CA" dirty="0" smtClean="0"/>
              <a:t>On peut utiliser des alias sur  les colonnes (donc pas seulement les expressions)</a:t>
            </a:r>
          </a:p>
          <a:p>
            <a:r>
              <a:rPr lang="fr-CA" dirty="0" smtClean="0"/>
              <a:t>Utile, si on trouve que le nom de la colonne est ambigu, trop long(ou trop court),….</a:t>
            </a:r>
          </a:p>
          <a:p>
            <a:r>
              <a:rPr lang="fr-CA" dirty="0" smtClean="0"/>
              <a:t>Le nom de la colonne dans la table ne change pas(c’est limité à l’exécution de la requête)</a:t>
            </a:r>
            <a:endParaRPr lang="fr-CA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955" y="2636912"/>
            <a:ext cx="7629525" cy="388354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181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6172200" cy="722295"/>
          </a:xfrm>
        </p:spPr>
        <p:txBody>
          <a:bodyPr/>
          <a:lstStyle/>
          <a:p>
            <a:r>
              <a:rPr lang="fr-CA" dirty="0"/>
              <a:t>Utiliser des alias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628800"/>
            <a:ext cx="4608512" cy="1062450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CA" sz="1800" dirty="0"/>
              <a:t>Des " </a:t>
            </a:r>
            <a:r>
              <a:rPr lang="fr-CA" sz="1800" dirty="0" smtClean="0"/>
              <a:t>"  ou des [ ] </a:t>
            </a:r>
            <a:r>
              <a:rPr lang="fr-CA" sz="1800" dirty="0"/>
              <a:t>sont nécessaires lorsque </a:t>
            </a:r>
            <a:r>
              <a:rPr lang="fr-CA" sz="1800" dirty="0" smtClean="0"/>
              <a:t>l’alias </a:t>
            </a:r>
            <a:r>
              <a:rPr lang="fr-CA" sz="1800" dirty="0"/>
              <a:t>inclut des espaces, des caractères </a:t>
            </a:r>
            <a:r>
              <a:rPr lang="fr-CA" sz="1800" dirty="0" smtClean="0"/>
              <a:t>spéciaux(accents)</a:t>
            </a:r>
            <a:endParaRPr lang="fr-CA" sz="18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CCCE-710D-4B93-BCAC-035EB34A1622}" type="slidenum">
              <a:rPr lang="fr-FR" smtClean="0"/>
              <a:pPr/>
              <a:t>22</a:t>
            </a:fld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259" y="1124744"/>
            <a:ext cx="3765029" cy="194421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369" y="3140968"/>
            <a:ext cx="5676900" cy="3311277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42833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>
          <a:xfrm>
            <a:off x="539552" y="332656"/>
            <a:ext cx="7765322" cy="560369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Opérateur</a:t>
            </a:r>
            <a:r>
              <a:rPr lang="en-US" dirty="0" smtClean="0"/>
              <a:t> de </a:t>
            </a:r>
            <a:r>
              <a:rPr lang="en-US" dirty="0" err="1" smtClean="0"/>
              <a:t>Concaténation</a:t>
            </a:r>
            <a:endParaRPr lang="en-US" dirty="0" smtClean="0"/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250133" y="1142984"/>
            <a:ext cx="6429420" cy="714380"/>
          </a:xfrm>
        </p:spPr>
        <p:txBody>
          <a:bodyPr>
            <a:normAutofit fontScale="70000" lnSpcReduction="20000"/>
          </a:bodyPr>
          <a:lstStyle/>
          <a:p>
            <a:r>
              <a:rPr lang="fr-CA" dirty="0" smtClean="0"/>
              <a:t>Permet de combiner plusieurs colonnes en une seule.  </a:t>
            </a:r>
          </a:p>
          <a:p>
            <a:r>
              <a:rPr lang="fr-CA" dirty="0" smtClean="0"/>
              <a:t>C’est le « + » qui sert pour la concaténation dans SQL Server</a:t>
            </a:r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blackGray">
          <a:xfrm>
            <a:off x="1043608" y="1916832"/>
            <a:ext cx="6912768" cy="82477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/>
          <a:p>
            <a:pPr eaLnBrk="0" hangingPunct="0">
              <a:tabLst>
                <a:tab pos="1200150" algn="l"/>
              </a:tabLst>
            </a:pPr>
            <a:r>
              <a:rPr lang="en-US" b="1" dirty="0">
                <a:latin typeface="Courier New" pitchFamily="49" charset="0"/>
              </a:rPr>
              <a:t>SELECT	</a:t>
            </a:r>
            <a:r>
              <a:rPr lang="en-US" b="1" dirty="0" err="1" smtClean="0">
                <a:latin typeface="Courier New" pitchFamily="49" charset="0"/>
              </a:rPr>
              <a:t>ename</a:t>
            </a:r>
            <a:r>
              <a:rPr lang="en-US" b="1" dirty="0" smtClean="0">
                <a:latin typeface="Courier New" pitchFamily="49" charset="0"/>
              </a:rPr>
              <a:t> + ‘ </a:t>
            </a:r>
            <a:r>
              <a:rPr lang="en-US" b="1" dirty="0" err="1" smtClean="0">
                <a:latin typeface="Courier New" pitchFamily="49" charset="0"/>
              </a:rPr>
              <a:t>est</a:t>
            </a:r>
            <a:r>
              <a:rPr lang="en-US" b="1" dirty="0" smtClean="0">
                <a:latin typeface="Courier New" pitchFamily="49" charset="0"/>
              </a:rPr>
              <a:t> un ‘ + job  </a:t>
            </a:r>
            <a:r>
              <a:rPr lang="en-US" b="1" dirty="0">
                <a:latin typeface="Courier New" pitchFamily="49" charset="0"/>
              </a:rPr>
              <a:t>AS </a:t>
            </a:r>
            <a:r>
              <a:rPr lang="en-US" b="1" dirty="0" err="1" smtClean="0">
                <a:latin typeface="Courier New" pitchFamily="49" charset="0"/>
              </a:rPr>
              <a:t>Emploi</a:t>
            </a:r>
            <a:endParaRPr lang="en-US" b="1" dirty="0" smtClean="0">
              <a:latin typeface="Courier New" pitchFamily="49" charset="0"/>
            </a:endParaRPr>
          </a:p>
          <a:p>
            <a:pPr eaLnBrk="0" hangingPunct="0">
              <a:tabLst>
                <a:tab pos="1200150" algn="l"/>
              </a:tabLst>
            </a:pPr>
            <a:r>
              <a:rPr lang="en-US" b="1" dirty="0" smtClean="0">
                <a:latin typeface="Courier New" pitchFamily="49" charset="0"/>
              </a:rPr>
              <a:t>FROM </a:t>
            </a: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 err="1" smtClean="0">
                <a:latin typeface="Courier New" pitchFamily="49" charset="0"/>
              </a:rPr>
              <a:t>emp</a:t>
            </a:r>
            <a:r>
              <a:rPr lang="en-US" b="1" dirty="0" smtClean="0">
                <a:latin typeface="Courier New" pitchFamily="49" charset="0"/>
              </a:rPr>
              <a:t>;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2" name="Rectangle 5"/>
          <p:cNvSpPr txBox="1">
            <a:spLocks noChangeArrowheads="1"/>
          </p:cNvSpPr>
          <p:nvPr/>
        </p:nvSpPr>
        <p:spPr>
          <a:xfrm>
            <a:off x="6228184" y="3560446"/>
            <a:ext cx="2449586" cy="150019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54864" tIns="91440" rtlCol="0">
            <a:normAutofit fontScale="55000" lnSpcReduction="20000"/>
          </a:bodyPr>
          <a:lstStyle/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fr-CA" sz="3200" dirty="0"/>
              <a:t>On remarque l'utilisation de '   '  pour les chaines de caractères, les</a:t>
            </a:r>
            <a:r>
              <a:rPr lang="fr-CA" sz="3200" b="1" dirty="0"/>
              <a:t> " "  </a:t>
            </a:r>
            <a:r>
              <a:rPr lang="fr-CA" sz="3200" dirty="0"/>
              <a:t>sont réservés pour les alias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23</a:t>
            </a:fld>
            <a:endParaRPr lang="fr-F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78" y="2943597"/>
            <a:ext cx="5095342" cy="3563094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56849486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14292"/>
            <a:ext cx="7776864" cy="650857"/>
          </a:xfrm>
        </p:spPr>
        <p:txBody>
          <a:bodyPr>
            <a:normAutofit/>
          </a:bodyPr>
          <a:lstStyle/>
          <a:p>
            <a:r>
              <a:rPr lang="fr-CA" dirty="0"/>
              <a:t>Exécuter une requête dans un fichier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196752"/>
            <a:ext cx="3816424" cy="10092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fr-CA" sz="1600" dirty="0" smtClean="0"/>
              <a:t>Dans SSMS: Menu Tools/Options</a:t>
            </a:r>
          </a:p>
          <a:p>
            <a:pPr>
              <a:lnSpc>
                <a:spcPct val="80000"/>
              </a:lnSpc>
            </a:pPr>
            <a:r>
              <a:rPr lang="fr-CA" sz="1600" dirty="0" err="1" smtClean="0"/>
              <a:t>Query</a:t>
            </a:r>
            <a:r>
              <a:rPr lang="fr-CA" sz="1600" dirty="0" smtClean="0"/>
              <a:t> </a:t>
            </a:r>
            <a:r>
              <a:rPr lang="fr-CA" sz="1600" dirty="0" err="1" smtClean="0"/>
              <a:t>Results</a:t>
            </a:r>
            <a:r>
              <a:rPr lang="fr-CA" sz="1600" dirty="0" smtClean="0"/>
              <a:t>/ </a:t>
            </a:r>
            <a:r>
              <a:rPr lang="fr-CA" sz="1600" dirty="0" err="1" smtClean="0"/>
              <a:t>Sql</a:t>
            </a:r>
            <a:r>
              <a:rPr lang="fr-CA" sz="1600" dirty="0" smtClean="0"/>
              <a:t> Server</a:t>
            </a:r>
          </a:p>
          <a:p>
            <a:pPr>
              <a:lnSpc>
                <a:spcPct val="80000"/>
              </a:lnSpc>
            </a:pPr>
            <a:r>
              <a:rPr lang="fr-CA" sz="1600" dirty="0" smtClean="0"/>
              <a:t>Default destination: choisir Fichier</a:t>
            </a:r>
          </a:p>
          <a:p>
            <a:pPr>
              <a:lnSpc>
                <a:spcPct val="80000"/>
              </a:lnSpc>
            </a:pPr>
            <a:r>
              <a:rPr lang="fr-CA" sz="1600" dirty="0" smtClean="0"/>
              <a:t>Choisir l’emplacement pour les fichiers</a:t>
            </a:r>
            <a:endParaRPr lang="fr-CA" sz="16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ECCCE-710D-4B93-BCAC-035EB34A1622}" type="slidenum">
              <a:rPr lang="fr-FR" smtClean="0"/>
              <a:pPr/>
              <a:t>24</a:t>
            </a:fld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27" y="2204864"/>
            <a:ext cx="4104456" cy="309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132856"/>
            <a:ext cx="4392488" cy="302433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644008" y="1268760"/>
            <a:ext cx="3816424" cy="8652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>
            <a:normAutofit lnSpcReduction="10000"/>
          </a:bodyPr>
          <a:lstStyle>
            <a:lvl1pPr marL="27432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1600">
                <a:solidFill>
                  <a:schemeClr val="dk1"/>
                </a:solidFill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dk1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>
                <a:solidFill>
                  <a:schemeClr val="dk1"/>
                </a:solidFill>
              </a:defRPr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>
                <a:solidFill>
                  <a:schemeClr val="dk1"/>
                </a:solidFill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>
                <a:solidFill>
                  <a:schemeClr val="dk1"/>
                </a:solidFill>
              </a:defRPr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>
                <a:solidFill>
                  <a:schemeClr val="dk1"/>
                </a:solidFill>
              </a:defRPr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>
                <a:solidFill>
                  <a:schemeClr val="dk1"/>
                </a:solidFill>
              </a:defRPr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>
                <a:solidFill>
                  <a:schemeClr val="dk1"/>
                </a:solidFill>
              </a:defRPr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>
                <a:solidFill>
                  <a:schemeClr val="dk1"/>
                </a:solidFill>
              </a:defRPr>
            </a:lvl9pPr>
          </a:lstStyle>
          <a:p>
            <a:r>
              <a:rPr lang="fr-CA" dirty="0"/>
              <a:t>Si on crée une nouvelle requête et on l’exécute, une fenêtre s’ouvre pour choisir un nom de fichier pour les résultats de la requête.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33314" y="5384548"/>
            <a:ext cx="4001169" cy="9690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>
            <a:normAutofit fontScale="85000" lnSpcReduction="20000"/>
          </a:bodyPr>
          <a:lstStyle>
            <a:lvl1pPr marL="274320" indent="-274320">
              <a:lnSpc>
                <a:spcPct val="80000"/>
              </a:lnSpc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1600">
                <a:solidFill>
                  <a:schemeClr val="dk1"/>
                </a:solidFill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dk1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>
                <a:solidFill>
                  <a:schemeClr val="dk1"/>
                </a:solidFill>
              </a:defRPr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>
                <a:solidFill>
                  <a:schemeClr val="dk1"/>
                </a:solidFill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>
                <a:solidFill>
                  <a:schemeClr val="dk1"/>
                </a:solidFill>
              </a:defRPr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>
                <a:solidFill>
                  <a:schemeClr val="dk1"/>
                </a:solidFill>
              </a:defRPr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>
                <a:solidFill>
                  <a:schemeClr val="dk1"/>
                </a:solidFill>
              </a:defRPr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>
                <a:solidFill>
                  <a:schemeClr val="dk1"/>
                </a:solidFill>
              </a:defRPr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>
                <a:solidFill>
                  <a:schemeClr val="dk1"/>
                </a:solidFill>
              </a:defRPr>
            </a:lvl9pPr>
          </a:lstStyle>
          <a:p>
            <a:r>
              <a:rPr lang="fr-CA" dirty="0"/>
              <a:t>On peut revenir dans SSMS: Menu Tools/Options</a:t>
            </a:r>
          </a:p>
          <a:p>
            <a:r>
              <a:rPr lang="fr-CA" dirty="0" err="1"/>
              <a:t>Query</a:t>
            </a:r>
            <a:r>
              <a:rPr lang="fr-CA" dirty="0"/>
              <a:t> </a:t>
            </a:r>
            <a:r>
              <a:rPr lang="fr-CA" dirty="0" err="1"/>
              <a:t>Results</a:t>
            </a:r>
            <a:r>
              <a:rPr lang="fr-CA" dirty="0"/>
              <a:t>/ </a:t>
            </a:r>
            <a:r>
              <a:rPr lang="fr-CA" dirty="0" err="1"/>
              <a:t>Sql</a:t>
            </a:r>
            <a:r>
              <a:rPr lang="fr-CA" dirty="0"/>
              <a:t> Server</a:t>
            </a:r>
          </a:p>
          <a:p>
            <a:r>
              <a:rPr lang="fr-CA" dirty="0"/>
              <a:t>Clic sur  « Reset Default »  pour revenir à un affichage à l’écran</a:t>
            </a:r>
          </a:p>
          <a:p>
            <a:r>
              <a:rPr lang="fr-CA" dirty="0"/>
              <a:t>Choisir l’emplacement pour les fichiers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037" y="5302334"/>
            <a:ext cx="172402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736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810331" y="4168763"/>
            <a:ext cx="6009894" cy="1714512"/>
          </a:xfrm>
        </p:spPr>
        <p:txBody>
          <a:bodyPr>
            <a:noAutofit/>
          </a:bodyPr>
          <a:lstStyle/>
          <a:p>
            <a:pPr algn="r"/>
            <a:r>
              <a:rPr lang="fr-CA" sz="5400" dirty="0" smtClean="0"/>
              <a:t>SÉLECTION:</a:t>
            </a:r>
            <a:br>
              <a:rPr lang="fr-CA" sz="5400" dirty="0" smtClean="0"/>
            </a:br>
            <a:r>
              <a:rPr lang="fr-CA" sz="5400" dirty="0" smtClean="0"/>
              <a:t>La </a:t>
            </a:r>
            <a:r>
              <a:rPr lang="fr-CA" sz="5400" dirty="0"/>
              <a:t>clause </a:t>
            </a:r>
            <a:r>
              <a:rPr lang="fr-CA" sz="5400" dirty="0" smtClean="0"/>
              <a:t>WHERE</a:t>
            </a:r>
            <a:endParaRPr lang="fr-CA" sz="54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D23C-DAEF-4521-8F6C-B2B3C8744140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22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79" name="Rectangle 15"/>
          <p:cNvSpPr>
            <a:spLocks noGrp="1" noChangeArrowheads="1"/>
          </p:cNvSpPr>
          <p:nvPr>
            <p:ph type="title"/>
          </p:nvPr>
        </p:nvSpPr>
        <p:spPr>
          <a:xfrm>
            <a:off x="685345" y="377804"/>
            <a:ext cx="7765322" cy="765165"/>
          </a:xfrm>
        </p:spPr>
        <p:txBody>
          <a:bodyPr/>
          <a:lstStyle/>
          <a:p>
            <a:r>
              <a:rPr lang="en-US" dirty="0" smtClean="0"/>
              <a:t>La clause Where (</a:t>
            </a:r>
            <a:r>
              <a:rPr lang="en-US" dirty="0" err="1" smtClean="0"/>
              <a:t>Sélection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69680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622486" y="1593514"/>
            <a:ext cx="7891040" cy="1279739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fr-CA" dirty="0" smtClean="0"/>
              <a:t>limiter le nombre d'enregistrements retournés</a:t>
            </a:r>
          </a:p>
          <a:p>
            <a:pPr lvl="1"/>
            <a:r>
              <a:rPr lang="fr-CA" dirty="0" smtClean="0"/>
              <a:t>La clause </a:t>
            </a:r>
            <a:r>
              <a:rPr lang="fr-CA" b="1" dirty="0" smtClean="0">
                <a:latin typeface="Courier New" pitchFamily="49" charset="0"/>
              </a:rPr>
              <a:t>WHERE</a:t>
            </a:r>
            <a:r>
              <a:rPr lang="fr-CA" dirty="0" smtClean="0"/>
              <a:t> suit immédiatement la clause </a:t>
            </a:r>
            <a:r>
              <a:rPr lang="fr-CA" dirty="0" smtClean="0">
                <a:latin typeface="Courier New" pitchFamily="49" charset="0"/>
              </a:rPr>
              <a:t>FROM</a:t>
            </a:r>
            <a:r>
              <a:rPr lang="fr-CA" dirty="0" smtClean="0"/>
              <a:t> .</a:t>
            </a:r>
          </a:p>
          <a:p>
            <a:pPr lvl="1"/>
            <a:r>
              <a:rPr lang="fr-CA" dirty="0" smtClean="0"/>
              <a:t>Elle se compose de noms de colonnes, d’expressions et d’opérateurs de comparaison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26</a:t>
            </a:fld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898" y="3140968"/>
            <a:ext cx="7258159" cy="163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717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90042" y="188640"/>
            <a:ext cx="7991110" cy="742968"/>
          </a:xfrm>
        </p:spPr>
        <p:txBody>
          <a:bodyPr>
            <a:normAutofit fontScale="90000"/>
          </a:bodyPr>
          <a:lstStyle/>
          <a:p>
            <a:r>
              <a:rPr lang="fr-CA" dirty="0"/>
              <a:t>Exemple d’utilisation de la clause WHERE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588839" y="1196752"/>
            <a:ext cx="7882813" cy="522269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r>
              <a:rPr lang="fr-CA" dirty="0"/>
              <a:t>Afficher le nom, emploi et salaire de tous les employés qui sont des commis (</a:t>
            </a:r>
            <a:r>
              <a:rPr lang="fr-CA" dirty="0" err="1"/>
              <a:t>clerk</a:t>
            </a:r>
            <a:r>
              <a:rPr lang="fr-CA" dirty="0"/>
              <a:t> en anglais)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64088" y="2852936"/>
            <a:ext cx="3024336" cy="92869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54864" tIns="91440" rtlCol="0">
            <a:normAutofit/>
          </a:bodyPr>
          <a:lstStyle/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fr-CA" sz="2000" dirty="0"/>
              <a:t>Noter l'utilisation de '  '  (simples et pas de " ")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27</a:t>
            </a:fld>
            <a:endParaRPr lang="fr-F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32" y="2132856"/>
            <a:ext cx="3867150" cy="28003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12588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La casse dans SQL Serveur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633736"/>
          </a:xfrm>
        </p:spPr>
        <p:txBody>
          <a:bodyPr>
            <a:normAutofit fontScale="85000" lnSpcReduction="20000"/>
          </a:bodyPr>
          <a:lstStyle/>
          <a:p>
            <a:r>
              <a:rPr lang="fr-CA" dirty="0" smtClean="0"/>
              <a:t>C’est à l’installation de </a:t>
            </a:r>
            <a:r>
              <a:rPr lang="fr-CA" dirty="0" err="1" smtClean="0"/>
              <a:t>Sql</a:t>
            </a:r>
            <a:r>
              <a:rPr lang="fr-CA" dirty="0" smtClean="0"/>
              <a:t> Server ou la création d’une BD qu’on choisit si on veut la </a:t>
            </a:r>
            <a:r>
              <a:rPr lang="fr-CA" dirty="0" err="1" smtClean="0"/>
              <a:t>sesibilité</a:t>
            </a:r>
            <a:r>
              <a:rPr lang="fr-CA" dirty="0" smtClean="0"/>
              <a:t> à la casse ou non</a:t>
            </a:r>
          </a:p>
          <a:p>
            <a:r>
              <a:rPr lang="fr-CA" dirty="0" smtClean="0"/>
              <a:t>Si on la choisit, alors </a:t>
            </a:r>
          </a:p>
          <a:p>
            <a:pPr lvl="1"/>
            <a:r>
              <a:rPr lang="fr-CA" dirty="0" smtClean="0"/>
              <a:t>Les noms des tables, colonnes,…deviennent sensibles à la casse. Et ce n’est pas une bonne chose</a:t>
            </a:r>
          </a:p>
          <a:p>
            <a:endParaRPr lang="fr-CA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852936"/>
            <a:ext cx="5256584" cy="32194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4" name="ZoneTexte 3"/>
          <p:cNvSpPr txBox="1"/>
          <p:nvPr/>
        </p:nvSpPr>
        <p:spPr>
          <a:xfrm>
            <a:off x="5724128" y="3068960"/>
            <a:ext cx="311904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A" dirty="0" smtClean="0"/>
              <a:t>On obtient les résultats même </a:t>
            </a:r>
          </a:p>
          <a:p>
            <a:r>
              <a:rPr lang="fr-CA" dirty="0" smtClean="0"/>
              <a:t>si la valeur  recherchée est écrite différemment  que les données dans la table</a:t>
            </a:r>
            <a:endParaRPr lang="fr-CA" dirty="0"/>
          </a:p>
        </p:txBody>
      </p:sp>
      <p:sp>
        <p:nvSpPr>
          <p:cNvPr id="6" name="ZoneTexte 5"/>
          <p:cNvSpPr txBox="1"/>
          <p:nvPr/>
        </p:nvSpPr>
        <p:spPr>
          <a:xfrm>
            <a:off x="5796136" y="4581128"/>
            <a:ext cx="3047032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A" dirty="0" smtClean="0"/>
              <a:t>Donc notre </a:t>
            </a:r>
            <a:r>
              <a:rPr lang="fr-CA" dirty="0" err="1" smtClean="0"/>
              <a:t>Sql</a:t>
            </a:r>
            <a:r>
              <a:rPr lang="fr-CA" dirty="0" smtClean="0"/>
              <a:t> server,  n’est pas sensible à la casse 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775447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Opérateurs de </a:t>
            </a:r>
            <a:r>
              <a:rPr lang="fr-CA" dirty="0" smtClean="0"/>
              <a:t>comparaison SQL</a:t>
            </a:r>
            <a:endParaRPr lang="fr-CA" dirty="0"/>
          </a:p>
        </p:txBody>
      </p:sp>
      <p:graphicFrame>
        <p:nvGraphicFramePr>
          <p:cNvPr id="33855" name="Group 6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550139"/>
              </p:ext>
            </p:extLst>
          </p:nvPr>
        </p:nvGraphicFramePr>
        <p:xfrm>
          <a:off x="1481907" y="1782591"/>
          <a:ext cx="6172200" cy="4116899"/>
        </p:xfrm>
        <a:graphic>
          <a:graphicData uri="http://schemas.openxmlformats.org/drawingml/2006/table">
            <a:tbl>
              <a:tblPr/>
              <a:tblGrid>
                <a:gridCol w="17939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782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Opérateur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Signification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=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égal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&gt;=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Plus grand ou égal à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&lt;=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Plus petit ou égal à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&lt;&gt; (ou !=)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différent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&lt;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Plus petit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&gt;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Plus grand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fr-CA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BETWEEN…AND…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Entre deux valeurs (</a:t>
                      </a:r>
                      <a:r>
                        <a:rPr kumimoji="0" lang="fr-CA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inclusivement</a:t>
                      </a: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)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IN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Égale à l’une des valeurs d’une liste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LIKE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Correspond à un modèle de chaine de caractères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90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387677"/>
            <a:ext cx="7765322" cy="733063"/>
          </a:xfrm>
        </p:spPr>
        <p:txBody>
          <a:bodyPr/>
          <a:lstStyle/>
          <a:p>
            <a:r>
              <a:rPr lang="fr-CA" dirty="0"/>
              <a:t>Exemple avec l’opérateur &lt;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1187624" y="1484784"/>
            <a:ext cx="6172200" cy="56211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fr-CA" dirty="0"/>
              <a:t>Afficher les noms de tous les employés qui gagnent moins que 1500 $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30</a:t>
            </a:fld>
            <a:endParaRPr lang="fr-FR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92896"/>
            <a:ext cx="5524500" cy="312420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60857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459129"/>
            <a:ext cx="7765322" cy="547868"/>
          </a:xfrm>
        </p:spPr>
        <p:txBody>
          <a:bodyPr>
            <a:normAutofit fontScale="90000"/>
          </a:bodyPr>
          <a:lstStyle/>
          <a:p>
            <a:r>
              <a:rPr lang="fr-CA" dirty="0"/>
              <a:t>Exemple avec l’opérateur </a:t>
            </a:r>
            <a:r>
              <a:rPr lang="fr-CA" dirty="0" smtClean="0"/>
              <a:t>&lt;&gt;  (ou !=)</a:t>
            </a:r>
            <a:endParaRPr lang="fr-CA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63146" y="1427074"/>
            <a:ext cx="7925278" cy="108074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fr-CA" sz="2400" dirty="0"/>
              <a:t>Afficher </a:t>
            </a:r>
            <a:r>
              <a:rPr lang="fr-CA" sz="2400" dirty="0" smtClean="0"/>
              <a:t>des informations sur tous </a:t>
            </a:r>
            <a:r>
              <a:rPr lang="fr-CA" sz="2400" dirty="0"/>
              <a:t>les employés qui travaillent dans un département </a:t>
            </a:r>
            <a:r>
              <a:rPr lang="fr-CA" sz="2400" b="1" dirty="0"/>
              <a:t>autre que le numéro 20</a:t>
            </a:r>
            <a:r>
              <a:rPr lang="fr-CA" sz="2400" dirty="0"/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31</a:t>
            </a:fld>
            <a:endParaRPr lang="fr-F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564904"/>
            <a:ext cx="6172200" cy="374441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16563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60648"/>
            <a:ext cx="8424936" cy="888654"/>
          </a:xfrm>
        </p:spPr>
        <p:txBody>
          <a:bodyPr>
            <a:normAutofit fontScale="90000"/>
          </a:bodyPr>
          <a:lstStyle/>
          <a:p>
            <a:r>
              <a:rPr lang="fr-CA" sz="3600" dirty="0"/>
              <a:t>Exemple avec l’opérateur</a:t>
            </a:r>
            <a:r>
              <a:rPr lang="fr-CA" dirty="0"/>
              <a:t> </a:t>
            </a:r>
            <a:r>
              <a:rPr lang="fr-CA" sz="3200" dirty="0"/>
              <a:t>BETWEEN...AND...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268760"/>
            <a:ext cx="8496944" cy="86409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fr-CA" sz="2400" dirty="0"/>
              <a:t>Afficher les noms et le salaire de tous les employés qui gagnent entre 2000 et </a:t>
            </a:r>
            <a:r>
              <a:rPr lang="fr-CA" sz="2400" dirty="0" smtClean="0"/>
              <a:t>5000 $ (</a:t>
            </a:r>
            <a:r>
              <a:rPr lang="fr-CA" sz="2400" b="1" dirty="0" smtClean="0"/>
              <a:t>inclusivement</a:t>
            </a:r>
            <a:r>
              <a:rPr lang="fr-CA" sz="2400" dirty="0" smtClean="0"/>
              <a:t>) </a:t>
            </a:r>
            <a:r>
              <a:rPr lang="fr-CA" sz="2400" dirty="0"/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32</a:t>
            </a:fld>
            <a:endParaRPr lang="fr-FR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5533862" cy="324036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67558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470705"/>
            <a:ext cx="7765322" cy="652041"/>
          </a:xfrm>
        </p:spPr>
        <p:txBody>
          <a:bodyPr>
            <a:normAutofit/>
          </a:bodyPr>
          <a:lstStyle/>
          <a:p>
            <a:r>
              <a:rPr lang="fr-CA" dirty="0"/>
              <a:t>Exemple avec l’opérateur </a:t>
            </a:r>
            <a:r>
              <a:rPr lang="fr-CA" b="1" dirty="0"/>
              <a:t>IN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69112" y="1397191"/>
            <a:ext cx="8420582" cy="77885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fr-CA" sz="2400" dirty="0"/>
              <a:t>Afficher les noms </a:t>
            </a:r>
            <a:r>
              <a:rPr lang="fr-CA" sz="2400" dirty="0" smtClean="0"/>
              <a:t>et emplois de </a:t>
            </a:r>
            <a:r>
              <a:rPr lang="fr-CA" sz="2400" dirty="0"/>
              <a:t>tous les employés </a:t>
            </a:r>
            <a:r>
              <a:rPr lang="fr-CA" sz="2400" b="1" dirty="0" smtClean="0"/>
              <a:t>qui sont manager ou analystes</a:t>
            </a:r>
            <a:endParaRPr lang="fr-CA" sz="24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33</a:t>
            </a:fld>
            <a:endParaRPr lang="fr-FR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492896"/>
            <a:ext cx="5210175" cy="340042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43193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486296"/>
            <a:ext cx="7765322" cy="671173"/>
          </a:xfrm>
        </p:spPr>
        <p:txBody>
          <a:bodyPr>
            <a:normAutofit/>
          </a:bodyPr>
          <a:lstStyle/>
          <a:p>
            <a:r>
              <a:rPr lang="fr-CA" dirty="0"/>
              <a:t>Exemple avec l’opérateur LIKE</a:t>
            </a:r>
            <a:endParaRPr 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685346" y="2792001"/>
            <a:ext cx="7878272" cy="5471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fr-CA" sz="2400" dirty="0"/>
              <a:t>Afficher les noms de tous les employés dont le nom contient la lettre r</a:t>
            </a:r>
            <a:endParaRPr lang="en-US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685345" y="1293791"/>
            <a:ext cx="7765322" cy="1220809"/>
          </a:xfrm>
          <a:prstGeom prst="rect">
            <a:avLst/>
          </a:prstGeom>
        </p:spPr>
        <p:txBody>
          <a:bodyPr vert="horz" lIns="54864" tIns="91440" rtlCol="0">
            <a:normAutofit fontScale="70000" lnSpcReduction="20000"/>
          </a:bodyPr>
          <a:lstStyle/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fr-CA" sz="3200" dirty="0" smtClean="0"/>
              <a:t>Il permet de comparer avec un  modèle de chaine de caractères(similaire au caractères génériques de Windows)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fr-CA" sz="3200" dirty="0" smtClean="0"/>
              <a:t>% </a:t>
            </a:r>
            <a:r>
              <a:rPr lang="fr-CA" sz="3200" dirty="0"/>
              <a:t>:  0 ou plusieurs caractères</a:t>
            </a:r>
          </a:p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fr-CA" sz="3200" dirty="0"/>
              <a:t>_     1 caractère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32" y="3429000"/>
            <a:ext cx="7501618" cy="266429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57553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345" y="372006"/>
            <a:ext cx="7765322" cy="668124"/>
          </a:xfrm>
        </p:spPr>
        <p:txBody>
          <a:bodyPr>
            <a:normAutofit/>
          </a:bodyPr>
          <a:lstStyle/>
          <a:p>
            <a:r>
              <a:rPr lang="fr-CA" dirty="0" smtClean="0"/>
              <a:t>Traitement des valeurs nulles 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91748" y="1196752"/>
            <a:ext cx="7812699" cy="120244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fr-CA" dirty="0" smtClean="0"/>
              <a:t>Une valeur nulle est une valeur: inconnue, non applicable, non disponible,…</a:t>
            </a:r>
          </a:p>
          <a:p>
            <a:r>
              <a:rPr lang="fr-CA" dirty="0" smtClean="0"/>
              <a:t>Une valeur nulle est </a:t>
            </a:r>
            <a:r>
              <a:rPr lang="fr-CA" b="1" dirty="0" smtClean="0">
                <a:solidFill>
                  <a:srgbClr val="FF0000"/>
                </a:solidFill>
              </a:rPr>
              <a:t>différente de 0 </a:t>
            </a:r>
            <a:r>
              <a:rPr lang="fr-CA" dirty="0" smtClean="0"/>
              <a:t>et de l'espace. </a:t>
            </a:r>
          </a:p>
          <a:p>
            <a:r>
              <a:rPr lang="fr-CA" dirty="0" smtClean="0"/>
              <a:t>On ne peut pas utiliser l’opérateur « = » pour comparer pour des valeurs nulles    </a:t>
            </a:r>
            <a:endParaRPr lang="fr-CA" dirty="0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5652120" y="2420888"/>
            <a:ext cx="3044712" cy="38884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54864" tIns="91440" rtlCol="0">
            <a:noAutofit/>
          </a:bodyPr>
          <a:lstStyle/>
          <a:p>
            <a:pPr marL="438912" indent="-320040" defTabSz="91440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fr-CA" dirty="0"/>
              <a:t>Ici, certains employés:</a:t>
            </a:r>
          </a:p>
          <a:p>
            <a:pPr marL="896112" lvl="1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fr-CA" dirty="0"/>
              <a:t>ont un chiffre pour la commission,</a:t>
            </a:r>
          </a:p>
          <a:p>
            <a:pPr marL="896112" lvl="1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fr-CA" dirty="0"/>
              <a:t>d'autres ont </a:t>
            </a:r>
            <a:r>
              <a:rPr lang="fr-CA" sz="2400" dirty="0"/>
              <a:t>0</a:t>
            </a:r>
          </a:p>
          <a:p>
            <a:pPr marL="896112" lvl="1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fr-CA" dirty="0"/>
              <a:t>et d'autres n'affichent rien. </a:t>
            </a:r>
          </a:p>
          <a:p>
            <a:pPr marL="438912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fr-CA" dirty="0"/>
              <a:t>Ce sont les derniers dont la commission est nulle qui n'affichent rien</a:t>
            </a:r>
          </a:p>
          <a:p>
            <a:pPr marL="438912" indent="-320040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fr-CA" dirty="0"/>
              <a:t>Ce sont des employés qui ne travaillent pas à commission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4" name="Flèche gauche 3"/>
          <p:cNvSpPr/>
          <p:nvPr/>
        </p:nvSpPr>
        <p:spPr>
          <a:xfrm>
            <a:off x="4217670" y="4056225"/>
            <a:ext cx="1157288" cy="3438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606047"/>
            <a:ext cx="4530602" cy="358804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333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56" name="Rectangle 12"/>
          <p:cNvSpPr>
            <a:spLocks noChangeArrowheads="1"/>
          </p:cNvSpPr>
          <p:nvPr/>
        </p:nvSpPr>
        <p:spPr bwMode="blackGray">
          <a:xfrm>
            <a:off x="3194093" y="4442469"/>
            <a:ext cx="3353009" cy="9239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</a:pPr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mgr</a:t>
            </a:r>
          </a:p>
          <a:p>
            <a:pPr>
              <a:tabLst>
                <a:tab pos="1200150" algn="l"/>
              </a:tabLst>
            </a:pPr>
            <a:r>
              <a:rPr lang="en-US" dirty="0"/>
              <a:t>FROM   </a:t>
            </a:r>
            <a:r>
              <a:rPr lang="en-US" dirty="0" err="1"/>
              <a:t>emp</a:t>
            </a:r>
            <a:endParaRPr lang="en-US" dirty="0"/>
          </a:p>
          <a:p>
            <a:pPr>
              <a:tabLst>
                <a:tab pos="1200150" algn="l"/>
              </a:tabLst>
            </a:pPr>
            <a:r>
              <a:rPr lang="en-US" dirty="0"/>
              <a:t>WHERE  mgr  IS NULL ;</a:t>
            </a:r>
          </a:p>
        </p:txBody>
      </p:sp>
      <p:sp>
        <p:nvSpPr>
          <p:cNvPr id="390154" name="Rectangle 10"/>
          <p:cNvSpPr>
            <a:spLocks noGrp="1" noChangeArrowheads="1"/>
          </p:cNvSpPr>
          <p:nvPr>
            <p:ph type="title"/>
          </p:nvPr>
        </p:nvSpPr>
        <p:spPr>
          <a:xfrm>
            <a:off x="683568" y="332656"/>
            <a:ext cx="7765322" cy="648311"/>
          </a:xfrm>
        </p:spPr>
        <p:txBody>
          <a:bodyPr/>
          <a:lstStyle/>
          <a:p>
            <a:r>
              <a:rPr lang="en-US" dirty="0" err="1" smtClean="0"/>
              <a:t>Critère</a:t>
            </a:r>
            <a:r>
              <a:rPr lang="en-US" dirty="0" smtClean="0"/>
              <a:t> </a:t>
            </a:r>
            <a:r>
              <a:rPr lang="en-US" dirty="0" err="1" smtClean="0"/>
              <a:t>sur</a:t>
            </a:r>
            <a:r>
              <a:rPr lang="en-US" dirty="0" smtClean="0"/>
              <a:t> </a:t>
            </a:r>
            <a:r>
              <a:rPr lang="en-US" dirty="0" err="1" smtClean="0"/>
              <a:t>valeur</a:t>
            </a:r>
            <a:r>
              <a:rPr lang="en-US" dirty="0" smtClean="0"/>
              <a:t> </a:t>
            </a:r>
            <a:r>
              <a:rPr lang="en-US" dirty="0" err="1" smtClean="0"/>
              <a:t>nulle</a:t>
            </a:r>
            <a:endParaRPr lang="en-US" dirty="0"/>
          </a:p>
        </p:txBody>
      </p:sp>
      <p:sp>
        <p:nvSpPr>
          <p:cNvPr id="39015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251521" y="4053334"/>
            <a:ext cx="2322104" cy="1170657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CA" sz="1800" b="1" dirty="0" smtClean="0"/>
              <a:t>Opérateurs  </a:t>
            </a:r>
          </a:p>
          <a:p>
            <a:pPr lvl="1"/>
            <a:r>
              <a:rPr lang="fr-CA" sz="1800" b="1" dirty="0" smtClean="0">
                <a:latin typeface="Courier New" pitchFamily="49" charset="0"/>
              </a:rPr>
              <a:t>IS NULL</a:t>
            </a:r>
          </a:p>
          <a:p>
            <a:pPr lvl="1"/>
            <a:r>
              <a:rPr lang="fr-CA" sz="1800" b="1" dirty="0">
                <a:latin typeface="Courier New" pitchFamily="49" charset="0"/>
              </a:rPr>
              <a:t>IS </a:t>
            </a:r>
            <a:r>
              <a:rPr lang="fr-CA" sz="1800" b="1" dirty="0" smtClean="0">
                <a:latin typeface="Courier New" pitchFamily="49" charset="0"/>
              </a:rPr>
              <a:t>NOT NULL</a:t>
            </a:r>
            <a:endParaRPr lang="fr-CA" sz="1800" b="1" dirty="0">
              <a:latin typeface="Courier New" pitchFamily="49" charset="0"/>
            </a:endParaRPr>
          </a:p>
        </p:txBody>
      </p:sp>
      <p:sp>
        <p:nvSpPr>
          <p:cNvPr id="390150" name="Rectangle 6"/>
          <p:cNvSpPr>
            <a:spLocks noChangeArrowheads="1"/>
          </p:cNvSpPr>
          <p:nvPr/>
        </p:nvSpPr>
        <p:spPr bwMode="auto">
          <a:xfrm>
            <a:off x="4110436" y="5056360"/>
            <a:ext cx="1570583" cy="2984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blackGray">
          <a:xfrm>
            <a:off x="3179036" y="5445224"/>
            <a:ext cx="3383122" cy="9239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</a:pPr>
            <a:r>
              <a:rPr lang="en-US" dirty="0"/>
              <a:t>SELECT </a:t>
            </a:r>
            <a:r>
              <a:rPr lang="en-US" dirty="0" err="1"/>
              <a:t>ename</a:t>
            </a:r>
            <a:r>
              <a:rPr lang="en-US" dirty="0"/>
              <a:t>, mgr</a:t>
            </a:r>
          </a:p>
          <a:p>
            <a:pPr>
              <a:tabLst>
                <a:tab pos="1200150" algn="l"/>
              </a:tabLst>
            </a:pPr>
            <a:r>
              <a:rPr lang="en-US" dirty="0"/>
              <a:t>FROM   </a:t>
            </a:r>
            <a:r>
              <a:rPr lang="en-US" dirty="0" err="1"/>
              <a:t>emp</a:t>
            </a:r>
            <a:endParaRPr lang="en-US" dirty="0"/>
          </a:p>
          <a:p>
            <a:pPr>
              <a:tabLst>
                <a:tab pos="1200150" algn="l"/>
              </a:tabLst>
            </a:pPr>
            <a:r>
              <a:rPr lang="en-US" dirty="0"/>
              <a:t>WHERE  mgr  IS </a:t>
            </a:r>
            <a:r>
              <a:rPr lang="en-US" dirty="0" smtClean="0"/>
              <a:t> NOT NULL </a:t>
            </a:r>
            <a:r>
              <a:rPr lang="en-US" dirty="0"/>
              <a:t>;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142409" y="6083498"/>
            <a:ext cx="2232248" cy="29845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fr-CA"/>
          </a:p>
        </p:txBody>
      </p:sp>
      <p:sp>
        <p:nvSpPr>
          <p:cNvPr id="2" name="ZoneTexte 1"/>
          <p:cNvSpPr txBox="1"/>
          <p:nvPr/>
        </p:nvSpPr>
        <p:spPr>
          <a:xfrm>
            <a:off x="3244353" y="3646765"/>
            <a:ext cx="3302749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CA" dirty="0" smtClean="0"/>
              <a:t>Que donne chacune des requêtes suivantes:</a:t>
            </a:r>
            <a:endParaRPr lang="fr-CA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04663"/>
            <a:ext cx="4514843" cy="222828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052736"/>
            <a:ext cx="2808312" cy="237229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3" name="Flèche droite 2"/>
          <p:cNvSpPr/>
          <p:nvPr/>
        </p:nvSpPr>
        <p:spPr>
          <a:xfrm>
            <a:off x="4790481" y="1898346"/>
            <a:ext cx="936104" cy="3980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061536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0133" y="142854"/>
            <a:ext cx="6172200" cy="722295"/>
          </a:xfrm>
        </p:spPr>
        <p:txBody>
          <a:bodyPr/>
          <a:lstStyle/>
          <a:p>
            <a:r>
              <a:rPr lang="fr-CA" dirty="0"/>
              <a:t>Les opérateurs logiques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10870" y="1285860"/>
            <a:ext cx="5894785" cy="614354"/>
          </a:xfrm>
        </p:spPr>
        <p:txBody>
          <a:bodyPr>
            <a:normAutofit fontScale="92500"/>
          </a:bodyPr>
          <a:lstStyle/>
          <a:p>
            <a:r>
              <a:rPr lang="fr-CA" sz="2400" dirty="0"/>
              <a:t>Permettent de combiner plusieurs conditions</a:t>
            </a:r>
          </a:p>
        </p:txBody>
      </p:sp>
      <p:graphicFrame>
        <p:nvGraphicFramePr>
          <p:cNvPr id="57378" name="Group 34"/>
          <p:cNvGraphicFramePr>
            <a:graphicFrameLocks noGrp="1"/>
          </p:cNvGraphicFramePr>
          <p:nvPr>
            <p:ph sz="half" idx="2"/>
          </p:nvPr>
        </p:nvGraphicFramePr>
        <p:xfrm>
          <a:off x="1625182" y="2214554"/>
          <a:ext cx="5616179" cy="2468880"/>
        </p:xfrm>
        <a:graphic>
          <a:graphicData uri="http://schemas.openxmlformats.org/drawingml/2006/table">
            <a:tbl>
              <a:tblPr/>
              <a:tblGrid>
                <a:gridCol w="971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446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19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AND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Retourne VRAI si toutes les conditions sont vraies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OR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Retourne VRAI si au moins l’une des conditions est vraie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NOT</a:t>
                      </a:r>
                    </a:p>
                  </a:txBody>
                  <a:tcPr marL="68580" marR="685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fr-CA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Retourne VRAI si la condition est fausse</a:t>
                      </a:r>
                    </a:p>
                  </a:txBody>
                  <a:tcPr marL="68580" marR="68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B05AE-4B9B-4AD3-91A2-DDB36665F343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0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92371" y="458979"/>
            <a:ext cx="7765322" cy="510658"/>
          </a:xfrm>
        </p:spPr>
        <p:txBody>
          <a:bodyPr>
            <a:normAutofit fontScale="90000"/>
          </a:bodyPr>
          <a:lstStyle/>
          <a:p>
            <a:r>
              <a:rPr lang="fr-CA" dirty="0" smtClean="0"/>
              <a:t>Exemples Opérateurs AND et  OR</a:t>
            </a:r>
            <a:endParaRPr lang="fr-CA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408138" y="1288610"/>
            <a:ext cx="3207330" cy="70023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r>
              <a:rPr lang="fr-CA" dirty="0"/>
              <a:t>Afficher la liste de tous les </a:t>
            </a:r>
            <a:r>
              <a:rPr lang="fr-CA" b="1" dirty="0"/>
              <a:t>commis qui gagnent </a:t>
            </a:r>
            <a:r>
              <a:rPr lang="fr-CA" b="1" dirty="0" smtClean="0"/>
              <a:t> plus que 1000 </a:t>
            </a:r>
            <a:r>
              <a:rPr lang="fr-CA" b="1" dirty="0"/>
              <a:t>$</a:t>
            </a:r>
            <a:r>
              <a:rPr lang="fr-CA" dirty="0"/>
              <a:t>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133882" y="1231938"/>
            <a:ext cx="3223811" cy="6141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>
            <a:normAutofit fontScale="55000" lnSpcReduction="20000"/>
          </a:bodyPr>
          <a:lstStyle>
            <a:lvl1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/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/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r>
              <a:rPr lang="fr-CA" dirty="0"/>
              <a:t>Afficher la liste de tous les employés  qui gagnent  plus que 1100 $ ou qui sont des commis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7" y="2277491"/>
            <a:ext cx="3837916" cy="35041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990" y="2015412"/>
            <a:ext cx="4007814" cy="379283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26394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Exemple opérateur NOT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8"/>
            <a:ext cx="7848871" cy="9652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CA" dirty="0"/>
              <a:t>Afficher la liste des employés qui ne sont </a:t>
            </a:r>
            <a:r>
              <a:rPr lang="fr-CA" b="1" dirty="0"/>
              <a:t>ni commis ni manager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39</a:t>
            </a:fld>
            <a:endParaRPr lang="fr-FR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492896"/>
            <a:ext cx="5534025" cy="362902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80655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02" name="Rectangle 1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smtClean="0"/>
              <a:t>Règles de priorité des opérateurs</a:t>
            </a:r>
            <a:endParaRPr lang="fr-CA"/>
          </a:p>
        </p:txBody>
      </p:sp>
      <p:sp>
        <p:nvSpPr>
          <p:cNvPr id="400387" name="Rectangle 3"/>
          <p:cNvSpPr>
            <a:spLocks noChangeArrowheads="1"/>
          </p:cNvSpPr>
          <p:nvPr/>
        </p:nvSpPr>
        <p:spPr bwMode="auto">
          <a:xfrm>
            <a:off x="1473994" y="5709713"/>
            <a:ext cx="6626398" cy="619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346075">
              <a:lnSpc>
                <a:spcPct val="95000"/>
              </a:lnSpc>
              <a:spcBef>
                <a:spcPct val="35000"/>
              </a:spcBef>
              <a:tabLst>
                <a:tab pos="571500" algn="l"/>
              </a:tabLst>
            </a:pPr>
            <a:r>
              <a:rPr lang="en-US" dirty="0">
                <a:latin typeface="Arial" charset="0"/>
              </a:rPr>
              <a:t>ON </a:t>
            </a:r>
            <a:r>
              <a:rPr lang="en-US" dirty="0" err="1">
                <a:latin typeface="Arial" charset="0"/>
              </a:rPr>
              <a:t>peut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utiliser</a:t>
            </a:r>
            <a:r>
              <a:rPr lang="en-US" dirty="0">
                <a:latin typeface="Arial" charset="0"/>
              </a:rPr>
              <a:t> les </a:t>
            </a:r>
            <a:r>
              <a:rPr lang="en-US" b="1" dirty="0" err="1">
                <a:latin typeface="Arial" charset="0"/>
              </a:rPr>
              <a:t>parenthèses</a:t>
            </a:r>
            <a:r>
              <a:rPr lang="en-US" dirty="0">
                <a:latin typeface="Arial" charset="0"/>
              </a:rPr>
              <a:t> pour </a:t>
            </a:r>
            <a:r>
              <a:rPr lang="en-US" dirty="0" err="1">
                <a:latin typeface="Arial" charset="0"/>
              </a:rPr>
              <a:t>gérer</a:t>
            </a:r>
            <a:r>
              <a:rPr lang="en-US" dirty="0">
                <a:latin typeface="Arial" charset="0"/>
              </a:rPr>
              <a:t> la </a:t>
            </a:r>
            <a:r>
              <a:rPr lang="en-US" dirty="0" err="1">
                <a:latin typeface="Arial" charset="0"/>
              </a:rPr>
              <a:t>priorité</a:t>
            </a:r>
            <a:r>
              <a:rPr lang="en-US" dirty="0">
                <a:latin typeface="Arial" charset="0"/>
              </a:rPr>
              <a:t> des </a:t>
            </a:r>
            <a:r>
              <a:rPr lang="en-US" dirty="0" err="1">
                <a:latin typeface="Arial" charset="0"/>
              </a:rPr>
              <a:t>opérateurs</a:t>
            </a:r>
            <a:r>
              <a:rPr lang="en-US" dirty="0">
                <a:latin typeface="Arial" charset="0"/>
              </a:rPr>
              <a:t>.</a:t>
            </a:r>
          </a:p>
        </p:txBody>
      </p:sp>
      <p:graphicFrame>
        <p:nvGraphicFramePr>
          <p:cNvPr id="400458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836866"/>
              </p:ext>
            </p:extLst>
          </p:nvPr>
        </p:nvGraphicFramePr>
        <p:xfrm>
          <a:off x="2214546" y="1801813"/>
          <a:ext cx="4395804" cy="379304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0048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9097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Priorité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OPérateurs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114300" marR="0" lvl="1" indent="0" algn="ctr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Arithmetic operators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2588">
                <a:tc>
                  <a:txBody>
                    <a:bodyPr/>
                    <a:lstStyle/>
                    <a:p>
                      <a:pPr marL="114300" marR="0" lvl="1" indent="0" algn="ctr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Concatenation operator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114300" marR="0" lvl="1" indent="0" algn="ctr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Comparison conditions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14300" marR="0" lvl="1" indent="0" algn="ctr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IS [NOT] NULL, LIKE, [NOT] IN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14300" marR="0" lvl="1" indent="0" algn="ctr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[NOT] BETWEEN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14300" marR="0" lvl="1" indent="0" algn="ctr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Not equal to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14300" marR="0" lvl="1" indent="0" algn="ctr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Arial" charset="0"/>
                        <a:buNone/>
                        <a:tabLst>
                          <a:tab pos="115888" algn="l"/>
                        </a:tabLst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NOT logical condition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14300" marR="0" lvl="1" indent="0" algn="ctr" defTabSz="228600" rtl="0" eaLnBrk="0" fontAlgn="base" latinLnBrk="0" hangingPunct="0">
                        <a:lnSpc>
                          <a:spcPct val="12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12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AND logical condition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114300" marR="0" lvl="1" indent="0" algn="ctr" defTabSz="228600" rtl="0" eaLnBrk="0" fontAlgn="base" latinLnBrk="0" hangingPunct="0">
                        <a:lnSpc>
                          <a:spcPct val="12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228600" rtl="0" eaLnBrk="0" fontAlgn="base" latinLnBrk="0" hangingPunct="0">
                        <a:lnSpc>
                          <a:spcPct val="12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OR logical condition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8580" marR="68580" horzOverflow="overflow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DF4F0-EAD4-4FC7-B8A4-2BC3DC3493C9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464033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1657351" y="4555068"/>
            <a:ext cx="7192913" cy="1828813"/>
          </a:xfrm>
        </p:spPr>
        <p:txBody>
          <a:bodyPr/>
          <a:lstStyle/>
          <a:p>
            <a:pPr algn="r"/>
            <a:r>
              <a:rPr lang="fr-CA" dirty="0" smtClean="0"/>
              <a:t>TRI:</a:t>
            </a:r>
            <a:br>
              <a:rPr lang="fr-CA" dirty="0" smtClean="0"/>
            </a:br>
            <a:r>
              <a:rPr lang="fr-CA" dirty="0" smtClean="0"/>
              <a:t>La </a:t>
            </a:r>
            <a:r>
              <a:rPr lang="fr-CA" dirty="0"/>
              <a:t>clause ORDER BY</a:t>
            </a:r>
          </a:p>
        </p:txBody>
      </p:sp>
    </p:spTree>
    <p:extLst>
      <p:ext uri="{BB962C8B-B14F-4D97-AF65-F5344CB8AC3E}">
        <p14:creationId xmlns:p14="http://schemas.microsoft.com/office/powerpoint/2010/main" val="26799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469900"/>
            <a:ext cx="7765322" cy="635000"/>
          </a:xfrm>
        </p:spPr>
        <p:txBody>
          <a:bodyPr>
            <a:normAutofit/>
          </a:bodyPr>
          <a:lstStyle/>
          <a:p>
            <a:r>
              <a:rPr lang="fr-CA" dirty="0"/>
              <a:t>Tri des résultats: clause ORDER BY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La clause ORDER BY permet de trier les résultats d’une requête soit :</a:t>
            </a:r>
          </a:p>
          <a:p>
            <a:pPr lvl="1"/>
            <a:r>
              <a:rPr lang="fr-CA" dirty="0"/>
              <a:t>Par ordre croissant : ASC (valeur par défaut)</a:t>
            </a:r>
          </a:p>
          <a:p>
            <a:pPr lvl="1"/>
            <a:r>
              <a:rPr lang="fr-CA" dirty="0"/>
              <a:t>Par ordre décroissant : DESC</a:t>
            </a:r>
          </a:p>
          <a:p>
            <a:r>
              <a:rPr lang="fr-CA" dirty="0"/>
              <a:t>La clause ORDER BY doit être </a:t>
            </a:r>
            <a:r>
              <a:rPr lang="fr-CA" b="1" u="sng" dirty="0"/>
              <a:t>la dernière</a:t>
            </a:r>
            <a:r>
              <a:rPr lang="fr-CA" dirty="0"/>
              <a:t> clause dans une instruction SQL:</a:t>
            </a:r>
          </a:p>
          <a:p>
            <a:pPr>
              <a:buFont typeface="Wingdings" pitchFamily="2" charset="2"/>
              <a:buNone/>
            </a:pPr>
            <a:r>
              <a:rPr lang="fr-CA" dirty="0"/>
              <a:t>			</a:t>
            </a:r>
            <a:r>
              <a:rPr lang="fr-CA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SELECT…</a:t>
            </a:r>
          </a:p>
          <a:p>
            <a:pPr>
              <a:buFont typeface="Wingdings" pitchFamily="2" charset="2"/>
              <a:buNone/>
            </a:pPr>
            <a:r>
              <a:rPr lang="fr-CA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	FROM…</a:t>
            </a:r>
          </a:p>
          <a:p>
            <a:pPr>
              <a:buFont typeface="Wingdings" pitchFamily="2" charset="2"/>
              <a:buNone/>
            </a:pPr>
            <a:r>
              <a:rPr lang="fr-CA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	WHERE….</a:t>
            </a:r>
          </a:p>
          <a:p>
            <a:pPr>
              <a:buFont typeface="Wingdings" pitchFamily="2" charset="2"/>
              <a:buNone/>
            </a:pPr>
            <a:r>
              <a:rPr lang="fr-CA" sz="2400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			</a:t>
            </a:r>
            <a:r>
              <a:rPr lang="fr-CA" sz="2400" b="1" dirty="0">
                <a:solidFill>
                  <a:srgbClr val="FF0000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ORDER BY …</a:t>
            </a:r>
          </a:p>
          <a:p>
            <a:endParaRPr lang="fr-CA" sz="2400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27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345" y="386849"/>
            <a:ext cx="7765322" cy="629152"/>
          </a:xfrm>
        </p:spPr>
        <p:txBody>
          <a:bodyPr>
            <a:normAutofit/>
          </a:bodyPr>
          <a:lstStyle/>
          <a:p>
            <a:r>
              <a:rPr lang="fr-CA" dirty="0"/>
              <a:t>Tri des résultats: clause ORDER BY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545306" y="1116000"/>
            <a:ext cx="8312944" cy="892175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fr-CA" sz="2400" dirty="0"/>
              <a:t>Afficher le nom, </a:t>
            </a:r>
            <a:r>
              <a:rPr lang="fr-CA" sz="2400" dirty="0" smtClean="0"/>
              <a:t>emploi </a:t>
            </a:r>
            <a:r>
              <a:rPr lang="fr-CA" sz="2400" dirty="0"/>
              <a:t>et date de recrutement de tous les employés, triés par ordre alphabétique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43</a:t>
            </a:fld>
            <a:endParaRPr lang="fr-FR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68" y="2060848"/>
            <a:ext cx="3940149" cy="433615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060848"/>
            <a:ext cx="3770734" cy="437197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61154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 smtClean="0"/>
              <a:t>Retour sur le  champs </a:t>
            </a:r>
            <a:r>
              <a:rPr lang="fr-CA" dirty="0"/>
              <a:t>calculés (ou expressions)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1485900" y="1600200"/>
            <a:ext cx="6172200" cy="2425700"/>
          </a:xfrm>
        </p:spPr>
        <p:txBody>
          <a:bodyPr/>
          <a:lstStyle/>
          <a:p>
            <a:r>
              <a:rPr lang="fr-CA" dirty="0"/>
              <a:t>Les expressions peuvent figurer :</a:t>
            </a:r>
          </a:p>
          <a:p>
            <a:pPr lvl="1"/>
            <a:r>
              <a:rPr lang="fr-CA" dirty="0"/>
              <a:t>en tant que colonne résultat d'un SELECT</a:t>
            </a:r>
          </a:p>
          <a:p>
            <a:pPr lvl="1"/>
            <a:r>
              <a:rPr lang="fr-CA" dirty="0"/>
              <a:t>dans une clause WHERE</a:t>
            </a:r>
          </a:p>
          <a:p>
            <a:pPr lvl="1"/>
            <a:r>
              <a:rPr lang="fr-CA" dirty="0"/>
              <a:t>dans une clause ORDER </a:t>
            </a:r>
            <a:r>
              <a:rPr lang="fr-CA" dirty="0" smtClean="0"/>
              <a:t>BY</a:t>
            </a:r>
          </a:p>
          <a:p>
            <a:pPr lvl="1"/>
            <a:r>
              <a:rPr lang="fr-CA" dirty="0" smtClean="0"/>
              <a:t>Etc.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46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Les alias et la clause WHERE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1507" y="1268760"/>
            <a:ext cx="3036130" cy="223224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fr-CA" dirty="0" smtClean="0"/>
              <a:t>Les </a:t>
            </a:r>
            <a:r>
              <a:rPr lang="fr-CA" b="1" dirty="0" smtClean="0"/>
              <a:t>alias</a:t>
            </a:r>
            <a:r>
              <a:rPr lang="fr-CA" dirty="0" smtClean="0"/>
              <a:t> sont </a:t>
            </a:r>
            <a:r>
              <a:rPr lang="fr-CA" b="1" dirty="0"/>
              <a:t>interdits</a:t>
            </a:r>
            <a:r>
              <a:rPr lang="fr-CA" dirty="0" smtClean="0"/>
              <a:t> dans la </a:t>
            </a:r>
            <a:r>
              <a:rPr lang="fr-CA" b="1" dirty="0"/>
              <a:t>clause</a:t>
            </a:r>
            <a:r>
              <a:rPr lang="fr-CA" dirty="0" smtClean="0"/>
              <a:t>  </a:t>
            </a:r>
            <a:r>
              <a:rPr lang="fr-CA" b="1" dirty="0" err="1"/>
              <a:t>where</a:t>
            </a:r>
            <a:r>
              <a:rPr lang="fr-CA" dirty="0" smtClean="0"/>
              <a:t>.</a:t>
            </a:r>
          </a:p>
          <a:p>
            <a:r>
              <a:rPr lang="fr-CA" dirty="0" smtClean="0"/>
              <a:t>L’exemple ci contre utilise un alias (</a:t>
            </a:r>
            <a:r>
              <a:rPr lang="fr-CA" dirty="0" err="1" smtClean="0"/>
              <a:t>salAnnuel</a:t>
            </a:r>
            <a:r>
              <a:rPr lang="fr-CA" dirty="0" smtClean="0"/>
              <a:t>) dans la clause </a:t>
            </a:r>
            <a:r>
              <a:rPr lang="fr-CA" dirty="0" err="1" smtClean="0"/>
              <a:t>Where</a:t>
            </a:r>
            <a:r>
              <a:rPr lang="fr-CA" dirty="0" smtClean="0"/>
              <a:t>.</a:t>
            </a:r>
          </a:p>
          <a:p>
            <a:pPr lvl="1"/>
            <a:r>
              <a:rPr lang="fr-CA" dirty="0" smtClean="0"/>
              <a:t>On obtient un message d’erreur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489DD-2226-49EB-995A-77EA0366AFDE}" type="slidenum">
              <a:rPr lang="fr-FR" smtClean="0"/>
              <a:pPr/>
              <a:t>45</a:t>
            </a:fld>
            <a:endParaRPr lang="fr-FR"/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395536" y="4843481"/>
            <a:ext cx="3296104" cy="4995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dk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CA" dirty="0" smtClean="0"/>
              <a:t>Il faut réécrire l’expression</a:t>
            </a:r>
            <a:endParaRPr lang="fr-CA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184" y="1268760"/>
            <a:ext cx="4685556" cy="237626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329" y="3776897"/>
            <a:ext cx="4795267" cy="263274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39413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smtClean="0"/>
              <a:t>Les alias dans la clause </a:t>
            </a:r>
            <a:r>
              <a:rPr lang="fr-CA" dirty="0" err="1" smtClean="0"/>
              <a:t>Order</a:t>
            </a:r>
            <a:r>
              <a:rPr lang="fr-CA" dirty="0" smtClean="0"/>
              <a:t> BY</a:t>
            </a:r>
            <a:endParaRPr lang="en-US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515451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fr-CA" dirty="0" smtClean="0"/>
              <a:t>Les alias sont autorisés dans la clause ORDER BY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5BFCDC-71AB-41AB-8705-4B66FF46C352}" type="slidenum">
              <a:rPr lang="fr-FR" smtClean="0"/>
              <a:pPr/>
              <a:t>46</a:t>
            </a:fld>
            <a:endParaRPr lang="fr-FR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736" y="2492896"/>
            <a:ext cx="5848350" cy="317182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2144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e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rigine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e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7069</TotalTime>
  <Words>1966</Words>
  <Application>Microsoft Office PowerPoint</Application>
  <PresentationFormat>Affichage à l'écran (4:3)</PresentationFormat>
  <Paragraphs>396</Paragraphs>
  <Slides>46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46</vt:i4>
      </vt:variant>
    </vt:vector>
  </HeadingPairs>
  <TitlesOfParts>
    <vt:vector size="47" baseType="lpstr">
      <vt:lpstr>Origine</vt:lpstr>
      <vt:lpstr>Requêtes  SQL (SELECT)</vt:lpstr>
      <vt:lpstr>Bref aperçu des concepts de base des bases de données relationnelles  </vt:lpstr>
      <vt:lpstr>Définition d’une Base de Données Relationnelle</vt:lpstr>
      <vt:lpstr>Attribut et Tuple</vt:lpstr>
      <vt:lpstr>Propriétés des relations(tables)</vt:lpstr>
      <vt:lpstr>Notions de clé primaire, clé étrangère</vt:lpstr>
      <vt:lpstr>Résumé de terminologie des BD relationnelles</vt:lpstr>
      <vt:lpstr>Résumé de terminologie des BD relationnelles</vt:lpstr>
      <vt:lpstr>SQL</vt:lpstr>
      <vt:lpstr>Les types d’instruction SQL</vt:lpstr>
      <vt:lpstr>Requêtes sur une BD relationnelle</vt:lpstr>
      <vt:lpstr>L'algèbre relationnelle</vt:lpstr>
      <vt:lpstr>Instruction SQL SELECT</vt:lpstr>
      <vt:lpstr>L’instruction SELECT de base</vt:lpstr>
      <vt:lpstr>Afficher toutes les colonnes </vt:lpstr>
      <vt:lpstr>Afficher uniquement certaines colonnes (Projection)</vt:lpstr>
      <vt:lpstr>Expressions calculées</vt:lpstr>
      <vt:lpstr>Priorité des opérateurs</vt:lpstr>
      <vt:lpstr>Utiliser des alias</vt:lpstr>
      <vt:lpstr>Utiliser des alias</vt:lpstr>
      <vt:lpstr>Utiliser des alias</vt:lpstr>
      <vt:lpstr>Utiliser des alias</vt:lpstr>
      <vt:lpstr>Opérateur de Concaténation</vt:lpstr>
      <vt:lpstr>Exécuter une requête dans un fichier </vt:lpstr>
      <vt:lpstr>SÉLECTION: La clause WHERE</vt:lpstr>
      <vt:lpstr>La clause Where (Sélection)</vt:lpstr>
      <vt:lpstr>Exemple d’utilisation de la clause WHERE</vt:lpstr>
      <vt:lpstr>La casse dans SQL Serveur</vt:lpstr>
      <vt:lpstr>Opérateurs de comparaison SQL</vt:lpstr>
      <vt:lpstr>Exemple avec l’opérateur &lt;</vt:lpstr>
      <vt:lpstr>Exemple avec l’opérateur &lt;&gt;  (ou !=)</vt:lpstr>
      <vt:lpstr>Exemple avec l’opérateur BETWEEN...AND...</vt:lpstr>
      <vt:lpstr>Exemple avec l’opérateur IN</vt:lpstr>
      <vt:lpstr>Exemple avec l’opérateur LIKE</vt:lpstr>
      <vt:lpstr>Traitement des valeurs nulles </vt:lpstr>
      <vt:lpstr>Critère sur valeur nulle</vt:lpstr>
      <vt:lpstr>Les opérateurs logiques</vt:lpstr>
      <vt:lpstr>Exemples Opérateurs AND et  OR</vt:lpstr>
      <vt:lpstr>Exemple opérateur NOT</vt:lpstr>
      <vt:lpstr>Règles de priorité des opérateurs</vt:lpstr>
      <vt:lpstr>TRI: La clause ORDER BY</vt:lpstr>
      <vt:lpstr>Tri des résultats: clause ORDER BY</vt:lpstr>
      <vt:lpstr>Tri des résultats: clause ORDER BY</vt:lpstr>
      <vt:lpstr>Retour sur le  champs calculés (ou expressions)</vt:lpstr>
      <vt:lpstr>Les alias et la clause WHERE</vt:lpstr>
      <vt:lpstr>Les alias dans la clause Order BY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asma mokt</dc:creator>
  <cp:lastModifiedBy>asma mokt</cp:lastModifiedBy>
  <cp:revision>40</cp:revision>
  <dcterms:created xsi:type="dcterms:W3CDTF">2022-05-20T09:44:17Z</dcterms:created>
  <dcterms:modified xsi:type="dcterms:W3CDTF">2024-09-10T23:13:35Z</dcterms:modified>
</cp:coreProperties>
</file>