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2"/>
  </p:notesMasterIdLst>
  <p:sldIdLst>
    <p:sldId id="256" r:id="rId2"/>
    <p:sldId id="258" r:id="rId3"/>
    <p:sldId id="289" r:id="rId4"/>
    <p:sldId id="291" r:id="rId5"/>
    <p:sldId id="292" r:id="rId6"/>
    <p:sldId id="293" r:id="rId7"/>
    <p:sldId id="294" r:id="rId8"/>
    <p:sldId id="295" r:id="rId9"/>
    <p:sldId id="297" r:id="rId10"/>
    <p:sldId id="301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248" autoAdjust="0"/>
  </p:normalViewPr>
  <p:slideViewPr>
    <p:cSldViewPr>
      <p:cViewPr>
        <p:scale>
          <a:sx n="100" d="100"/>
          <a:sy n="100" d="100"/>
        </p:scale>
        <p:origin x="-869" y="5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A525E-C899-4DFB-9159-395E4D74FBB7}" type="datetimeFigureOut">
              <a:rPr lang="fr-CA" smtClean="0"/>
              <a:t>2024-09-19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139A2-8B9B-4B30-A369-706EDA2D0F5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2641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139A2-8B9B-4B30-A369-706EDA2D0F51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11482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168275"/>
            <a:ext cx="5938837" cy="4452938"/>
          </a:xfrm>
          <a:ln cap="flat"/>
        </p:spPr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5655" y="4732617"/>
            <a:ext cx="5947857" cy="3802314"/>
          </a:xfrm>
          <a:noFill/>
          <a:ln/>
        </p:spPr>
        <p:txBody>
          <a:bodyPr/>
          <a:lstStyle/>
          <a:p>
            <a:endParaRPr lang="fr-FR" b="0" dirty="0" smtClean="0">
              <a:latin typeface="Times New Roman" pitchFamily="18" charset="0"/>
            </a:endParaRPr>
          </a:p>
        </p:txBody>
      </p:sp>
      <p:graphicFrame>
        <p:nvGraphicFramePr>
          <p:cNvPr id="1026" name="Object 4"/>
          <p:cNvGraphicFramePr>
            <a:graphicFrameLocks/>
          </p:cNvGraphicFramePr>
          <p:nvPr/>
        </p:nvGraphicFramePr>
        <p:xfrm>
          <a:off x="546085" y="5876015"/>
          <a:ext cx="6165015" cy="2951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Document" r:id="rId4" imgW="6129000" imgH="2946240" progId="Word.Document.8">
                  <p:embed/>
                </p:oleObj>
              </mc:Choice>
              <mc:Fallback>
                <p:oleObj name="Document" r:id="rId4" imgW="6129000" imgH="2946240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085" y="5876015"/>
                        <a:ext cx="6165015" cy="2951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2256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177C0A-274F-4CAA-8AAC-E2FA2A8409F1}" type="slidenum">
              <a:rPr lang="fr-CA" smtClean="0"/>
              <a:pPr>
                <a:defRPr/>
              </a:pPr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83427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177C0A-274F-4CAA-8AAC-E2FA2A8409F1}" type="slidenum">
              <a:rPr lang="fr-CA" smtClean="0"/>
              <a:pPr>
                <a:defRPr/>
              </a:pPr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56737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177C0A-274F-4CAA-8AAC-E2FA2A8409F1}" type="slidenum">
              <a:rPr lang="fr-CA" smtClean="0"/>
              <a:pPr>
                <a:defRPr/>
              </a:pPr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91489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177C0A-274F-4CAA-8AAC-E2FA2A8409F1}" type="slidenum">
              <a:rPr lang="fr-CA" smtClean="0"/>
              <a:pPr>
                <a:defRPr/>
              </a:pPr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7024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177C0A-274F-4CAA-8AAC-E2FA2A8409F1}" type="slidenum">
              <a:rPr lang="fr-CA" smtClean="0"/>
              <a:pPr>
                <a:defRPr/>
              </a:pPr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32413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177C0A-274F-4CAA-8AAC-E2FA2A8409F1}" type="slidenum">
              <a:rPr lang="fr-CA" smtClean="0"/>
              <a:pPr>
                <a:defRPr/>
              </a:pPr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258655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177C0A-274F-4CAA-8AAC-E2FA2A8409F1}" type="slidenum">
              <a:rPr lang="fr-CA" smtClean="0"/>
              <a:pPr>
                <a:defRPr/>
              </a:pPr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95821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AA309A6D-C09C-4548-B29A-6CF363A7E532}" type="datetimeFigureOut">
              <a:rPr lang="fr-FR" smtClean="0"/>
              <a:t>19/09/2024</a:t>
            </a:fld>
            <a:endParaRPr lang="fr-BE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fr-BE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19/09/2024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AA309A6D-C09C-4548-B29A-6CF363A7E532}" type="datetimeFigureOut">
              <a:rPr lang="fr-FR" smtClean="0"/>
              <a:t>19/09/2024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19/09/2024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19/09/2024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19/09/2024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6" name="Triangle isocè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19/09/2024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Connecteur droit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riangle isocè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19/09/2024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Triangle isocè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19/09/2024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riangle isocè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19/09/2024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19/09/2024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riangle isocè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CA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457200" y="1600202"/>
            <a:ext cx="8229600" cy="4530725"/>
          </a:xfrm>
        </p:spPr>
        <p:txBody>
          <a:bodyPr/>
          <a:lstStyle/>
          <a:p>
            <a:pPr lvl="0"/>
            <a:endParaRPr lang="fr-CA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F0AAC-4D0A-4E4F-8AE4-12CA3479D8E3}" type="slidenum">
              <a:rPr lang="fr-CA"/>
              <a:pPr>
                <a:defRPr/>
              </a:pPr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0999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19/09/2024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BE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28" name="Connecteur droit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Connecteur droit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angle isocè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87624" y="3645024"/>
            <a:ext cx="6984776" cy="1231776"/>
          </a:xfrm>
        </p:spPr>
        <p:txBody>
          <a:bodyPr>
            <a:normAutofit fontScale="90000"/>
          </a:bodyPr>
          <a:lstStyle/>
          <a:p>
            <a:r>
              <a:rPr lang="fr-CA" sz="3100" dirty="0" smtClean="0"/>
              <a:t>DML</a:t>
            </a:r>
            <a:br>
              <a:rPr lang="fr-CA" sz="3100" dirty="0" smtClean="0"/>
            </a:br>
            <a:r>
              <a:rPr lang="fr-CA" sz="3100" dirty="0" smtClean="0"/>
              <a:t>(</a:t>
            </a:r>
            <a:r>
              <a:rPr lang="fr-CA" sz="3100" b="1" dirty="0"/>
              <a:t>L</a:t>
            </a:r>
            <a:r>
              <a:rPr lang="fr-CA" sz="3100" dirty="0"/>
              <a:t>angage de </a:t>
            </a:r>
            <a:r>
              <a:rPr lang="fr-CA" sz="3100" b="1" dirty="0"/>
              <a:t>m</a:t>
            </a:r>
            <a:r>
              <a:rPr lang="fr-CA" sz="3100" dirty="0"/>
              <a:t>anipulation </a:t>
            </a:r>
            <a:r>
              <a:rPr lang="fr-CA" sz="3100" dirty="0" smtClean="0"/>
              <a:t/>
            </a:r>
            <a:br>
              <a:rPr lang="fr-CA" sz="3100" dirty="0" smtClean="0"/>
            </a:br>
            <a:r>
              <a:rPr lang="fr-CA" sz="3100" dirty="0" smtClean="0"/>
              <a:t>de </a:t>
            </a:r>
            <a:r>
              <a:rPr lang="fr-CA" sz="3100" b="1" dirty="0" smtClean="0"/>
              <a:t>d</a:t>
            </a:r>
            <a:r>
              <a:rPr lang="fr-CA" sz="3100" dirty="0" smtClean="0"/>
              <a:t>onnées</a:t>
            </a:r>
            <a:r>
              <a:rPr lang="fr-CA" dirty="0" smtClean="0"/>
              <a:t>)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 smtClean="0"/>
              <a:t>Partie 2: </a:t>
            </a:r>
            <a:r>
              <a:rPr lang="fr-CA" dirty="0" smtClean="0"/>
              <a:t>(transactions</a:t>
            </a:r>
            <a:r>
              <a:rPr lang="fr-CA" dirty="0" smtClean="0"/>
              <a:t>)</a:t>
            </a:r>
            <a:endParaRPr lang="fr-CA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916832"/>
            <a:ext cx="3057525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212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2" name="Rectangle 8"/>
          <p:cNvSpPr>
            <a:spLocks noGrp="1" noChangeArrowheads="1"/>
          </p:cNvSpPr>
          <p:nvPr>
            <p:ph type="title"/>
          </p:nvPr>
        </p:nvSpPr>
        <p:spPr>
          <a:xfrm>
            <a:off x="1143001" y="384763"/>
            <a:ext cx="7058024" cy="68558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dirty="0" smtClean="0"/>
              <a:t>Les catégories d'instructions   SQL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779" y="1219083"/>
            <a:ext cx="4093369" cy="48863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909778" y="2692088"/>
            <a:ext cx="4038485" cy="1963039"/>
          </a:xfrm>
          <a:prstGeom prst="rect">
            <a:avLst/>
          </a:prstGeom>
          <a:solidFill>
            <a:schemeClr val="accent1">
              <a:alpha val="16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Flèche droite 5"/>
          <p:cNvSpPr/>
          <p:nvPr/>
        </p:nvSpPr>
        <p:spPr>
          <a:xfrm>
            <a:off x="1870892" y="3789040"/>
            <a:ext cx="1011085" cy="748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946967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A" dirty="0" smtClean="0"/>
              <a:t>Les transactions</a:t>
            </a:r>
            <a:endParaRPr lang="en-US" dirty="0" smtClean="0"/>
          </a:p>
        </p:txBody>
      </p:sp>
      <p:sp>
        <p:nvSpPr>
          <p:cNvPr id="2560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AB07F97-3380-46B6-B9C2-AFE6A3F6AAD4}" type="slidenum">
              <a:rPr lang="fr-CA" smtClean="0"/>
              <a:pPr/>
              <a:t>3</a:t>
            </a:fld>
            <a:endParaRPr lang="fr-CA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346" y="1732450"/>
            <a:ext cx="7765322" cy="3068151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fr-CA" dirty="0" smtClean="0"/>
              <a:t>Une transaction:</a:t>
            </a:r>
          </a:p>
          <a:p>
            <a:pPr lvl="1" eaLnBrk="1" hangingPunct="1">
              <a:lnSpc>
                <a:spcPct val="90000"/>
              </a:lnSpc>
            </a:pPr>
            <a:r>
              <a:rPr lang="fr-CA" dirty="0" smtClean="0"/>
              <a:t>est un ensemble d’instructions SQL qui font passer la BDD d’un état cohérent à un autre état cohérent.</a:t>
            </a:r>
          </a:p>
          <a:p>
            <a:pPr lvl="1" eaLnBrk="1" hangingPunct="1">
              <a:lnSpc>
                <a:spcPct val="90000"/>
              </a:lnSpc>
            </a:pPr>
            <a:r>
              <a:rPr lang="fr-CA" dirty="0" smtClean="0"/>
              <a:t>Une transaction qui réussit, laisse la BDD dans un état cohérent.</a:t>
            </a:r>
          </a:p>
          <a:p>
            <a:pPr lvl="1" eaLnBrk="1" hangingPunct="1">
              <a:lnSpc>
                <a:spcPct val="90000"/>
              </a:lnSpc>
            </a:pPr>
            <a:r>
              <a:rPr lang="fr-CA" dirty="0" smtClean="0"/>
              <a:t>Si une transaction échoue, la BDD est remise dans l’état cohérent dans lequel elle était avant la transaction actuelle.</a:t>
            </a:r>
          </a:p>
          <a:p>
            <a:pPr eaLnBrk="1" hangingPunct="1">
              <a:lnSpc>
                <a:spcPct val="90000"/>
              </a:lnSpc>
            </a:pPr>
            <a:r>
              <a:rPr lang="fr-CA" dirty="0" smtClean="0"/>
              <a:t>C’est le SGBD qui se charge de la gestion des transactions.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5875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A" dirty="0"/>
              <a:t>Propriétés d’une transaction: A C I D</a:t>
            </a:r>
            <a:endParaRPr lang="en-US" dirty="0"/>
          </a:p>
        </p:txBody>
      </p:sp>
      <p:sp>
        <p:nvSpPr>
          <p:cNvPr id="2662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B6D80E-572A-471F-8813-10C5ECE13AB0}" type="slidenum">
              <a:rPr lang="fr-CA" smtClean="0"/>
              <a:pPr/>
              <a:t>4</a:t>
            </a:fld>
            <a:endParaRPr lang="fr-CA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fr-CA" sz="2400" dirty="0"/>
              <a:t>Une série d’instructions SQL constitue une transaction si elle vérifie les propriétés suivantes:</a:t>
            </a:r>
          </a:p>
          <a:p>
            <a:pPr lvl="1" eaLnBrk="1" hangingPunct="1">
              <a:lnSpc>
                <a:spcPct val="80000"/>
              </a:lnSpc>
            </a:pPr>
            <a:r>
              <a:rPr lang="fr-CA" sz="3200" dirty="0"/>
              <a:t>A</a:t>
            </a:r>
            <a:r>
              <a:rPr lang="fr-CA" sz="2000" dirty="0"/>
              <a:t>tomicité</a:t>
            </a:r>
          </a:p>
          <a:p>
            <a:pPr lvl="2" eaLnBrk="1" hangingPunct="1">
              <a:lnSpc>
                <a:spcPct val="80000"/>
              </a:lnSpc>
            </a:pPr>
            <a:r>
              <a:rPr lang="fr-CA" sz="1800" dirty="0"/>
              <a:t>Toutes les opérations doivent réussir pour que la transaction réussisse.</a:t>
            </a:r>
          </a:p>
          <a:p>
            <a:pPr lvl="1" eaLnBrk="1" hangingPunct="1">
              <a:lnSpc>
                <a:spcPct val="80000"/>
              </a:lnSpc>
            </a:pPr>
            <a:r>
              <a:rPr lang="fr-CA" sz="3200" dirty="0"/>
              <a:t>C</a:t>
            </a:r>
            <a:r>
              <a:rPr lang="fr-CA" sz="2000" dirty="0"/>
              <a:t>ohérence:</a:t>
            </a:r>
          </a:p>
          <a:p>
            <a:pPr lvl="2" eaLnBrk="1" hangingPunct="1">
              <a:lnSpc>
                <a:spcPct val="80000"/>
              </a:lnSpc>
            </a:pPr>
            <a:r>
              <a:rPr lang="fr-CA" sz="1800" dirty="0"/>
              <a:t>laisse les données dans un état cohérent</a:t>
            </a:r>
          </a:p>
          <a:p>
            <a:pPr lvl="1" eaLnBrk="1" hangingPunct="1">
              <a:lnSpc>
                <a:spcPct val="80000"/>
              </a:lnSpc>
            </a:pPr>
            <a:r>
              <a:rPr lang="fr-CA" sz="3200" dirty="0"/>
              <a:t>I</a:t>
            </a:r>
            <a:r>
              <a:rPr lang="fr-CA" sz="2000" dirty="0"/>
              <a:t>solation</a:t>
            </a:r>
          </a:p>
          <a:p>
            <a:pPr lvl="2" eaLnBrk="1" hangingPunct="1">
              <a:lnSpc>
                <a:spcPct val="80000"/>
              </a:lnSpc>
            </a:pPr>
            <a:r>
              <a:rPr lang="fr-CA" sz="1800" dirty="0"/>
              <a:t>Chaque transaction doit être isolée des changements effectués par les autres transactions.</a:t>
            </a:r>
          </a:p>
          <a:p>
            <a:pPr lvl="1" eaLnBrk="1" hangingPunct="1">
              <a:lnSpc>
                <a:spcPct val="80000"/>
              </a:lnSpc>
            </a:pPr>
            <a:r>
              <a:rPr lang="fr-CA" sz="3200" dirty="0"/>
              <a:t>D</a:t>
            </a:r>
            <a:r>
              <a:rPr lang="fr-CA" sz="2000" dirty="0"/>
              <a:t>urabilité:</a:t>
            </a:r>
          </a:p>
          <a:p>
            <a:pPr lvl="2" eaLnBrk="1" hangingPunct="1">
              <a:lnSpc>
                <a:spcPct val="80000"/>
              </a:lnSpc>
            </a:pPr>
            <a:r>
              <a:rPr lang="fr-CA" sz="1800" dirty="0"/>
              <a:t>Récupérable après validation même s’il y a une panne du système.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3831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1"/>
          <p:cNvSpPr>
            <a:spLocks noGrp="1" noChangeArrowheads="1"/>
          </p:cNvSpPr>
          <p:nvPr>
            <p:ph type="title"/>
          </p:nvPr>
        </p:nvSpPr>
        <p:spPr>
          <a:xfrm>
            <a:off x="457200" y="277815"/>
            <a:ext cx="8229600" cy="846929"/>
          </a:xfrm>
        </p:spPr>
        <p:txBody>
          <a:bodyPr/>
          <a:lstStyle/>
          <a:p>
            <a:pPr eaLnBrk="1" hangingPunct="1"/>
            <a:r>
              <a:rPr lang="fr-CA" dirty="0" smtClean="0"/>
              <a:t>transactions et types de commandes</a:t>
            </a:r>
            <a:endParaRPr lang="en-US" dirty="0" smtClean="0"/>
          </a:p>
        </p:txBody>
      </p:sp>
      <p:graphicFrame>
        <p:nvGraphicFramePr>
          <p:cNvPr id="44066" name="Group 3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287162945"/>
              </p:ext>
            </p:extLst>
          </p:nvPr>
        </p:nvGraphicFramePr>
        <p:xfrm>
          <a:off x="2555776" y="1225296"/>
          <a:ext cx="5472608" cy="4864608"/>
        </p:xfrm>
        <a:graphic>
          <a:graphicData uri="http://schemas.openxmlformats.org/drawingml/2006/table">
            <a:tbl>
              <a:tblPr/>
              <a:tblGrid>
                <a:gridCol w="235716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11544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3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Type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642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Data manipulation </a:t>
                      </a:r>
                      <a:r>
                        <a:rPr kumimoji="0" lang="fr-CA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language</a:t>
                      </a: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 (DML)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fr-CA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</a:rPr>
                        <a:t>Consiste en  n’importe quel nombre d’instructions DML que le serveur Oracle traite comme une seule entité logique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33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Data </a:t>
                      </a:r>
                      <a:r>
                        <a:rPr kumimoji="0" lang="fr-CA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definition</a:t>
                      </a: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 </a:t>
                      </a:r>
                      <a:r>
                        <a:rPr kumimoji="0" lang="fr-CA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language</a:t>
                      </a:r>
                      <a:endParaRPr kumimoji="0" lang="fr-CA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(DDL)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Consiste en une seule instruction DDL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(</a:t>
                      </a:r>
                      <a:r>
                        <a:rPr kumimoji="0" lang="fr-CA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une instruction </a:t>
                      </a: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DDL constitue une transaction)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711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Data control </a:t>
                      </a:r>
                      <a:r>
                        <a:rPr kumimoji="0" lang="fr-CA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language</a:t>
                      </a:r>
                      <a:endParaRPr kumimoji="0" lang="fr-CA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(DCL)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Consiste en une seule instruction DCL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(</a:t>
                      </a:r>
                      <a:r>
                        <a:rPr kumimoji="0" lang="fr-CA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une</a:t>
                      </a: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 </a:t>
                      </a:r>
                      <a:r>
                        <a:rPr kumimoji="0" lang="fr-CA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instruction</a:t>
                      </a: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 DCL constitue une transaction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668" name="Espace réservé du numéro de diapositive 2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FB2E28C-133A-402F-815A-1A247651FD13}" type="slidenum">
              <a:rPr lang="fr-CA" smtClean="0"/>
              <a:pPr/>
              <a:t>5</a:t>
            </a:fld>
            <a:endParaRPr lang="fr-CA" smtClean="0"/>
          </a:p>
        </p:txBody>
      </p:sp>
    </p:spTree>
    <p:extLst>
      <p:ext uri="{BB962C8B-B14F-4D97-AF65-F5344CB8AC3E}">
        <p14:creationId xmlns:p14="http://schemas.microsoft.com/office/powerpoint/2010/main" val="331539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fr-CA"/>
              <a:t>Les transactions:</a:t>
            </a:r>
            <a:br>
              <a:rPr lang="fr-CA"/>
            </a:br>
            <a:r>
              <a:rPr lang="fr-CA"/>
              <a:t>COMMIT, ROLLBACK, SAVEPOINT</a:t>
            </a:r>
          </a:p>
        </p:txBody>
      </p:sp>
      <p:sp>
        <p:nvSpPr>
          <p:cNvPr id="2867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3D13EE0-72C6-44C8-9801-CFB035C8E3B3}" type="slidenum">
              <a:rPr lang="fr-CA" smtClean="0"/>
              <a:pPr/>
              <a:t>6</a:t>
            </a:fld>
            <a:endParaRPr lang="fr-CA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fr-CA" sz="2400" dirty="0"/>
              <a:t>L’instruction </a:t>
            </a:r>
            <a:r>
              <a:rPr lang="fr-CA" sz="2400" b="1" dirty="0"/>
              <a:t>COMMIT</a:t>
            </a:r>
            <a:r>
              <a:rPr lang="fr-CA" sz="2400" dirty="0"/>
              <a:t> :</a:t>
            </a:r>
          </a:p>
          <a:p>
            <a:pPr lvl="1" eaLnBrk="1" hangingPunct="1"/>
            <a:r>
              <a:rPr lang="fr-CA" sz="2000" dirty="0"/>
              <a:t>permet de valider les modifications apportées pendant la transaction.</a:t>
            </a:r>
          </a:p>
          <a:p>
            <a:pPr lvl="1" eaLnBrk="1" hangingPunct="1"/>
            <a:r>
              <a:rPr lang="fr-CA" sz="2000" dirty="0"/>
              <a:t>rend les modifications permanentes.</a:t>
            </a:r>
          </a:p>
          <a:p>
            <a:pPr eaLnBrk="1" hangingPunct="1"/>
            <a:r>
              <a:rPr lang="fr-CA" sz="2400" dirty="0"/>
              <a:t>L’instruction </a:t>
            </a:r>
            <a:r>
              <a:rPr lang="fr-CA" sz="2400" b="1" dirty="0"/>
              <a:t>ROLLBACK</a:t>
            </a:r>
            <a:r>
              <a:rPr lang="fr-CA" sz="2400" dirty="0"/>
              <a:t>:</a:t>
            </a:r>
          </a:p>
          <a:p>
            <a:pPr lvl="1" eaLnBrk="1" hangingPunct="1"/>
            <a:r>
              <a:rPr lang="fr-CA" sz="2000" dirty="0"/>
              <a:t>Permet d’annuler les modifications</a:t>
            </a:r>
          </a:p>
          <a:p>
            <a:pPr lvl="1" eaLnBrk="1" hangingPunct="1"/>
            <a:r>
              <a:rPr lang="fr-CA" sz="2000" dirty="0"/>
              <a:t>Remet les données dans l’état où elles étaient avant le début de la transaction</a:t>
            </a:r>
          </a:p>
          <a:p>
            <a:r>
              <a:rPr lang="fr-CA" sz="2400" dirty="0"/>
              <a:t>L’instruction SAVE { TRAN | TRANSACTION </a:t>
            </a:r>
            <a:r>
              <a:rPr lang="fr-CA" sz="2400" dirty="0" smtClean="0"/>
              <a:t>}</a:t>
            </a:r>
          </a:p>
          <a:p>
            <a:pPr lvl="1"/>
            <a:r>
              <a:rPr lang="fr-CA" sz="1700" dirty="0" smtClean="0"/>
              <a:t>Permet </a:t>
            </a:r>
            <a:r>
              <a:rPr lang="fr-CA" sz="1700" dirty="0"/>
              <a:t>de marquer un état à l’intérieur d’une transaction, dans le but de pouvoir faire des annulations partielles de la transaction.</a:t>
            </a:r>
          </a:p>
        </p:txBody>
      </p:sp>
    </p:spTree>
    <p:extLst>
      <p:ext uri="{BB962C8B-B14F-4D97-AF65-F5344CB8AC3E}">
        <p14:creationId xmlns:p14="http://schemas.microsoft.com/office/powerpoint/2010/main" val="268392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A" smtClean="0"/>
              <a:t>Limites d’une transaction</a:t>
            </a:r>
          </a:p>
        </p:txBody>
      </p:sp>
      <p:sp>
        <p:nvSpPr>
          <p:cNvPr id="2970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EA83ACE-DF68-433F-AD97-26475E000B0E}" type="slidenum">
              <a:rPr lang="fr-CA" smtClean="0"/>
              <a:pPr/>
              <a:t>7</a:t>
            </a:fld>
            <a:endParaRPr lang="fr-CA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1560" y="2417119"/>
            <a:ext cx="3384376" cy="259228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fr-CA" sz="2400" dirty="0"/>
              <a:t>Une transaction </a:t>
            </a:r>
          </a:p>
          <a:p>
            <a:pPr lvl="1" eaLnBrk="1" hangingPunct="1">
              <a:lnSpc>
                <a:spcPct val="90000"/>
              </a:lnSpc>
            </a:pPr>
            <a:r>
              <a:rPr lang="fr-CA" sz="2400" dirty="0"/>
              <a:t>débute:</a:t>
            </a:r>
          </a:p>
          <a:p>
            <a:pPr lvl="2" eaLnBrk="1" hangingPunct="1">
              <a:lnSpc>
                <a:spcPct val="90000"/>
              </a:lnSpc>
            </a:pPr>
            <a:r>
              <a:rPr lang="fr-CA" dirty="0" smtClean="0"/>
              <a:t>Par la première instruction SQL exécutable</a:t>
            </a:r>
          </a:p>
          <a:p>
            <a:pPr lvl="1" eaLnBrk="1" hangingPunct="1">
              <a:lnSpc>
                <a:spcPct val="90000"/>
              </a:lnSpc>
            </a:pPr>
            <a:r>
              <a:rPr lang="fr-CA" sz="2400" dirty="0"/>
              <a:t>se termine :</a:t>
            </a:r>
          </a:p>
          <a:p>
            <a:pPr lvl="2" eaLnBrk="1" hangingPunct="1">
              <a:lnSpc>
                <a:spcPct val="90000"/>
              </a:lnSpc>
            </a:pPr>
            <a:r>
              <a:rPr lang="fr-CA" dirty="0" smtClean="0"/>
              <a:t>par COMMIT ou ROLLBACK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1988840"/>
            <a:ext cx="4591050" cy="287655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07479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6579" y="159659"/>
            <a:ext cx="6750867" cy="840451"/>
          </a:xfrm>
        </p:spPr>
        <p:txBody>
          <a:bodyPr>
            <a:noAutofit/>
          </a:bodyPr>
          <a:lstStyle/>
          <a:p>
            <a:pPr eaLnBrk="1" hangingPunct="1"/>
            <a:r>
              <a:rPr lang="fr-CA" sz="3000" dirty="0"/>
              <a:t>Avantages des instructions COMMIT et ROLLBACK</a:t>
            </a:r>
          </a:p>
        </p:txBody>
      </p:sp>
      <p:sp>
        <p:nvSpPr>
          <p:cNvPr id="3072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40DA027-F8CA-4CBC-9248-C589F54989E6}" type="slidenum">
              <a:rPr lang="fr-CA" smtClean="0"/>
              <a:pPr/>
              <a:t>8</a:t>
            </a:fld>
            <a:endParaRPr lang="fr-CA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23528" y="1700808"/>
            <a:ext cx="8229600" cy="2065784"/>
          </a:xfrm>
        </p:spPr>
        <p:txBody>
          <a:bodyPr/>
          <a:lstStyle/>
          <a:p>
            <a:pPr eaLnBrk="1" hangingPunct="1"/>
            <a:r>
              <a:rPr lang="fr-CA" dirty="0" smtClean="0"/>
              <a:t>Avec les instructions COMMIT et ROLLBACK, on peut:</a:t>
            </a:r>
          </a:p>
          <a:p>
            <a:pPr lvl="1" eaLnBrk="1" hangingPunct="1"/>
            <a:r>
              <a:rPr lang="fr-CA" dirty="0" smtClean="0"/>
              <a:t>Garantir la cohérence des données </a:t>
            </a:r>
          </a:p>
          <a:p>
            <a:pPr lvl="1" eaLnBrk="1" hangingPunct="1"/>
            <a:r>
              <a:rPr lang="fr-CA" dirty="0" smtClean="0"/>
              <a:t>Visualiser les changements avant de les rendre permanents.</a:t>
            </a:r>
          </a:p>
          <a:p>
            <a:pPr lvl="1" eaLnBrk="1" hangingPunct="1"/>
            <a:r>
              <a:rPr lang="fr-CA" dirty="0" smtClean="0"/>
              <a:t>Grouper les opérations qui sont reliées logiquement.</a:t>
            </a:r>
          </a:p>
        </p:txBody>
      </p:sp>
    </p:spTree>
    <p:extLst>
      <p:ext uri="{BB962C8B-B14F-4D97-AF65-F5344CB8AC3E}">
        <p14:creationId xmlns:p14="http://schemas.microsoft.com/office/powerpoint/2010/main" val="37301236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COMMIT</a:t>
            </a:r>
          </a:p>
        </p:txBody>
      </p:sp>
      <p:sp>
        <p:nvSpPr>
          <p:cNvPr id="32773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B478DCA-8353-416C-9583-E7C3CCD00157}" type="slidenum">
              <a:rPr lang="fr-CA" smtClean="0"/>
              <a:pPr/>
              <a:t>9</a:t>
            </a:fld>
            <a:endParaRPr lang="fr-CA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331640" y="1412776"/>
            <a:ext cx="3031331" cy="4530725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fr-CA" sz="2400" b="1" dirty="0"/>
              <a:t>Avant</a:t>
            </a:r>
            <a:r>
              <a:rPr lang="fr-CA" sz="2400" dirty="0"/>
              <a:t> COMMIT</a:t>
            </a:r>
          </a:p>
          <a:p>
            <a:pPr eaLnBrk="1" hangingPunct="1"/>
            <a:r>
              <a:rPr lang="fr-CA" sz="2400" dirty="0"/>
              <a:t>Les changements sont apportés au niveau de la </a:t>
            </a:r>
            <a:r>
              <a:rPr lang="fr-CA" sz="2400" dirty="0" smtClean="0"/>
              <a:t>RAM</a:t>
            </a:r>
            <a:endParaRPr lang="fr-CA" sz="2400" dirty="0"/>
          </a:p>
          <a:p>
            <a:pPr eaLnBrk="1" hangingPunct="1"/>
            <a:r>
              <a:rPr lang="fr-CA" sz="2400" dirty="0"/>
              <a:t>Les enregistrements concernés par la transaction sont </a:t>
            </a:r>
            <a:r>
              <a:rPr lang="fr-CA" sz="2400" b="1" dirty="0"/>
              <a:t>verrouillés</a:t>
            </a:r>
            <a:r>
              <a:rPr lang="fr-CA" sz="2400" dirty="0"/>
              <a:t> (rendus inaccessibles aux changements par d’autres utilisateurs)</a:t>
            </a:r>
          </a:p>
        </p:txBody>
      </p:sp>
      <p:sp>
        <p:nvSpPr>
          <p:cNvPr id="32772" name="Rectangle 4"/>
          <p:cNvSpPr>
            <a:spLocks noGrp="1" noChangeArrowheads="1"/>
          </p:cNvSpPr>
          <p:nvPr>
            <p:ph sz="quarter" idx="2"/>
          </p:nvPr>
        </p:nvSpPr>
        <p:spPr>
          <a:xfrm>
            <a:off x="4644008" y="1412776"/>
            <a:ext cx="3031331" cy="4530725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fr-CA" sz="2400" b="1" dirty="0"/>
              <a:t>Après</a:t>
            </a:r>
            <a:r>
              <a:rPr lang="fr-CA" sz="2400" dirty="0"/>
              <a:t> COMMIT</a:t>
            </a:r>
          </a:p>
          <a:p>
            <a:pPr eaLnBrk="1" hangingPunct="1"/>
            <a:r>
              <a:rPr lang="fr-CA" sz="2400" dirty="0"/>
              <a:t>Les changements sont apportés au niveau de la BDD (sur disque)</a:t>
            </a:r>
          </a:p>
          <a:p>
            <a:pPr eaLnBrk="1" hangingPunct="1"/>
            <a:r>
              <a:rPr lang="fr-CA" sz="2400" dirty="0" smtClean="0"/>
              <a:t>Le SGBD libère </a:t>
            </a:r>
            <a:r>
              <a:rPr lang="fr-CA" sz="2400" dirty="0"/>
              <a:t>les verrous</a:t>
            </a:r>
          </a:p>
          <a:p>
            <a:r>
              <a:rPr lang="fr-CA" sz="2400" dirty="0" smtClean="0"/>
              <a:t>Le SGBD </a:t>
            </a:r>
            <a:r>
              <a:rPr lang="fr-CA" sz="2400" dirty="0"/>
              <a:t>marque la transaction complétée.</a:t>
            </a:r>
          </a:p>
        </p:txBody>
      </p:sp>
    </p:spTree>
    <p:extLst>
      <p:ext uri="{BB962C8B-B14F-4D97-AF65-F5344CB8AC3E}">
        <p14:creationId xmlns:p14="http://schemas.microsoft.com/office/powerpoint/2010/main" val="19952933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fr-CA" dirty="0" smtClean="0"/>
              <a:t>Exemple ROLLBACK: Avant et après</a:t>
            </a:r>
          </a:p>
        </p:txBody>
      </p:sp>
      <p:sp>
        <p:nvSpPr>
          <p:cNvPr id="3891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ED1A68-9190-4DCE-A9AC-ACA6CA50EBA3}" type="slidenum">
              <a:rPr lang="fr-CA" smtClean="0"/>
              <a:pPr/>
              <a:t>10</a:t>
            </a:fld>
            <a:endParaRPr lang="fr-CA" smtClean="0"/>
          </a:p>
        </p:txBody>
      </p:sp>
      <p:sp>
        <p:nvSpPr>
          <p:cNvPr id="2" name="Espace réservé du contenu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Avant un </a:t>
            </a:r>
            <a:r>
              <a:rPr lang="fr-CA" dirty="0" err="1" smtClean="0"/>
              <a:t>rollback</a:t>
            </a:r>
            <a:r>
              <a:rPr lang="fr-CA" dirty="0" smtClean="0"/>
              <a:t>:</a:t>
            </a:r>
          </a:p>
          <a:p>
            <a:pPr lvl="1"/>
            <a:r>
              <a:rPr lang="fr-CA" dirty="0" smtClean="0"/>
              <a:t>La session ayant exécutée les changements, voit les données modifiées (Image APRÈS)</a:t>
            </a:r>
          </a:p>
          <a:p>
            <a:pPr lvl="1"/>
            <a:r>
              <a:rPr lang="fr-CA" dirty="0" smtClean="0"/>
              <a:t>La 2</a:t>
            </a:r>
            <a:r>
              <a:rPr lang="fr-CA" baseline="30000" dirty="0" smtClean="0"/>
              <a:t>ème</a:t>
            </a:r>
            <a:r>
              <a:rPr lang="fr-CA" dirty="0" smtClean="0"/>
              <a:t> session voit l’étant des données avant leur modification (Image Avant)</a:t>
            </a:r>
          </a:p>
          <a:p>
            <a:r>
              <a:rPr lang="fr-CA" dirty="0" smtClean="0"/>
              <a:t>Après </a:t>
            </a:r>
            <a:r>
              <a:rPr lang="fr-CA" dirty="0"/>
              <a:t>un </a:t>
            </a:r>
            <a:r>
              <a:rPr lang="fr-CA" dirty="0" err="1"/>
              <a:t>rollback</a:t>
            </a:r>
            <a:r>
              <a:rPr lang="fr-CA" dirty="0"/>
              <a:t>:</a:t>
            </a:r>
          </a:p>
          <a:p>
            <a:pPr lvl="1"/>
            <a:r>
              <a:rPr lang="fr-CA" dirty="0"/>
              <a:t>La session ayant exécutée les changements, </a:t>
            </a:r>
            <a:r>
              <a:rPr lang="fr-CA" dirty="0" smtClean="0"/>
              <a:t>retourne aux données non modifiées(Image AVANT)</a:t>
            </a:r>
            <a:endParaRPr lang="fr-CA" dirty="0"/>
          </a:p>
          <a:p>
            <a:pPr lvl="1"/>
            <a:r>
              <a:rPr lang="fr-CA" dirty="0"/>
              <a:t>La 2</a:t>
            </a:r>
            <a:r>
              <a:rPr lang="fr-CA" baseline="30000" dirty="0"/>
              <a:t>ème</a:t>
            </a:r>
            <a:r>
              <a:rPr lang="fr-CA" dirty="0"/>
              <a:t> session voit l’étant des données avant leur modification (Image Avant</a:t>
            </a:r>
            <a:r>
              <a:rPr lang="fr-CA" dirty="0" smtClean="0"/>
              <a:t>)</a:t>
            </a:r>
          </a:p>
          <a:p>
            <a:pPr lvl="1"/>
            <a:r>
              <a:rPr lang="fr-CA" dirty="0" smtClean="0"/>
              <a:t>EN fait il n’y a plus d’image APRÈS</a:t>
            </a:r>
            <a:endParaRPr lang="fr-CA" dirty="0"/>
          </a:p>
          <a:p>
            <a:endParaRPr lang="fr-CA" dirty="0"/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63261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e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Origine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14626</TotalTime>
  <Words>502</Words>
  <Application>Microsoft Office PowerPoint</Application>
  <PresentationFormat>Affichage à l'écran (4:3)</PresentationFormat>
  <Paragraphs>84</Paragraphs>
  <Slides>10</Slides>
  <Notes>9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2" baseType="lpstr">
      <vt:lpstr>Origine</vt:lpstr>
      <vt:lpstr>Document</vt:lpstr>
      <vt:lpstr>DML (Langage de manipulation  de données)</vt:lpstr>
      <vt:lpstr>Les catégories d'instructions   SQL</vt:lpstr>
      <vt:lpstr>Les transactions</vt:lpstr>
      <vt:lpstr>Propriétés d’une transaction: A C I D</vt:lpstr>
      <vt:lpstr>transactions et types de commandes</vt:lpstr>
      <vt:lpstr>Les transactions: COMMIT, ROLLBACK, SAVEPOINT</vt:lpstr>
      <vt:lpstr>Limites d’une transaction</vt:lpstr>
      <vt:lpstr>Avantages des instructions COMMIT et ROLLBACK</vt:lpstr>
      <vt:lpstr>COMMIT</vt:lpstr>
      <vt:lpstr>Exemple ROLLBACK: Avant et après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asma mokt</dc:creator>
  <cp:lastModifiedBy>asma mokt</cp:lastModifiedBy>
  <cp:revision>55</cp:revision>
  <dcterms:created xsi:type="dcterms:W3CDTF">2022-05-20T09:44:17Z</dcterms:created>
  <dcterms:modified xsi:type="dcterms:W3CDTF">2024-09-20T10:30:35Z</dcterms:modified>
</cp:coreProperties>
</file>