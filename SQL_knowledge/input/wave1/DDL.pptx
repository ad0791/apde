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2"/>
    <p:sldId id="262" r:id="rId3"/>
    <p:sldId id="267" r:id="rId4"/>
    <p:sldId id="269" r:id="rId5"/>
    <p:sldId id="272" r:id="rId6"/>
    <p:sldId id="316" r:id="rId7"/>
    <p:sldId id="275" r:id="rId8"/>
    <p:sldId id="278" r:id="rId9"/>
    <p:sldId id="279" r:id="rId10"/>
    <p:sldId id="281" r:id="rId11"/>
    <p:sldId id="282" r:id="rId12"/>
    <p:sldId id="284" r:id="rId13"/>
    <p:sldId id="286"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6" r:id="rId32"/>
    <p:sldId id="307" r:id="rId33"/>
    <p:sldId id="310" r:id="rId34"/>
    <p:sldId id="311" r:id="rId35"/>
    <p:sldId id="312" r:id="rId36"/>
    <p:sldId id="314" r:id="rId3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A107856-5554-42FB-B03E-39F5DBC370BA}" styleName="Style moyen 4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26" autoAdjust="0"/>
  </p:normalViewPr>
  <p:slideViewPr>
    <p:cSldViewPr>
      <p:cViewPr>
        <p:scale>
          <a:sx n="87" d="100"/>
          <a:sy n="87" d="100"/>
        </p:scale>
        <p:origin x="680" y="-82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Love HENRY" userId="7d762d47bcf049a8" providerId="LiveId" clId="{45F5ACBF-F6BB-4E29-A9E2-52366AD0548E}"/>
    <pc:docChg chg="modSld">
      <pc:chgData name="Christ-Love HENRY" userId="7d762d47bcf049a8" providerId="LiveId" clId="{45F5ACBF-F6BB-4E29-A9E2-52366AD0548E}" dt="2026-04-12T03:29:58.294" v="0" actId="1076"/>
      <pc:docMkLst>
        <pc:docMk/>
      </pc:docMkLst>
      <pc:sldChg chg="modSp mod">
        <pc:chgData name="Christ-Love HENRY" userId="7d762d47bcf049a8" providerId="LiveId" clId="{45F5ACBF-F6BB-4E29-A9E2-52366AD0548E}" dt="2026-04-12T03:29:58.294" v="0" actId="1076"/>
        <pc:sldMkLst>
          <pc:docMk/>
          <pc:sldMk cId="4178212562" sldId="294"/>
        </pc:sldMkLst>
        <pc:spChg chg="mod">
          <ac:chgData name="Christ-Love HENRY" userId="7d762d47bcf049a8" providerId="LiveId" clId="{45F5ACBF-F6BB-4E29-A9E2-52366AD0548E}" dt="2026-04-12T03:29:58.294" v="0" actId="1076"/>
          <ac:spMkLst>
            <pc:docMk/>
            <pc:sldMk cId="4178212562" sldId="294"/>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EA525E-C899-4DFB-9159-395E4D74FBB7}" type="datetimeFigureOut">
              <a:rPr lang="fr-CA" smtClean="0"/>
              <a:t>2026-04-11</a:t>
            </a:fld>
            <a:endParaRPr lang="fr-CA"/>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7139A2-8B9B-4B30-A369-706EDA2D0F51}" type="slidenum">
              <a:rPr lang="fr-CA" smtClean="0"/>
              <a:t>‹N°›</a:t>
            </a:fld>
            <a:endParaRPr lang="fr-CA"/>
          </a:p>
        </p:txBody>
      </p:sp>
    </p:spTree>
    <p:extLst>
      <p:ext uri="{BB962C8B-B14F-4D97-AF65-F5344CB8AC3E}">
        <p14:creationId xmlns:p14="http://schemas.microsoft.com/office/powerpoint/2010/main" val="1526418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Rot="1" noChangeAspect="1" noChangeArrowheads="1" noTextEdit="1"/>
          </p:cNvSpPr>
          <p:nvPr>
            <p:ph type="sldImg"/>
          </p:nvPr>
        </p:nvSpPr>
        <p:spPr>
          <a:xfrm>
            <a:off x="458788" y="168275"/>
            <a:ext cx="5938837" cy="4452938"/>
          </a:xfrm>
          <a:ln cap="flat"/>
        </p:spPr>
      </p:sp>
      <p:sp>
        <p:nvSpPr>
          <p:cNvPr id="1028" name="Rectangle 3"/>
          <p:cNvSpPr>
            <a:spLocks noGrp="1" noChangeArrowheads="1"/>
          </p:cNvSpPr>
          <p:nvPr>
            <p:ph type="body" idx="1"/>
          </p:nvPr>
        </p:nvSpPr>
        <p:spPr>
          <a:xfrm>
            <a:off x="365655" y="4732617"/>
            <a:ext cx="5947857" cy="3802314"/>
          </a:xfrm>
          <a:noFill/>
          <a:ln/>
        </p:spPr>
        <p:txBody>
          <a:bodyPr/>
          <a:lstStyle/>
          <a:p>
            <a:endParaRPr lang="fr-FR" b="0" dirty="0">
              <a:latin typeface="Times New Roman" pitchFamily="18" charset="0"/>
            </a:endParaRPr>
          </a:p>
        </p:txBody>
      </p:sp>
      <p:graphicFrame>
        <p:nvGraphicFramePr>
          <p:cNvPr id="1026" name="Object 4"/>
          <p:cNvGraphicFramePr>
            <a:graphicFrameLocks/>
          </p:cNvGraphicFramePr>
          <p:nvPr/>
        </p:nvGraphicFramePr>
        <p:xfrm>
          <a:off x="546085" y="5876015"/>
          <a:ext cx="6165015" cy="2951524"/>
        </p:xfrm>
        <a:graphic>
          <a:graphicData uri="http://schemas.openxmlformats.org/presentationml/2006/ole">
            <mc:AlternateContent xmlns:mc="http://schemas.openxmlformats.org/markup-compatibility/2006">
              <mc:Choice xmlns:v="urn:schemas-microsoft-com:vml" Requires="v">
                <p:oleObj name="Document" r:id="rId3" imgW="6129000" imgH="2946240" progId="Word.Document.8">
                  <p:embed/>
                </p:oleObj>
              </mc:Choice>
              <mc:Fallback>
                <p:oleObj name="Document" r:id="rId3" imgW="6129000" imgH="2946240" progId="Word.Document.8">
                  <p:embed/>
                  <p:pic>
                    <p:nvPicPr>
                      <p:cNvPr id="1026"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085" y="5876015"/>
                        <a:ext cx="6165015" cy="295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72256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948F13F-2297-47E6-9545-E1C6A286A2B7}" type="slidenum">
              <a:rPr lang="fr-CA" smtClean="0"/>
              <a:t>4</a:t>
            </a:fld>
            <a:endParaRPr lang="fr-CA"/>
          </a:p>
        </p:txBody>
      </p:sp>
    </p:spTree>
    <p:extLst>
      <p:ext uri="{BB962C8B-B14F-4D97-AF65-F5344CB8AC3E}">
        <p14:creationId xmlns:p14="http://schemas.microsoft.com/office/powerpoint/2010/main" val="91591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5"/>
          <p:cNvSpPr>
            <a:spLocks noGrp="1" noChangeArrowheads="1"/>
          </p:cNvSpPr>
          <p:nvPr>
            <p:ph type="sldNum" sz="quarter" idx="5"/>
          </p:nvPr>
        </p:nvSpPr>
        <p:spPr>
          <a:noFill/>
        </p:spPr>
        <p:txBody>
          <a:bodyPr/>
          <a:lstStyle/>
          <a:p>
            <a:fld id="{781AB7B2-0CA3-4234-9DA4-3A43185658A9}" type="slidenum">
              <a:rPr lang="fr-CA" smtClean="0">
                <a:latin typeface="Times New Roman" pitchFamily="18" charset="0"/>
              </a:rPr>
              <a:pPr/>
              <a:t>5</a:t>
            </a:fld>
            <a:endParaRPr lang="fr-CA">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1740711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5"/>
          <p:cNvSpPr>
            <a:spLocks noGrp="1" noChangeArrowheads="1"/>
          </p:cNvSpPr>
          <p:nvPr>
            <p:ph type="sldNum" sz="quarter" idx="5"/>
          </p:nvPr>
        </p:nvSpPr>
        <p:spPr>
          <a:noFill/>
        </p:spPr>
        <p:txBody>
          <a:bodyPr/>
          <a:lstStyle/>
          <a:p>
            <a:fld id="{6DA8D701-930A-40EA-AAFD-1CFFA41ECA89}" type="slidenum">
              <a:rPr lang="fr-CA" smtClean="0">
                <a:latin typeface="Times New Roman" pitchFamily="18" charset="0"/>
              </a:rPr>
              <a:pPr/>
              <a:t>18</a:t>
            </a:fld>
            <a:endParaRPr lang="fr-CA">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1871197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5"/>
          <p:cNvSpPr>
            <a:spLocks noGrp="1" noChangeArrowheads="1"/>
          </p:cNvSpPr>
          <p:nvPr>
            <p:ph type="sldNum" sz="quarter" idx="5"/>
          </p:nvPr>
        </p:nvSpPr>
        <p:spPr>
          <a:noFill/>
        </p:spPr>
        <p:txBody>
          <a:bodyPr/>
          <a:lstStyle/>
          <a:p>
            <a:fld id="{6DA8D701-930A-40EA-AAFD-1CFFA41ECA89}" type="slidenum">
              <a:rPr lang="fr-CA" smtClean="0">
                <a:latin typeface="Times New Roman" pitchFamily="18" charset="0"/>
              </a:rPr>
              <a:pPr/>
              <a:t>19</a:t>
            </a:fld>
            <a:endParaRPr lang="fr-CA">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2036281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5"/>
          <p:cNvSpPr>
            <a:spLocks noGrp="1" noChangeArrowheads="1"/>
          </p:cNvSpPr>
          <p:nvPr>
            <p:ph type="sldNum" sz="quarter" idx="5"/>
          </p:nvPr>
        </p:nvSpPr>
        <p:spPr>
          <a:noFill/>
        </p:spPr>
        <p:txBody>
          <a:bodyPr/>
          <a:lstStyle/>
          <a:p>
            <a:fld id="{F6808C95-8269-40A6-9941-A50CAB5B1B85}" type="slidenum">
              <a:rPr lang="fr-CA" smtClean="0">
                <a:latin typeface="Times New Roman" pitchFamily="18" charset="0"/>
              </a:rPr>
              <a:pPr/>
              <a:t>21</a:t>
            </a:fld>
            <a:endParaRPr lang="fr-CA">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607288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5"/>
          <p:cNvSpPr>
            <a:spLocks noGrp="1" noChangeArrowheads="1"/>
          </p:cNvSpPr>
          <p:nvPr>
            <p:ph type="sldNum" sz="quarter" idx="5"/>
          </p:nvPr>
        </p:nvSpPr>
        <p:spPr>
          <a:noFill/>
        </p:spPr>
        <p:txBody>
          <a:bodyPr/>
          <a:lstStyle/>
          <a:p>
            <a:fld id="{F6808C95-8269-40A6-9941-A50CAB5B1B85}" type="slidenum">
              <a:rPr lang="fr-CA" smtClean="0">
                <a:latin typeface="Times New Roman" pitchFamily="18" charset="0"/>
              </a:rPr>
              <a:pPr/>
              <a:t>23</a:t>
            </a:fld>
            <a:endParaRPr lang="fr-CA">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1169234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5"/>
          <p:cNvSpPr>
            <a:spLocks noGrp="1" noChangeArrowheads="1"/>
          </p:cNvSpPr>
          <p:nvPr>
            <p:ph type="sldNum" sz="quarter" idx="5"/>
          </p:nvPr>
        </p:nvSpPr>
        <p:spPr>
          <a:noFill/>
        </p:spPr>
        <p:txBody>
          <a:bodyPr/>
          <a:lstStyle/>
          <a:p>
            <a:fld id="{5C10905C-1C09-4D38-8E30-F96CC9D85391}" type="slidenum">
              <a:rPr lang="fr-CA" smtClean="0">
                <a:latin typeface="Times New Roman" pitchFamily="18" charset="0"/>
              </a:rPr>
              <a:pPr/>
              <a:t>26</a:t>
            </a:fld>
            <a:endParaRPr lang="fr-CA">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1345925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5"/>
          <p:cNvSpPr>
            <a:spLocks noGrp="1" noChangeArrowheads="1"/>
          </p:cNvSpPr>
          <p:nvPr>
            <p:ph type="sldNum" sz="quarter" idx="5"/>
          </p:nvPr>
        </p:nvSpPr>
        <p:spPr>
          <a:noFill/>
        </p:spPr>
        <p:txBody>
          <a:bodyPr/>
          <a:lstStyle/>
          <a:p>
            <a:fld id="{D451149A-E21E-45C5-A4B7-0DEDAD796706}" type="slidenum">
              <a:rPr lang="fr-CA" smtClean="0">
                <a:latin typeface="Times New Roman" pitchFamily="18" charset="0"/>
              </a:rPr>
              <a:pPr/>
              <a:t>27</a:t>
            </a:fld>
            <a:endParaRPr lang="fr-CA">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2927788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5"/>
          <p:cNvSpPr>
            <a:spLocks noGrp="1" noChangeArrowheads="1"/>
          </p:cNvSpPr>
          <p:nvPr>
            <p:ph type="sldNum" sz="quarter" idx="5"/>
          </p:nvPr>
        </p:nvSpPr>
        <p:spPr>
          <a:noFill/>
        </p:spPr>
        <p:txBody>
          <a:bodyPr/>
          <a:lstStyle/>
          <a:p>
            <a:fld id="{E3DADA24-9526-440C-B5B8-3EC6847E2522}" type="slidenum">
              <a:rPr lang="fr-CA" smtClean="0">
                <a:latin typeface="Times New Roman" pitchFamily="18" charset="0"/>
              </a:rPr>
              <a:pPr/>
              <a:t>33</a:t>
            </a:fld>
            <a:endParaRPr lang="fr-CA">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400378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5"/>
          <p:cNvSpPr>
            <a:spLocks noGrp="1" noChangeArrowheads="1"/>
          </p:cNvSpPr>
          <p:nvPr>
            <p:ph type="sldNum" sz="quarter" idx="5"/>
          </p:nvPr>
        </p:nvSpPr>
        <p:spPr>
          <a:noFill/>
        </p:spPr>
        <p:txBody>
          <a:bodyPr/>
          <a:lstStyle/>
          <a:p>
            <a:fld id="{E20318EF-86D2-4B03-960C-AC6475F49ADC}" type="slidenum">
              <a:rPr lang="fr-CA" smtClean="0">
                <a:latin typeface="Times New Roman" pitchFamily="18" charset="0"/>
              </a:rPr>
              <a:pPr/>
              <a:t>34</a:t>
            </a:fld>
            <a:endParaRPr lang="fr-CA">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673305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fr-FR"/>
              <a:t>Modifiez le style du titre</a:t>
            </a:r>
            <a:endParaRPr kumimoji="0" lang="en-US"/>
          </a:p>
        </p:txBody>
      </p:sp>
      <p:sp>
        <p:nvSpPr>
          <p:cNvPr id="9" name="Sous-titr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Modifiez le style des sous-titres du masque</a:t>
            </a:r>
            <a:endParaRPr kumimoji="0" lang="en-US"/>
          </a:p>
        </p:txBody>
      </p:sp>
      <p:sp>
        <p:nvSpPr>
          <p:cNvPr id="28" name="Espace réservé de la date 27"/>
          <p:cNvSpPr>
            <a:spLocks noGrp="1"/>
          </p:cNvSpPr>
          <p:nvPr>
            <p:ph type="dt" sz="half" idx="10"/>
          </p:nvPr>
        </p:nvSpPr>
        <p:spPr>
          <a:xfrm>
            <a:off x="6400800" y="6355080"/>
            <a:ext cx="2286000" cy="365760"/>
          </a:xfrm>
        </p:spPr>
        <p:txBody>
          <a:bodyPr/>
          <a:lstStyle>
            <a:lvl1pPr>
              <a:defRPr sz="1400"/>
            </a:lvl1pPr>
          </a:lstStyle>
          <a:p>
            <a:fld id="{AA309A6D-C09C-4548-B29A-6CF363A7E532}" type="datetimeFigureOut">
              <a:rPr lang="fr-FR" smtClean="0"/>
              <a:t>11/04/2026</a:t>
            </a:fld>
            <a:endParaRPr lang="fr-BE"/>
          </a:p>
        </p:txBody>
      </p:sp>
      <p:sp>
        <p:nvSpPr>
          <p:cNvPr id="17" name="Espace réservé du pied de page 16"/>
          <p:cNvSpPr>
            <a:spLocks noGrp="1"/>
          </p:cNvSpPr>
          <p:nvPr>
            <p:ph type="ftr" sz="quarter" idx="11"/>
          </p:nvPr>
        </p:nvSpPr>
        <p:spPr>
          <a:xfrm>
            <a:off x="2898648" y="6355080"/>
            <a:ext cx="3474720" cy="365760"/>
          </a:xfrm>
        </p:spPr>
        <p:txBody>
          <a:bodyPr/>
          <a:lstStyle/>
          <a:p>
            <a:endParaRPr lang="fr-BE"/>
          </a:p>
        </p:txBody>
      </p:sp>
      <p:sp>
        <p:nvSpPr>
          <p:cNvPr id="29" name="Espace réservé du numéro de diapositive 28"/>
          <p:cNvSpPr>
            <a:spLocks noGrp="1"/>
          </p:cNvSpPr>
          <p:nvPr>
            <p:ph type="sldNum" sz="quarter" idx="12"/>
          </p:nvPr>
        </p:nvSpPr>
        <p:spPr>
          <a:xfrm>
            <a:off x="1216152" y="6355080"/>
            <a:ext cx="1219200" cy="365760"/>
          </a:xfrm>
        </p:spPr>
        <p:txBody>
          <a:bodyPr/>
          <a:lstStyle/>
          <a:p>
            <a:fld id="{CF4668DC-857F-487D-BFFA-8C0CA5037977}" type="slidenum">
              <a:rPr lang="fr-BE" smtClean="0"/>
              <a:t>‹N°›</a:t>
            </a:fld>
            <a:endParaRPr lang="fr-BE"/>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Modifiez le style du titre</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t>11/04/2026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
        <p:nvSpPr>
          <p:cNvPr id="8" name="Espace réservé du contenu 7"/>
          <p:cNvSpPr>
            <a:spLocks noGrp="1"/>
          </p:cNvSpPr>
          <p:nvPr>
            <p:ph sz="quarter" idx="1"/>
          </p:nvPr>
        </p:nvSpPr>
        <p:spPr>
          <a:xfrm>
            <a:off x="457200" y="1219200"/>
            <a:ext cx="8229600" cy="493776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fr-FR"/>
              <a:t>Modifiez le style du titre</a:t>
            </a:r>
            <a:endParaRPr kumimoji="0" lang="en-US"/>
          </a:p>
        </p:txBody>
      </p:sp>
      <p:sp>
        <p:nvSpPr>
          <p:cNvPr id="3" name="Espace réservé du texte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Modifiez les styles du texte du masque</a:t>
            </a:r>
          </a:p>
        </p:txBody>
      </p:sp>
      <p:sp>
        <p:nvSpPr>
          <p:cNvPr id="4" name="Espace réservé de la date 3"/>
          <p:cNvSpPr>
            <a:spLocks noGrp="1"/>
          </p:cNvSpPr>
          <p:nvPr>
            <p:ph type="dt" sz="half" idx="10"/>
          </p:nvPr>
        </p:nvSpPr>
        <p:spPr>
          <a:xfrm>
            <a:off x="6400800" y="6355080"/>
            <a:ext cx="2286000" cy="365760"/>
          </a:xfrm>
        </p:spPr>
        <p:txBody>
          <a:bodyPr/>
          <a:lstStyle/>
          <a:p>
            <a:fld id="{AA309A6D-C09C-4548-B29A-6CF363A7E532}" type="datetimeFigureOut">
              <a:rPr lang="fr-FR" smtClean="0"/>
              <a:t>11/04/2026</a:t>
            </a:fld>
            <a:endParaRPr lang="fr-BE"/>
          </a:p>
        </p:txBody>
      </p:sp>
      <p:sp>
        <p:nvSpPr>
          <p:cNvPr id="5" name="Espace réservé du pied de page 4"/>
          <p:cNvSpPr>
            <a:spLocks noGrp="1"/>
          </p:cNvSpPr>
          <p:nvPr>
            <p:ph type="ftr" sz="quarter" idx="11"/>
          </p:nvPr>
        </p:nvSpPr>
        <p:spPr>
          <a:xfrm>
            <a:off x="2898648" y="6355080"/>
            <a:ext cx="3474720" cy="365760"/>
          </a:xfrm>
        </p:spPr>
        <p:txBody>
          <a:bodyPr/>
          <a:lstStyle/>
          <a:p>
            <a:endParaRPr lang="fr-BE"/>
          </a:p>
        </p:txBody>
      </p:sp>
      <p:sp>
        <p:nvSpPr>
          <p:cNvPr id="6" name="Espace réservé du numéro de diapositive 5"/>
          <p:cNvSpPr>
            <a:spLocks noGrp="1"/>
          </p:cNvSpPr>
          <p:nvPr>
            <p:ph type="sldNum" sz="quarter" idx="12"/>
          </p:nvPr>
        </p:nvSpPr>
        <p:spPr>
          <a:xfrm>
            <a:off x="1069848" y="6355080"/>
            <a:ext cx="1520952" cy="365760"/>
          </a:xfrm>
        </p:spPr>
        <p:txBody>
          <a:bodyPr/>
          <a:lstStyle/>
          <a:p>
            <a:fld id="{CF4668DC-857F-487D-BFFA-8C0CA5037977}" type="slidenum">
              <a:rPr lang="fr-BE" smtClean="0"/>
              <a:t>‹N°›</a:t>
            </a:fld>
            <a:endParaRPr lang="fr-BE"/>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Modifiez le style du titre</a:t>
            </a:r>
            <a:endParaRPr kumimoji="0" lang="en-US"/>
          </a:p>
        </p:txBody>
      </p:sp>
      <p:sp>
        <p:nvSpPr>
          <p:cNvPr id="5" name="Espace réservé de la date 4"/>
          <p:cNvSpPr>
            <a:spLocks noGrp="1"/>
          </p:cNvSpPr>
          <p:nvPr>
            <p:ph type="dt" sz="half" idx="10"/>
          </p:nvPr>
        </p:nvSpPr>
        <p:spPr/>
        <p:txBody>
          <a:bodyPr/>
          <a:lstStyle/>
          <a:p>
            <a:fld id="{AA309A6D-C09C-4548-B29A-6CF363A7E532}" type="datetimeFigureOut">
              <a:rPr lang="fr-FR" smtClean="0"/>
              <a:t>11/04/2026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‹N°›</a:t>
            </a:fld>
            <a:endParaRPr lang="fr-BE"/>
          </a:p>
        </p:txBody>
      </p:sp>
      <p:sp>
        <p:nvSpPr>
          <p:cNvPr id="9" name="Espace réservé du contenu 8"/>
          <p:cNvSpPr>
            <a:spLocks noGrp="1"/>
          </p:cNvSpPr>
          <p:nvPr>
            <p:ph sz="quarter" idx="1"/>
          </p:nvPr>
        </p:nvSpPr>
        <p:spPr>
          <a:xfrm>
            <a:off x="457200" y="1219200"/>
            <a:ext cx="4041648" cy="493776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1" name="Espace réservé du contenu 10"/>
          <p:cNvSpPr>
            <a:spLocks noGrp="1"/>
          </p:cNvSpPr>
          <p:nvPr>
            <p:ph sz="quarter" idx="2"/>
          </p:nvPr>
        </p:nvSpPr>
        <p:spPr>
          <a:xfrm>
            <a:off x="4632198" y="1216152"/>
            <a:ext cx="4041648" cy="493776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nchor="ctr"/>
          <a:lstStyle>
            <a:lvl1pPr>
              <a:defRPr/>
            </a:lvl1pPr>
          </a:lstStyle>
          <a:p>
            <a:r>
              <a:rPr kumimoji="0" lang="fr-FR"/>
              <a:t>Modifiez le style du titre</a:t>
            </a:r>
            <a:endParaRPr kumimoji="0" lang="en-US"/>
          </a:p>
        </p:txBody>
      </p:sp>
      <p:sp>
        <p:nvSpPr>
          <p:cNvPr id="3" name="Espace réservé du texte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Modifiez les styles du texte du masque</a:t>
            </a:r>
          </a:p>
        </p:txBody>
      </p:sp>
      <p:sp>
        <p:nvSpPr>
          <p:cNvPr id="4" name="Espace réservé du texte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Modifiez les styles du texte du masque</a:t>
            </a:r>
          </a:p>
        </p:txBody>
      </p:sp>
      <p:sp>
        <p:nvSpPr>
          <p:cNvPr id="7" name="Espace réservé de la date 6"/>
          <p:cNvSpPr>
            <a:spLocks noGrp="1"/>
          </p:cNvSpPr>
          <p:nvPr>
            <p:ph type="dt" sz="half" idx="10"/>
          </p:nvPr>
        </p:nvSpPr>
        <p:spPr/>
        <p:txBody>
          <a:bodyPr/>
          <a:lstStyle/>
          <a:p>
            <a:fld id="{AA309A6D-C09C-4548-B29A-6CF363A7E532}" type="datetimeFigureOut">
              <a:rPr lang="fr-FR" smtClean="0"/>
              <a:t>11/04/2026</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t>‹N°›</a:t>
            </a:fld>
            <a:endParaRPr lang="fr-BE"/>
          </a:p>
        </p:txBody>
      </p:sp>
      <p:sp>
        <p:nvSpPr>
          <p:cNvPr id="11" name="Espace réservé du contenu 10"/>
          <p:cNvSpPr>
            <a:spLocks noGrp="1"/>
          </p:cNvSpPr>
          <p:nvPr>
            <p:ph sz="quarter" idx="2"/>
          </p:nvPr>
        </p:nvSpPr>
        <p:spPr>
          <a:xfrm>
            <a:off x="457200" y="2133600"/>
            <a:ext cx="4038600" cy="40386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3" name="Espace réservé du contenu 12"/>
          <p:cNvSpPr>
            <a:spLocks noGrp="1"/>
          </p:cNvSpPr>
          <p:nvPr>
            <p:ph sz="quarter" idx="4"/>
          </p:nvPr>
        </p:nvSpPr>
        <p:spPr>
          <a:xfrm>
            <a:off x="4648200" y="2133600"/>
            <a:ext cx="4038600" cy="40386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Modifiez le style du titre</a:t>
            </a:r>
            <a:endParaRPr kumimoji="0" lang="en-US"/>
          </a:p>
        </p:txBody>
      </p:sp>
      <p:sp>
        <p:nvSpPr>
          <p:cNvPr id="3" name="Espace réservé de la date 2"/>
          <p:cNvSpPr>
            <a:spLocks noGrp="1"/>
          </p:cNvSpPr>
          <p:nvPr>
            <p:ph type="dt" sz="half" idx="10"/>
          </p:nvPr>
        </p:nvSpPr>
        <p:spPr/>
        <p:txBody>
          <a:bodyPr/>
          <a:lstStyle/>
          <a:p>
            <a:fld id="{AA309A6D-C09C-4548-B29A-6CF363A7E532}" type="datetimeFigureOut">
              <a:rPr lang="fr-FR" smtClean="0"/>
              <a:t>11/04/2026</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t>‹N°›</a:t>
            </a:fld>
            <a:endParaRPr lang="fr-BE"/>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t>11/04/2026</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t>‹N°›</a:t>
            </a:fld>
            <a:endParaRPr lang="fr-BE"/>
          </a:p>
        </p:txBody>
      </p:sp>
      <p:sp>
        <p:nvSpPr>
          <p:cNvPr id="5" name="Connecteur droit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fr-FR"/>
              <a:t>Modifiez le style du titre</a:t>
            </a:r>
            <a:endParaRPr kumimoji="0" lang="en-US"/>
          </a:p>
        </p:txBody>
      </p:sp>
      <p:sp>
        <p:nvSpPr>
          <p:cNvPr id="3" name="Espace réservé du text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fr-FR"/>
              <a:t>Modifiez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t>11/04/2026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‹N°›</a:t>
            </a:fld>
            <a:endParaRPr lang="fr-BE"/>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Connecteur droit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Espace réservé du contenu 11"/>
          <p:cNvSpPr>
            <a:spLocks noGrp="1"/>
          </p:cNvSpPr>
          <p:nvPr>
            <p:ph sz="quarter" idx="1"/>
          </p:nvPr>
        </p:nvSpPr>
        <p:spPr>
          <a:xfrm>
            <a:off x="304800" y="304800"/>
            <a:ext cx="5715000" cy="57150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fr-FR"/>
              <a:t>Modifiez le style du titre</a:t>
            </a:r>
            <a:endParaRPr kumimoji="0" lang="en-US"/>
          </a:p>
        </p:txBody>
      </p:sp>
      <p:sp>
        <p:nvSpPr>
          <p:cNvPr id="3" name="Espace réservé pour une image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fr-FR"/>
              <a:t>Modifiez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t>11/04/2026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‹N°›</a:t>
            </a:fld>
            <a:endParaRPr lang="fr-BE"/>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Modifiez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t>11/04/2026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a:t>Modifiez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t>11/04/2026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
        <p:nvSpPr>
          <p:cNvPr id="7" name="Connecteur droit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Triangle isocè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Connecteur droit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457200" y="277815"/>
            <a:ext cx="8229600" cy="1139825"/>
          </a:xfrm>
        </p:spPr>
        <p:txBody>
          <a:bodyPr/>
          <a:lstStyle/>
          <a:p>
            <a:r>
              <a:rPr lang="fr-FR"/>
              <a:t>Cliquez pour modifier le style du titre</a:t>
            </a:r>
            <a:endParaRPr lang="fr-CA"/>
          </a:p>
        </p:txBody>
      </p:sp>
      <p:sp>
        <p:nvSpPr>
          <p:cNvPr id="3" name="Espace réservé du tableau 2"/>
          <p:cNvSpPr>
            <a:spLocks noGrp="1"/>
          </p:cNvSpPr>
          <p:nvPr>
            <p:ph type="tbl" idx="1"/>
          </p:nvPr>
        </p:nvSpPr>
        <p:spPr>
          <a:xfrm>
            <a:off x="457200" y="1600202"/>
            <a:ext cx="8229600" cy="4530725"/>
          </a:xfrm>
        </p:spPr>
        <p:txBody>
          <a:bodyPr/>
          <a:lstStyle/>
          <a:p>
            <a:pPr lvl="0"/>
            <a:endParaRPr lang="fr-CA" noProof="0"/>
          </a:p>
        </p:txBody>
      </p:sp>
      <p:sp>
        <p:nvSpPr>
          <p:cNvPr id="4" name="Rectangle 4"/>
          <p:cNvSpPr>
            <a:spLocks noGrp="1" noChangeArrowheads="1"/>
          </p:cNvSpPr>
          <p:nvPr>
            <p:ph type="dt" sz="half" idx="10"/>
          </p:nvPr>
        </p:nvSpPr>
        <p:spPr>
          <a:xfrm>
            <a:off x="1223963" y="6248400"/>
            <a:ext cx="2133600" cy="457200"/>
          </a:xfrm>
          <a:prstGeom prst="rect">
            <a:avLst/>
          </a:prstGeom>
        </p:spPr>
        <p:txBody>
          <a:bodyPr/>
          <a:lstStyle>
            <a:lvl1pPr>
              <a:defRPr/>
            </a:lvl1pPr>
          </a:lstStyle>
          <a:p>
            <a:pPr>
              <a:defRPr/>
            </a:pPr>
            <a:fld id="{2B9A7EF0-26F0-4293-95ED-166468F5A752}" type="datetime1">
              <a:rPr lang="fr-CA" smtClean="0"/>
              <a:t>2026-04-11</a:t>
            </a:fld>
            <a:endParaRPr lang="en-US"/>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5D8CC7CD-F9CC-4CA9-BFF1-696D57BAC6F9}" type="slidenum">
              <a:rPr lang="en-US"/>
              <a:pPr>
                <a:defRPr/>
              </a:pPr>
              <a:t>‹N°›</a:t>
            </a:fld>
            <a:endParaRPr lang="en-US"/>
          </a:p>
        </p:txBody>
      </p:sp>
    </p:spTree>
    <p:extLst>
      <p:ext uri="{BB962C8B-B14F-4D97-AF65-F5344CB8AC3E}">
        <p14:creationId xmlns:p14="http://schemas.microsoft.com/office/powerpoint/2010/main" val="12321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re et texte sur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7815"/>
            <a:ext cx="8229600" cy="1139825"/>
          </a:xfrm>
        </p:spPr>
        <p:txBody>
          <a:bodyPr/>
          <a:lstStyle/>
          <a:p>
            <a:r>
              <a:rPr lang="fr-FR"/>
              <a:t>Cliquez pour modifier le style du titre</a:t>
            </a:r>
            <a:endParaRPr lang="fr-CA"/>
          </a:p>
        </p:txBody>
      </p:sp>
      <p:sp>
        <p:nvSpPr>
          <p:cNvPr id="3" name="Espace réservé du texte 2"/>
          <p:cNvSpPr>
            <a:spLocks noGrp="1"/>
          </p:cNvSpPr>
          <p:nvPr>
            <p:ph type="body" sz="half" idx="1"/>
          </p:nvPr>
        </p:nvSpPr>
        <p:spPr>
          <a:xfrm>
            <a:off x="457200" y="1600202"/>
            <a:ext cx="8229600" cy="218916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457200" y="3941763"/>
            <a:ext cx="8229600" cy="218916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noChangeArrowheads="1"/>
          </p:cNvSpPr>
          <p:nvPr>
            <p:ph type="dt" sz="half" idx="10"/>
          </p:nvPr>
        </p:nvSpPr>
        <p:spPr>
          <a:xfrm>
            <a:off x="457200" y="6248400"/>
            <a:ext cx="2133600" cy="457200"/>
          </a:xfrm>
          <a:prstGeom prst="rect">
            <a:avLst/>
          </a:prstGeom>
          <a:ln/>
        </p:spPr>
        <p:txBody>
          <a:bodyPr/>
          <a:lstStyle>
            <a:lvl1pPr>
              <a:defRPr/>
            </a:lvl1pPr>
          </a:lstStyle>
          <a:p>
            <a:pPr>
              <a:defRPr/>
            </a:pPr>
            <a:fld id="{3A3F4520-759E-42C5-A47B-972470B2AD49}" type="datetime1">
              <a:rPr lang="fr-CA" smtClean="0"/>
              <a:t>2026-04-11</a:t>
            </a:fld>
            <a:endParaRPr lang="en-US"/>
          </a:p>
        </p:txBody>
      </p:sp>
      <p:sp>
        <p:nvSpPr>
          <p:cNvPr id="6" name="Espace réservé du pied de page 5"/>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3BFBB2B-CEC0-4A47-BB28-80DCD190ECF5}" type="slidenum">
              <a:rPr lang="en-US"/>
              <a:pPr>
                <a:defRPr/>
              </a:pPr>
              <a:t>‹N°›</a:t>
            </a:fld>
            <a:endParaRPr lang="en-US"/>
          </a:p>
        </p:txBody>
      </p:sp>
    </p:spTree>
    <p:extLst>
      <p:ext uri="{BB962C8B-B14F-4D97-AF65-F5344CB8AC3E}">
        <p14:creationId xmlns:p14="http://schemas.microsoft.com/office/powerpoint/2010/main" val="3484398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152400"/>
            <a:ext cx="8229600" cy="990600"/>
          </a:xfrm>
          <a:prstGeom prst="rect">
            <a:avLst/>
          </a:prstGeom>
        </p:spPr>
        <p:txBody>
          <a:bodyPr vert="horz" anchor="b" anchorCtr="0">
            <a:normAutofit/>
          </a:bodyPr>
          <a:lstStyle/>
          <a:p>
            <a:r>
              <a:rPr kumimoji="0" lang="fr-FR"/>
              <a:t>Modifiez le style du titre</a:t>
            </a:r>
            <a:endParaRPr kumimoji="0" lang="en-US"/>
          </a:p>
        </p:txBody>
      </p:sp>
      <p:sp>
        <p:nvSpPr>
          <p:cNvPr id="13" name="Espace réservé du texte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fr-FR"/>
              <a:t>Modifiez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4" name="Espace réservé de la date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AA309A6D-C09C-4548-B29A-6CF363A7E532}" type="datetimeFigureOut">
              <a:rPr lang="fr-FR" smtClean="0"/>
              <a:t>11/04/2026</a:t>
            </a:fld>
            <a:endParaRPr lang="fr-BE"/>
          </a:p>
        </p:txBody>
      </p:sp>
      <p:sp>
        <p:nvSpPr>
          <p:cNvPr id="3" name="Espace réservé du pied de page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fr-BE"/>
          </a:p>
        </p:txBody>
      </p:sp>
      <p:sp>
        <p:nvSpPr>
          <p:cNvPr id="23" name="Espace réservé du numéro de diapositive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CF4668DC-857F-487D-BFFA-8C0CA5037977}" type="slidenum">
              <a:rPr lang="fr-BE" smtClean="0"/>
              <a:t>‹N°›</a:t>
            </a:fld>
            <a:endParaRPr lang="fr-BE"/>
          </a:p>
        </p:txBody>
      </p:sp>
      <p:sp>
        <p:nvSpPr>
          <p:cNvPr id="28" name="Connecteur droit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Connecteur droit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Triangle isocè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187624" y="3789040"/>
            <a:ext cx="6984776" cy="1087760"/>
          </a:xfrm>
        </p:spPr>
        <p:txBody>
          <a:bodyPr>
            <a:normAutofit/>
          </a:bodyPr>
          <a:lstStyle/>
          <a:p>
            <a:r>
              <a:rPr lang="fr-CA" b="1" dirty="0"/>
              <a:t>DDL</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1268760"/>
            <a:ext cx="4104456" cy="200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ous-titre 3"/>
          <p:cNvSpPr>
            <a:spLocks noGrp="1"/>
          </p:cNvSpPr>
          <p:nvPr>
            <p:ph type="subTitle" idx="1"/>
          </p:nvPr>
        </p:nvSpPr>
        <p:spPr/>
        <p:txBody>
          <a:bodyPr/>
          <a:lstStyle/>
          <a:p>
            <a:r>
              <a:rPr lang="fr-CA" dirty="0"/>
              <a:t>Langage de définition de données</a:t>
            </a:r>
          </a:p>
          <a:p>
            <a:endParaRPr lang="fr-CA" dirty="0"/>
          </a:p>
        </p:txBody>
      </p:sp>
    </p:spTree>
    <p:extLst>
      <p:ext uri="{BB962C8B-B14F-4D97-AF65-F5344CB8AC3E}">
        <p14:creationId xmlns:p14="http://schemas.microsoft.com/office/powerpoint/2010/main" val="230212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2" name="Rectangle 8"/>
          <p:cNvSpPr>
            <a:spLocks noGrp="1" noChangeArrowheads="1"/>
          </p:cNvSpPr>
          <p:nvPr>
            <p:ph type="title"/>
          </p:nvPr>
        </p:nvSpPr>
        <p:spPr>
          <a:xfrm>
            <a:off x="1143001" y="384763"/>
            <a:ext cx="7058024" cy="685583"/>
          </a:xfrm>
        </p:spPr>
        <p:txBody>
          <a:bodyPr>
            <a:normAutofit fontScale="90000"/>
          </a:bodyPr>
          <a:lstStyle/>
          <a:p>
            <a:pPr>
              <a:defRPr/>
            </a:pPr>
            <a:r>
              <a:rPr lang="fr-FR" dirty="0"/>
              <a:t>Les catégories d'instructions   SQL</a:t>
            </a:r>
          </a:p>
        </p:txBody>
      </p:sp>
      <p:sp>
        <p:nvSpPr>
          <p:cNvPr id="2" name="Espace réservé du numéro de diapositive 1"/>
          <p:cNvSpPr>
            <a:spLocks noGrp="1"/>
          </p:cNvSpPr>
          <p:nvPr>
            <p:ph type="sldNum" sz="quarter" idx="12"/>
          </p:nvPr>
        </p:nvSpPr>
        <p:spPr/>
        <p:txBody>
          <a:bodyPr/>
          <a:lstStyle/>
          <a:p>
            <a:fld id="{0BB7606F-3185-4DD5-A96D-8A14DE87D6B5}" type="slidenum">
              <a:rPr lang="fr-CA" smtClean="0"/>
              <a:t>2</a:t>
            </a:fld>
            <a:endParaRPr lang="fr-CA"/>
          </a:p>
        </p:txBody>
      </p:sp>
      <p:sp>
        <p:nvSpPr>
          <p:cNvPr id="3" name="Espace réservé du contenu 2"/>
          <p:cNvSpPr>
            <a:spLocks noGrp="1"/>
          </p:cNvSpPr>
          <p:nvPr>
            <p:ph sz="quarter" idx="1"/>
          </p:nvPr>
        </p:nvSpPr>
        <p:spPr>
          <a:xfrm>
            <a:off x="457200" y="1219200"/>
            <a:ext cx="8229600" cy="625624"/>
          </a:xfrm>
        </p:spPr>
        <p:txBody>
          <a:bodyPr/>
          <a:lstStyle/>
          <a:p>
            <a:endParaRPr lang="fr-CA" dirty="0"/>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1912634"/>
            <a:ext cx="4464496" cy="4193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7247925"/>
      </p:ext>
    </p:extLst>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5" y="188640"/>
            <a:ext cx="8172833" cy="862921"/>
          </a:xfrm>
        </p:spPr>
        <p:txBody>
          <a:bodyPr>
            <a:normAutofit fontScale="90000"/>
          </a:bodyPr>
          <a:lstStyle/>
          <a:p>
            <a:r>
              <a:rPr lang="fr-CA" dirty="0"/>
              <a:t>Les objets qui composent d'une base de données relationnelle</a:t>
            </a:r>
          </a:p>
        </p:txBody>
      </p:sp>
      <p:sp>
        <p:nvSpPr>
          <p:cNvPr id="3" name="Espace réservé du contenu 2"/>
          <p:cNvSpPr>
            <a:spLocks noGrp="1"/>
          </p:cNvSpPr>
          <p:nvPr>
            <p:ph idx="1"/>
          </p:nvPr>
        </p:nvSpPr>
        <p:spPr>
          <a:xfrm>
            <a:off x="1835696" y="1556792"/>
            <a:ext cx="5472608" cy="4032448"/>
          </a:xfrm>
        </p:spPr>
        <p:style>
          <a:lnRef idx="1">
            <a:schemeClr val="accent2"/>
          </a:lnRef>
          <a:fillRef idx="2">
            <a:schemeClr val="accent2"/>
          </a:fillRef>
          <a:effectRef idx="1">
            <a:schemeClr val="accent2"/>
          </a:effectRef>
          <a:fontRef idx="minor">
            <a:schemeClr val="dk1"/>
          </a:fontRef>
        </p:style>
        <p:txBody>
          <a:bodyPr>
            <a:noAutofit/>
          </a:bodyPr>
          <a:lstStyle/>
          <a:p>
            <a:r>
              <a:rPr lang="fr-CA" sz="2000" b="1" u="sng" dirty="0">
                <a:solidFill>
                  <a:srgbClr val="FF0000"/>
                </a:solidFill>
              </a:rPr>
              <a:t>Tables:  </a:t>
            </a:r>
            <a:r>
              <a:rPr lang="fr-CA" sz="2000" dirty="0">
                <a:solidFill>
                  <a:srgbClr val="FF0000"/>
                </a:solidFill>
              </a:rPr>
              <a:t>Objet de stockage principal dans une BDD</a:t>
            </a:r>
          </a:p>
          <a:p>
            <a:r>
              <a:rPr lang="fr-CA" sz="2000" b="1" dirty="0"/>
              <a:t>Indexes: </a:t>
            </a:r>
            <a:r>
              <a:rPr lang="fr-CA" sz="2000" dirty="0"/>
              <a:t>Objets permettant d'optimiser les recherches dans la BDD</a:t>
            </a:r>
          </a:p>
          <a:p>
            <a:r>
              <a:rPr lang="fr-CA" sz="2000" b="1" dirty="0"/>
              <a:t>Vues: </a:t>
            </a:r>
            <a:r>
              <a:rPr lang="fr-CA" sz="2000" dirty="0"/>
              <a:t>Objets logiques représentant des données provenant d'une ou de plusieurs tables</a:t>
            </a:r>
          </a:p>
          <a:p>
            <a:r>
              <a:rPr lang="fr-CA" sz="2000" b="1" dirty="0"/>
              <a:t>Séquences : </a:t>
            </a:r>
          </a:p>
          <a:p>
            <a:r>
              <a:rPr lang="fr-CA" sz="2000" dirty="0"/>
              <a:t>Etc. </a:t>
            </a:r>
          </a:p>
          <a:p>
            <a:r>
              <a:rPr lang="fr-CA" sz="2000" dirty="0"/>
              <a:t>Tous ces objets peuvent être créés en utilisant les instructions</a:t>
            </a:r>
            <a:r>
              <a:rPr lang="fr-CA" sz="2000" b="1" dirty="0"/>
              <a:t> DDL</a:t>
            </a:r>
          </a:p>
        </p:txBody>
      </p:sp>
      <p:sp>
        <p:nvSpPr>
          <p:cNvPr id="5" name="Espace réservé du numéro de diapositive 4"/>
          <p:cNvSpPr>
            <a:spLocks noGrp="1"/>
          </p:cNvSpPr>
          <p:nvPr>
            <p:ph type="sldNum" sz="quarter" idx="12"/>
          </p:nvPr>
        </p:nvSpPr>
        <p:spPr/>
        <p:txBody>
          <a:bodyPr/>
          <a:lstStyle/>
          <a:p>
            <a:fld id="{0BB7606F-3185-4DD5-A96D-8A14DE87D6B5}" type="slidenum">
              <a:rPr lang="fr-CA" smtClean="0"/>
              <a:t>3</a:t>
            </a:fld>
            <a:endParaRPr lang="fr-CA"/>
          </a:p>
        </p:txBody>
      </p:sp>
    </p:spTree>
    <p:extLst>
      <p:ext uri="{BB962C8B-B14F-4D97-AF65-F5344CB8AC3E}">
        <p14:creationId xmlns:p14="http://schemas.microsoft.com/office/powerpoint/2010/main" val="2199150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75847" y="210936"/>
            <a:ext cx="8757138" cy="621403"/>
          </a:xfrm>
        </p:spPr>
        <p:txBody>
          <a:bodyPr>
            <a:normAutofit fontScale="90000"/>
          </a:bodyPr>
          <a:lstStyle/>
          <a:p>
            <a:pPr eaLnBrk="1" hangingPunct="1"/>
            <a:r>
              <a:rPr lang="fr-CA" sz="3500" dirty="0"/>
              <a:t>Règles de définition des identificateurs</a:t>
            </a:r>
          </a:p>
        </p:txBody>
      </p:sp>
      <p:sp>
        <p:nvSpPr>
          <p:cNvPr id="15364" name="Rectangle 3"/>
          <p:cNvSpPr>
            <a:spLocks noGrp="1" noChangeArrowheads="1"/>
          </p:cNvSpPr>
          <p:nvPr>
            <p:ph idx="1"/>
          </p:nvPr>
        </p:nvSpPr>
        <p:spPr>
          <a:xfrm>
            <a:off x="520548" y="1268759"/>
            <a:ext cx="8051953" cy="4896545"/>
          </a:xfrm>
        </p:spPr>
        <p:txBody>
          <a:bodyPr>
            <a:normAutofit lnSpcReduction="10000"/>
          </a:bodyPr>
          <a:lstStyle/>
          <a:p>
            <a:pPr eaLnBrk="1" hangingPunct="1"/>
            <a:r>
              <a:rPr lang="fr-CA" sz="2400" dirty="0"/>
              <a:t>Lorsqu'on va créer des objets de BDD, le nom:</a:t>
            </a:r>
          </a:p>
          <a:p>
            <a:pPr lvl="1"/>
            <a:r>
              <a:rPr lang="fr-CA" dirty="0"/>
              <a:t>Commence par une lettre ou  _</a:t>
            </a:r>
          </a:p>
          <a:p>
            <a:pPr lvl="1"/>
            <a:r>
              <a:rPr lang="fr-CA" dirty="0"/>
              <a:t>La longueur peut atteindre 128</a:t>
            </a:r>
          </a:p>
          <a:p>
            <a:pPr lvl="1"/>
            <a:r>
              <a:rPr lang="fr-CA" dirty="0"/>
              <a:t>Les caractères suivants sont valides dans les noms des objets: </a:t>
            </a:r>
          </a:p>
          <a:p>
            <a:pPr lvl="3"/>
            <a:r>
              <a:rPr lang="fr-CA" sz="2400" dirty="0"/>
              <a:t>A-Z, a-z, 0-9, </a:t>
            </a:r>
            <a:r>
              <a:rPr lang="fr-CA" sz="2400" dirty="0">
                <a:solidFill>
                  <a:srgbClr val="FF0000"/>
                </a:solidFill>
              </a:rPr>
              <a:t>_, @, #</a:t>
            </a:r>
          </a:p>
          <a:p>
            <a:pPr lvl="1"/>
            <a:r>
              <a:rPr lang="fr-CA" dirty="0"/>
              <a:t>Ne doit pas être un mot clé</a:t>
            </a:r>
          </a:p>
          <a:p>
            <a:pPr eaLnBrk="1" hangingPunct="1"/>
            <a:r>
              <a:rPr lang="fr-CA" sz="2400" dirty="0"/>
              <a:t>Deux objets ne peuvent pas avoir le même nom(dans la même BD). </a:t>
            </a:r>
          </a:p>
          <a:p>
            <a:r>
              <a:rPr lang="fr-FR" sz="2400" dirty="0"/>
              <a:t>Les identificateurs qui contiennent d’autres caractères </a:t>
            </a:r>
            <a:r>
              <a:rPr lang="fr-FR" sz="2400" dirty="0" err="1"/>
              <a:t>qe</a:t>
            </a:r>
            <a:r>
              <a:rPr lang="fr-FR" sz="2400" dirty="0"/>
              <a:t> les précédents sont appelés identificateurs irréguliers et doivent être entre " " , ou  [].</a:t>
            </a:r>
          </a:p>
          <a:p>
            <a:pPr lvl="1"/>
            <a:r>
              <a:rPr lang="fr-FR" sz="2100" dirty="0"/>
              <a:t>incluent des caractères spéciaux, des accents,… mais cette pratique n’est pas recommandée, </a:t>
            </a:r>
          </a:p>
          <a:p>
            <a:pPr eaLnBrk="1" hangingPunct="1"/>
            <a:endParaRPr lang="fr-CA" sz="2400" dirty="0"/>
          </a:p>
          <a:p>
            <a:pPr eaLnBrk="1" hangingPunct="1">
              <a:buFont typeface="Wingdings" pitchFamily="2" charset="2"/>
              <a:buNone/>
            </a:pPr>
            <a:endParaRPr lang="fr-CA" sz="2400" dirty="0"/>
          </a:p>
        </p:txBody>
      </p:sp>
      <p:sp>
        <p:nvSpPr>
          <p:cNvPr id="15362" name="Espace réservé du numéro de diapositive 5"/>
          <p:cNvSpPr>
            <a:spLocks noGrp="1"/>
          </p:cNvSpPr>
          <p:nvPr>
            <p:ph type="sldNum" sz="quarter" idx="12"/>
          </p:nvPr>
        </p:nvSpPr>
        <p:spPr>
          <a:noFill/>
        </p:spPr>
        <p:txBody>
          <a:bodyPr/>
          <a:lstStyle/>
          <a:p>
            <a:fld id="{9996BF53-D14C-42F7-9AB9-6515105B8BA1}" type="slidenum">
              <a:rPr lang="en-US" smtClean="0"/>
              <a:pPr/>
              <a:t>4</a:t>
            </a:fld>
            <a:endParaRPr lang="en-US"/>
          </a:p>
        </p:txBody>
      </p:sp>
    </p:spTree>
    <p:extLst>
      <p:ext uri="{BB962C8B-B14F-4D97-AF65-F5344CB8AC3E}">
        <p14:creationId xmlns:p14="http://schemas.microsoft.com/office/powerpoint/2010/main" val="3108626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79512" y="260648"/>
            <a:ext cx="8640960" cy="776270"/>
          </a:xfrm>
        </p:spPr>
        <p:txBody>
          <a:bodyPr>
            <a:noAutofit/>
          </a:bodyPr>
          <a:lstStyle/>
          <a:p>
            <a:pPr eaLnBrk="1" hangingPunct="1"/>
            <a:r>
              <a:rPr lang="fr-CA" sz="2400" dirty="0"/>
              <a:t>Langage de définition de données (LDD)</a:t>
            </a:r>
            <a:br>
              <a:rPr lang="fr-CA" sz="2400" dirty="0"/>
            </a:br>
            <a:r>
              <a:rPr lang="fr-CA" sz="2400" i="1" dirty="0"/>
              <a:t>CREATE; ALTER; DROP</a:t>
            </a:r>
          </a:p>
        </p:txBody>
      </p:sp>
      <p:sp>
        <p:nvSpPr>
          <p:cNvPr id="13316" name="Rectangle 3"/>
          <p:cNvSpPr>
            <a:spLocks noGrp="1" noChangeArrowheads="1"/>
          </p:cNvSpPr>
          <p:nvPr>
            <p:ph idx="1"/>
          </p:nvPr>
        </p:nvSpPr>
        <p:spPr>
          <a:xfrm>
            <a:off x="1115616" y="1556792"/>
            <a:ext cx="6750750" cy="3960440"/>
          </a:xfrm>
        </p:spPr>
        <p:style>
          <a:lnRef idx="1">
            <a:schemeClr val="accent2"/>
          </a:lnRef>
          <a:fillRef idx="2">
            <a:schemeClr val="accent2"/>
          </a:fillRef>
          <a:effectRef idx="1">
            <a:schemeClr val="accent2"/>
          </a:effectRef>
          <a:fontRef idx="minor">
            <a:schemeClr val="dk1"/>
          </a:fontRef>
        </p:style>
        <p:txBody>
          <a:bodyPr>
            <a:normAutofit/>
          </a:bodyPr>
          <a:lstStyle/>
          <a:p>
            <a:pPr eaLnBrk="1" hangingPunct="1">
              <a:lnSpc>
                <a:spcPct val="80000"/>
              </a:lnSpc>
            </a:pPr>
            <a:r>
              <a:rPr lang="fr-CA" sz="2400" dirty="0"/>
              <a:t>Créer les tables de la base de données</a:t>
            </a:r>
          </a:p>
          <a:p>
            <a:pPr lvl="1" eaLnBrk="1" hangingPunct="1">
              <a:lnSpc>
                <a:spcPct val="80000"/>
              </a:lnSpc>
            </a:pPr>
            <a:r>
              <a:rPr lang="fr-CA" b="1" dirty="0"/>
              <a:t>CREATE TABLE</a:t>
            </a:r>
          </a:p>
          <a:p>
            <a:pPr lvl="2" eaLnBrk="1" hangingPunct="1">
              <a:lnSpc>
                <a:spcPct val="80000"/>
              </a:lnSpc>
            </a:pPr>
            <a:r>
              <a:rPr lang="fr-CA" dirty="0"/>
              <a:t>attributs et types de données associés</a:t>
            </a:r>
          </a:p>
          <a:p>
            <a:pPr lvl="2" eaLnBrk="1" hangingPunct="1">
              <a:lnSpc>
                <a:spcPct val="80000"/>
              </a:lnSpc>
            </a:pPr>
            <a:r>
              <a:rPr lang="fr-CA" dirty="0"/>
              <a:t>contraintes  </a:t>
            </a:r>
          </a:p>
          <a:p>
            <a:pPr eaLnBrk="1" hangingPunct="1">
              <a:lnSpc>
                <a:spcPct val="80000"/>
              </a:lnSpc>
            </a:pPr>
            <a:r>
              <a:rPr lang="fr-CA" sz="2400" dirty="0"/>
              <a:t>Modifier les structures des tables de la base de données</a:t>
            </a:r>
          </a:p>
          <a:p>
            <a:pPr lvl="1" eaLnBrk="1" hangingPunct="1">
              <a:lnSpc>
                <a:spcPct val="80000"/>
              </a:lnSpc>
            </a:pPr>
            <a:r>
              <a:rPr lang="fr-CA" b="1" dirty="0"/>
              <a:t>ALTER</a:t>
            </a:r>
            <a:r>
              <a:rPr lang="fr-CA" dirty="0"/>
              <a:t> </a:t>
            </a:r>
            <a:r>
              <a:rPr lang="fr-CA" b="1" dirty="0"/>
              <a:t>TABLE</a:t>
            </a:r>
          </a:p>
          <a:p>
            <a:pPr lvl="2" eaLnBrk="1" hangingPunct="1">
              <a:lnSpc>
                <a:spcPct val="80000"/>
              </a:lnSpc>
            </a:pPr>
            <a:r>
              <a:rPr lang="fr-CA" dirty="0"/>
              <a:t>attributs (ajouter; supprimer; modifier)</a:t>
            </a:r>
          </a:p>
          <a:p>
            <a:pPr lvl="2" eaLnBrk="1" hangingPunct="1">
              <a:lnSpc>
                <a:spcPct val="80000"/>
              </a:lnSpc>
            </a:pPr>
            <a:r>
              <a:rPr lang="fr-CA" dirty="0"/>
              <a:t>contraintes (ajouter; supprimer)</a:t>
            </a:r>
          </a:p>
          <a:p>
            <a:pPr eaLnBrk="1" hangingPunct="1">
              <a:lnSpc>
                <a:spcPct val="80000"/>
              </a:lnSpc>
            </a:pPr>
            <a:r>
              <a:rPr lang="fr-CA" sz="2400" dirty="0"/>
              <a:t>Effacer les tables de la base de données</a:t>
            </a:r>
          </a:p>
          <a:p>
            <a:pPr lvl="1" eaLnBrk="1" hangingPunct="1">
              <a:lnSpc>
                <a:spcPct val="80000"/>
              </a:lnSpc>
            </a:pPr>
            <a:r>
              <a:rPr lang="fr-CA" b="1" dirty="0"/>
              <a:t>DROP</a:t>
            </a:r>
            <a:r>
              <a:rPr lang="fr-CA" dirty="0"/>
              <a:t> </a:t>
            </a:r>
            <a:r>
              <a:rPr lang="fr-CA" b="1" dirty="0"/>
              <a:t>TABLE</a:t>
            </a:r>
          </a:p>
        </p:txBody>
      </p:sp>
      <p:sp>
        <p:nvSpPr>
          <p:cNvPr id="13314" name="Espace réservé du numéro de diapositive 5"/>
          <p:cNvSpPr>
            <a:spLocks noGrp="1"/>
          </p:cNvSpPr>
          <p:nvPr>
            <p:ph type="sldNum" sz="quarter" idx="12"/>
          </p:nvPr>
        </p:nvSpPr>
        <p:spPr>
          <a:noFill/>
        </p:spPr>
        <p:txBody>
          <a:bodyPr/>
          <a:lstStyle/>
          <a:p>
            <a:fld id="{C8BA7AA1-2BFB-41E3-B888-9BDFD7CF93E3}" type="slidenum">
              <a:rPr lang="en-US" smtClean="0"/>
              <a:pPr/>
              <a:t>5</a:t>
            </a:fld>
            <a:endParaRPr lang="en-US"/>
          </a:p>
        </p:txBody>
      </p:sp>
    </p:spTree>
    <p:extLst>
      <p:ext uri="{BB962C8B-B14F-4D97-AF65-F5344CB8AC3E}">
        <p14:creationId xmlns:p14="http://schemas.microsoft.com/office/powerpoint/2010/main" val="2907539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52400"/>
            <a:ext cx="8229600" cy="900336"/>
          </a:xfrm>
        </p:spPr>
        <p:txBody>
          <a:bodyPr/>
          <a:lstStyle/>
          <a:p>
            <a:r>
              <a:rPr lang="fr-CA" dirty="0"/>
              <a:t>Création de tables</a:t>
            </a:r>
          </a:p>
        </p:txBody>
      </p:sp>
      <p:sp>
        <p:nvSpPr>
          <p:cNvPr id="3" name="Espace réservé du contenu 2"/>
          <p:cNvSpPr>
            <a:spLocks noGrp="1"/>
          </p:cNvSpPr>
          <p:nvPr>
            <p:ph sz="quarter" idx="1"/>
          </p:nvPr>
        </p:nvSpPr>
        <p:spPr>
          <a:xfrm>
            <a:off x="467544" y="1412776"/>
            <a:ext cx="8229600" cy="769640"/>
          </a:xfrm>
        </p:spPr>
        <p:txBody>
          <a:bodyPr/>
          <a:lstStyle/>
          <a:p>
            <a:r>
              <a:rPr lang="fr-CA" dirty="0"/>
              <a:t>Syntaxe simplifiée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276872"/>
            <a:ext cx="4176465" cy="3134877"/>
          </a:xfrm>
          <a:prstGeom prst="rect">
            <a:avLst/>
          </a:prstGeom>
          <a:ln/>
        </p:spPr>
        <p:style>
          <a:lnRef idx="1">
            <a:schemeClr val="accent2"/>
          </a:lnRef>
          <a:fillRef idx="2">
            <a:schemeClr val="accent2"/>
          </a:fillRef>
          <a:effectRef idx="1">
            <a:schemeClr val="accent2"/>
          </a:effectRef>
          <a:fontRef idx="minor">
            <a:schemeClr val="dk1"/>
          </a:fontRef>
        </p:style>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8673" y="2708920"/>
            <a:ext cx="3427581" cy="2448272"/>
          </a:xfrm>
          <a:prstGeom prst="rect">
            <a:avLst/>
          </a:prstGeom>
          <a:ln/>
        </p:spPr>
        <p:style>
          <a:lnRef idx="1">
            <a:schemeClr val="dk1"/>
          </a:lnRef>
          <a:fillRef idx="2">
            <a:schemeClr val="dk1"/>
          </a:fillRef>
          <a:effectRef idx="1">
            <a:schemeClr val="dk1"/>
          </a:effectRef>
          <a:fontRef idx="minor">
            <a:schemeClr val="dk1"/>
          </a:fontRef>
        </p:style>
      </p:pic>
    </p:spTree>
    <p:extLst>
      <p:ext uri="{BB962C8B-B14F-4D97-AF65-F5344CB8AC3E}">
        <p14:creationId xmlns:p14="http://schemas.microsoft.com/office/powerpoint/2010/main" val="105535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14958" y="157239"/>
            <a:ext cx="7886700" cy="765175"/>
          </a:xfrm>
        </p:spPr>
        <p:txBody>
          <a:bodyPr>
            <a:normAutofit/>
          </a:bodyPr>
          <a:lstStyle/>
          <a:p>
            <a:r>
              <a:rPr lang="fr-CA" dirty="0"/>
              <a:t>Les types de données</a:t>
            </a:r>
          </a:p>
        </p:txBody>
      </p:sp>
      <p:sp>
        <p:nvSpPr>
          <p:cNvPr id="3" name="Espace réservé du contenu 2"/>
          <p:cNvSpPr>
            <a:spLocks noGrp="1"/>
          </p:cNvSpPr>
          <p:nvPr>
            <p:ph idx="1"/>
          </p:nvPr>
        </p:nvSpPr>
        <p:spPr>
          <a:xfrm>
            <a:off x="395536" y="1371600"/>
            <a:ext cx="8280920" cy="4914920"/>
          </a:xfrm>
        </p:spPr>
        <p:txBody>
          <a:bodyPr>
            <a:normAutofit/>
          </a:bodyPr>
          <a:lstStyle/>
          <a:p>
            <a:r>
              <a:rPr lang="fr-CA" sz="2400" dirty="0"/>
              <a:t>Dans SQL Server, à chaque colonne correspond un type de données.</a:t>
            </a:r>
          </a:p>
          <a:p>
            <a:r>
              <a:rPr lang="fr-CA" sz="2400" dirty="0"/>
              <a:t>Un type de données est un attribut qui spécifie le type de données que l'objet peut contenir : </a:t>
            </a:r>
          </a:p>
          <a:p>
            <a:pPr lvl="1"/>
            <a:r>
              <a:rPr lang="fr-CA" sz="2100" dirty="0"/>
              <a:t>données de type </a:t>
            </a:r>
            <a:r>
              <a:rPr lang="fr-CA" sz="2100" dirty="0" err="1"/>
              <a:t>Integer</a:t>
            </a:r>
            <a:r>
              <a:rPr lang="fr-CA" sz="2100" dirty="0"/>
              <a:t>, données caractères, données monétaires, données de date et d'heure, chaînes binaires, et ainsi de suite.</a:t>
            </a:r>
          </a:p>
          <a:p>
            <a:r>
              <a:rPr lang="fr-CA" sz="2400" dirty="0"/>
              <a:t>Les principaux types de données SQL Server sont:</a:t>
            </a:r>
          </a:p>
          <a:p>
            <a:pPr lvl="1"/>
            <a:r>
              <a:rPr lang="fr-CA" sz="2100" dirty="0"/>
              <a:t>Entier (</a:t>
            </a:r>
            <a:r>
              <a:rPr lang="fr-CA" sz="2100" dirty="0" err="1"/>
              <a:t>int</a:t>
            </a:r>
            <a:r>
              <a:rPr lang="fr-CA" sz="2100" dirty="0"/>
              <a:t>)</a:t>
            </a:r>
          </a:p>
          <a:p>
            <a:pPr lvl="1"/>
            <a:r>
              <a:rPr lang="fr-CA" sz="2100" dirty="0"/>
              <a:t>nombre réel(</a:t>
            </a:r>
            <a:r>
              <a:rPr lang="fr-CA" sz="2100" dirty="0" err="1"/>
              <a:t>decimal</a:t>
            </a:r>
            <a:r>
              <a:rPr lang="fr-CA" sz="2100" dirty="0"/>
              <a:t>)</a:t>
            </a:r>
          </a:p>
          <a:p>
            <a:pPr lvl="1"/>
            <a:r>
              <a:rPr lang="fr-CA" sz="2100" dirty="0"/>
              <a:t>Texte o chaine de caractères(</a:t>
            </a:r>
            <a:r>
              <a:rPr lang="fr-CA" sz="2100" dirty="0" err="1"/>
              <a:t>varchar</a:t>
            </a:r>
            <a:r>
              <a:rPr lang="fr-CA" sz="2100" dirty="0"/>
              <a:t>, </a:t>
            </a:r>
            <a:r>
              <a:rPr lang="fr-CA" sz="2100" dirty="0" err="1"/>
              <a:t>nvarchar</a:t>
            </a:r>
            <a:r>
              <a:rPr lang="fr-CA" sz="2100" dirty="0"/>
              <a:t>)</a:t>
            </a:r>
          </a:p>
          <a:p>
            <a:pPr lvl="1"/>
            <a:r>
              <a:rPr lang="fr-CA" sz="2100" dirty="0"/>
              <a:t>Date, </a:t>
            </a:r>
            <a:r>
              <a:rPr lang="fr-CA" sz="2100" dirty="0" err="1"/>
              <a:t>dateTime</a:t>
            </a:r>
            <a:endParaRPr lang="fr-CA" sz="2100" dirty="0"/>
          </a:p>
          <a:p>
            <a:pPr lvl="1"/>
            <a:r>
              <a:rPr lang="fr-CA" sz="2100" dirty="0" err="1"/>
              <a:t>etc</a:t>
            </a:r>
            <a:endParaRPr lang="fr-CA" sz="2100" dirty="0"/>
          </a:p>
          <a:p>
            <a:pPr lvl="1"/>
            <a:endParaRPr lang="fr-CA" sz="2100" dirty="0"/>
          </a:p>
        </p:txBody>
      </p:sp>
      <p:sp>
        <p:nvSpPr>
          <p:cNvPr id="4" name="Espace réservé du numéro de diapositive 3"/>
          <p:cNvSpPr>
            <a:spLocks noGrp="1"/>
          </p:cNvSpPr>
          <p:nvPr>
            <p:ph type="sldNum" sz="quarter" idx="12"/>
          </p:nvPr>
        </p:nvSpPr>
        <p:spPr/>
        <p:txBody>
          <a:bodyPr/>
          <a:lstStyle/>
          <a:p>
            <a:fld id="{0BB7606F-3185-4DD5-A96D-8A14DE87D6B5}" type="slidenum">
              <a:rPr lang="fr-CA" smtClean="0"/>
              <a:t>7</a:t>
            </a:fld>
            <a:endParaRPr lang="fr-CA"/>
          </a:p>
        </p:txBody>
      </p:sp>
    </p:spTree>
    <p:extLst>
      <p:ext uri="{BB962C8B-B14F-4D97-AF65-F5344CB8AC3E}">
        <p14:creationId xmlns:p14="http://schemas.microsoft.com/office/powerpoint/2010/main" val="3021348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normAutofit fontScale="90000"/>
          </a:bodyPr>
          <a:lstStyle/>
          <a:p>
            <a:pPr eaLnBrk="1" hangingPunct="1"/>
            <a:r>
              <a:rPr lang="fr-CA" sz="4000"/>
              <a:t>Exemple Create Table sans contraintes</a:t>
            </a:r>
            <a:endParaRPr lang="en-US" sz="4000"/>
          </a:p>
        </p:txBody>
      </p:sp>
      <p:sp>
        <p:nvSpPr>
          <p:cNvPr id="5" name="Espace réservé du contenu 4"/>
          <p:cNvSpPr>
            <a:spLocks noGrp="1"/>
          </p:cNvSpPr>
          <p:nvPr>
            <p:ph idx="1"/>
          </p:nvPr>
        </p:nvSpPr>
        <p:spPr>
          <a:xfrm>
            <a:off x="1259632" y="4941168"/>
            <a:ext cx="6482999" cy="648072"/>
          </a:xfrm>
        </p:spPr>
        <p:txBody>
          <a:bodyPr/>
          <a:lstStyle/>
          <a:p>
            <a:r>
              <a:rPr lang="fr-CA" dirty="0"/>
              <a:t>Créer la table ensuite afficher sa structure</a:t>
            </a:r>
          </a:p>
        </p:txBody>
      </p:sp>
      <p:sp>
        <p:nvSpPr>
          <p:cNvPr id="19458" name="Espace réservé du numéro de diapositive 5"/>
          <p:cNvSpPr>
            <a:spLocks noGrp="1"/>
          </p:cNvSpPr>
          <p:nvPr>
            <p:ph type="sldNum" sz="quarter" idx="12"/>
          </p:nvPr>
        </p:nvSpPr>
        <p:spPr>
          <a:noFill/>
        </p:spPr>
        <p:txBody>
          <a:bodyPr/>
          <a:lstStyle/>
          <a:p>
            <a:fld id="{13872368-D760-4B40-960F-EF54C2A06B9B}" type="slidenum">
              <a:rPr lang="en-US" smtClean="0"/>
              <a:pPr/>
              <a:t>8</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7" y="1998589"/>
            <a:ext cx="3762375" cy="2352675"/>
          </a:xfrm>
          <a:prstGeom prst="rect">
            <a:avLst/>
          </a:prstGeom>
          <a:ln/>
        </p:spPr>
        <p:style>
          <a:lnRef idx="1">
            <a:schemeClr val="dk1"/>
          </a:lnRef>
          <a:fillRef idx="2">
            <a:schemeClr val="dk1"/>
          </a:fillRef>
          <a:effectRef idx="1">
            <a:schemeClr val="dk1"/>
          </a:effectRef>
          <a:fontRef idx="minor">
            <a:schemeClr val="dk1"/>
          </a:fontRef>
        </p:style>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1855715"/>
            <a:ext cx="3209925" cy="2638425"/>
          </a:xfrm>
          <a:prstGeom prst="rect">
            <a:avLst/>
          </a:prstGeom>
          <a:ln/>
        </p:spPr>
        <p:style>
          <a:lnRef idx="1">
            <a:schemeClr val="dk1"/>
          </a:lnRef>
          <a:fillRef idx="2">
            <a:schemeClr val="dk1"/>
          </a:fillRef>
          <a:effectRef idx="1">
            <a:schemeClr val="dk1"/>
          </a:effectRef>
          <a:fontRef idx="minor">
            <a:schemeClr val="dk1"/>
          </a:fontRef>
        </p:style>
      </p:pic>
    </p:spTree>
    <p:extLst>
      <p:ext uri="{BB962C8B-B14F-4D97-AF65-F5344CB8AC3E}">
        <p14:creationId xmlns:p14="http://schemas.microsoft.com/office/powerpoint/2010/main" val="637513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Colonnes avec valeurs par défaut</a:t>
            </a:r>
          </a:p>
        </p:txBody>
      </p:sp>
      <p:sp>
        <p:nvSpPr>
          <p:cNvPr id="3" name="Espace réservé du contenu 2"/>
          <p:cNvSpPr>
            <a:spLocks noGrp="1"/>
          </p:cNvSpPr>
          <p:nvPr>
            <p:ph idx="1"/>
          </p:nvPr>
        </p:nvSpPr>
        <p:spPr>
          <a:xfrm>
            <a:off x="611560" y="1556792"/>
            <a:ext cx="7848872" cy="4729728"/>
          </a:xfrm>
        </p:spPr>
        <p:txBody>
          <a:bodyPr>
            <a:normAutofit fontScale="85000" lnSpcReduction="20000"/>
          </a:bodyPr>
          <a:lstStyle/>
          <a:p>
            <a:r>
              <a:rPr lang="fr-CA" sz="2400" dirty="0"/>
              <a:t>On peut associer à chaque colonne une valeur par défaut qui sera affectée à la colonne , lors de l'insertion des données, si on ne lui fournit pas de valeur.</a:t>
            </a:r>
          </a:p>
          <a:p>
            <a:r>
              <a:rPr lang="fr-CA" sz="2400" dirty="0"/>
              <a:t>Syntaxe</a:t>
            </a:r>
          </a:p>
          <a:p>
            <a:endParaRPr lang="fr-CA" sz="2400" dirty="0"/>
          </a:p>
          <a:p>
            <a:endParaRPr lang="fr-CA" sz="2400" dirty="0"/>
          </a:p>
          <a:p>
            <a:endParaRPr lang="fr-CA" sz="2400" dirty="0"/>
          </a:p>
          <a:p>
            <a:endParaRPr lang="fr-CA" sz="2400" dirty="0"/>
          </a:p>
          <a:p>
            <a:endParaRPr lang="fr-CA" sz="2400" dirty="0"/>
          </a:p>
          <a:p>
            <a:endParaRPr lang="fr-CA" sz="2400" dirty="0"/>
          </a:p>
          <a:p>
            <a:endParaRPr lang="fr-CA" sz="2400" dirty="0"/>
          </a:p>
          <a:p>
            <a:endParaRPr lang="fr-CA" sz="2400" dirty="0"/>
          </a:p>
          <a:p>
            <a:endParaRPr lang="fr-CA" sz="2400" dirty="0"/>
          </a:p>
          <a:p>
            <a:r>
              <a:rPr lang="fr-CA" sz="2400" dirty="0"/>
              <a:t>Ici si la date de la commande n'est pas fournie à l'insertion, alors </a:t>
            </a:r>
            <a:r>
              <a:rPr lang="fr-CA" sz="2400" dirty="0" err="1"/>
              <a:t>Sql</a:t>
            </a:r>
            <a:r>
              <a:rPr lang="fr-CA" sz="2400" dirty="0"/>
              <a:t> Server va utiliser la date système comme valeur</a:t>
            </a:r>
          </a:p>
        </p:txBody>
      </p:sp>
      <p:sp>
        <p:nvSpPr>
          <p:cNvPr id="4" name="ZoneTexte 3"/>
          <p:cNvSpPr txBox="1"/>
          <p:nvPr/>
        </p:nvSpPr>
        <p:spPr>
          <a:xfrm>
            <a:off x="755576" y="2852936"/>
            <a:ext cx="7560840" cy="70788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000" b="1" dirty="0" err="1">
                <a:latin typeface="Courier New" pitchFamily="49" charset="0"/>
              </a:rPr>
              <a:t>nom_colonne</a:t>
            </a:r>
            <a:r>
              <a:rPr lang="en-US" sz="2000" b="1" dirty="0">
                <a:latin typeface="Courier New" pitchFamily="49" charset="0"/>
              </a:rPr>
              <a:t> </a:t>
            </a:r>
            <a:r>
              <a:rPr lang="en-US" sz="2000" b="1" dirty="0" err="1">
                <a:latin typeface="Courier New" pitchFamily="49" charset="0"/>
              </a:rPr>
              <a:t>type_données</a:t>
            </a:r>
            <a:r>
              <a:rPr lang="en-US" sz="2000" b="1" dirty="0">
                <a:latin typeface="Courier New" pitchFamily="49" charset="0"/>
              </a:rPr>
              <a:t> DEFAULT </a:t>
            </a:r>
            <a:r>
              <a:rPr lang="en-US" sz="2000" b="1" dirty="0" err="1">
                <a:latin typeface="Courier New" pitchFamily="49" charset="0"/>
              </a:rPr>
              <a:t>valeur_default</a:t>
            </a:r>
            <a:endParaRPr lang="fr-CA" sz="2000" b="1" dirty="0">
              <a:latin typeface="Courier New" pitchFamily="49" charset="0"/>
            </a:endParaRPr>
          </a:p>
          <a:p>
            <a:endParaRPr lang="fr-CA" sz="2000" b="1" dirty="0"/>
          </a:p>
        </p:txBody>
      </p:sp>
      <p:sp>
        <p:nvSpPr>
          <p:cNvPr id="5" name="Rectangle 8"/>
          <p:cNvSpPr>
            <a:spLocks noChangeArrowheads="1"/>
          </p:cNvSpPr>
          <p:nvPr/>
        </p:nvSpPr>
        <p:spPr bwMode="blackGray">
          <a:xfrm>
            <a:off x="899592" y="4281331"/>
            <a:ext cx="7416824" cy="5651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pPr eaLnBrk="0" hangingPunct="0">
              <a:lnSpc>
                <a:spcPct val="120000"/>
              </a:lnSpc>
              <a:spcBef>
                <a:spcPct val="60000"/>
              </a:spcBef>
              <a:tabLst>
                <a:tab pos="1200150" algn="l"/>
              </a:tabLst>
            </a:pPr>
            <a:r>
              <a:rPr lang="en-US" sz="2000" b="1" dirty="0">
                <a:solidFill>
                  <a:srgbClr val="000000"/>
                </a:solidFill>
                <a:latin typeface="Courier New" pitchFamily="49" charset="0"/>
              </a:rPr>
              <a:t>... </a:t>
            </a:r>
            <a:r>
              <a:rPr lang="en-US" sz="2000" b="1" dirty="0" err="1">
                <a:solidFill>
                  <a:srgbClr val="000000"/>
                </a:solidFill>
                <a:latin typeface="Courier New" pitchFamily="49" charset="0"/>
              </a:rPr>
              <a:t>date_Commande</a:t>
            </a:r>
            <a:r>
              <a:rPr lang="en-US" sz="2000" b="1" dirty="0">
                <a:solidFill>
                  <a:srgbClr val="000000"/>
                </a:solidFill>
                <a:latin typeface="Courier New" pitchFamily="49" charset="0"/>
              </a:rPr>
              <a:t> DATE DEFAULT </a:t>
            </a:r>
            <a:r>
              <a:rPr lang="en-US" sz="2000" b="1" dirty="0" err="1">
                <a:solidFill>
                  <a:srgbClr val="000000"/>
                </a:solidFill>
                <a:latin typeface="Courier New" pitchFamily="49" charset="0"/>
              </a:rPr>
              <a:t>getDate</a:t>
            </a:r>
            <a:r>
              <a:rPr lang="en-US" sz="2000" b="1" dirty="0">
                <a:solidFill>
                  <a:srgbClr val="000000"/>
                </a:solidFill>
                <a:latin typeface="Courier New" pitchFamily="49" charset="0"/>
              </a:rPr>
              <a:t>(), ... </a:t>
            </a:r>
          </a:p>
        </p:txBody>
      </p:sp>
      <p:sp>
        <p:nvSpPr>
          <p:cNvPr id="6" name="Espace réservé du numéro de diapositive 5"/>
          <p:cNvSpPr>
            <a:spLocks noGrp="1"/>
          </p:cNvSpPr>
          <p:nvPr>
            <p:ph type="sldNum" sz="quarter" idx="12"/>
          </p:nvPr>
        </p:nvSpPr>
        <p:spPr/>
        <p:txBody>
          <a:bodyPr/>
          <a:lstStyle/>
          <a:p>
            <a:fld id="{0BB7606F-3185-4DD5-A96D-8A14DE87D6B5}" type="slidenum">
              <a:rPr lang="fr-CA" smtClean="0"/>
              <a:t>9</a:t>
            </a:fld>
            <a:endParaRPr lang="fr-CA"/>
          </a:p>
        </p:txBody>
      </p:sp>
    </p:spTree>
    <p:extLst>
      <p:ext uri="{BB962C8B-B14F-4D97-AF65-F5344CB8AC3E}">
        <p14:creationId xmlns:p14="http://schemas.microsoft.com/office/powerpoint/2010/main" val="161213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685346" y="609600"/>
            <a:ext cx="7765322" cy="552994"/>
          </a:xfrm>
        </p:spPr>
        <p:txBody>
          <a:bodyPr>
            <a:normAutofit fontScale="90000"/>
          </a:bodyPr>
          <a:lstStyle/>
          <a:p>
            <a:pPr eaLnBrk="1" hangingPunct="1"/>
            <a:r>
              <a:rPr lang="fr-CA" dirty="0"/>
              <a:t>Instruction ALTER TABLE</a:t>
            </a:r>
            <a:endParaRPr lang="en-US" dirty="0"/>
          </a:p>
        </p:txBody>
      </p:sp>
      <p:sp>
        <p:nvSpPr>
          <p:cNvPr id="22532" name="Rectangle 3"/>
          <p:cNvSpPr>
            <a:spLocks noGrp="1" noChangeArrowheads="1"/>
          </p:cNvSpPr>
          <p:nvPr>
            <p:ph sz="half" idx="1"/>
          </p:nvPr>
        </p:nvSpPr>
        <p:spPr>
          <a:xfrm>
            <a:off x="683568" y="1482206"/>
            <a:ext cx="3243240" cy="4467074"/>
          </a:xfrm>
        </p:spPr>
        <p:style>
          <a:lnRef idx="2">
            <a:schemeClr val="accent2"/>
          </a:lnRef>
          <a:fillRef idx="1">
            <a:schemeClr val="lt1"/>
          </a:fillRef>
          <a:effectRef idx="0">
            <a:schemeClr val="accent2"/>
          </a:effectRef>
          <a:fontRef idx="minor">
            <a:schemeClr val="dk1"/>
          </a:fontRef>
        </p:style>
        <p:txBody>
          <a:bodyPr>
            <a:normAutofit fontScale="92500" lnSpcReduction="20000"/>
          </a:bodyPr>
          <a:lstStyle/>
          <a:p>
            <a:pPr eaLnBrk="1" hangingPunct="1"/>
            <a:r>
              <a:rPr lang="fr-CA" sz="2400" dirty="0"/>
              <a:t>Utiliser ALTER TABLE pour modifier la structure d’une table:</a:t>
            </a:r>
          </a:p>
          <a:p>
            <a:pPr lvl="1" eaLnBrk="1" hangingPunct="1"/>
            <a:r>
              <a:rPr lang="fr-CA" dirty="0"/>
              <a:t>Ajouter une nouvelle colonne</a:t>
            </a:r>
          </a:p>
          <a:p>
            <a:pPr lvl="1" eaLnBrk="1" hangingPunct="1"/>
            <a:r>
              <a:rPr lang="fr-CA" dirty="0"/>
              <a:t>Modifier une colonne qui existe</a:t>
            </a:r>
          </a:p>
          <a:p>
            <a:pPr lvl="1" eaLnBrk="1" hangingPunct="1"/>
            <a:r>
              <a:rPr lang="fr-CA" dirty="0"/>
              <a:t>Définir une valeur par défaut pour une colonne</a:t>
            </a:r>
          </a:p>
          <a:p>
            <a:pPr lvl="1" eaLnBrk="1" hangingPunct="1"/>
            <a:r>
              <a:rPr lang="fr-CA" dirty="0"/>
              <a:t>Supprimer une colonne</a:t>
            </a:r>
          </a:p>
          <a:p>
            <a:pPr lvl="1" eaLnBrk="1" hangingPunct="1"/>
            <a:r>
              <a:rPr lang="fr-CA" dirty="0"/>
              <a:t>Renommer une colonne</a:t>
            </a:r>
            <a:endParaRPr lang="en-US" dirty="0"/>
          </a:p>
        </p:txBody>
      </p:sp>
      <p:sp>
        <p:nvSpPr>
          <p:cNvPr id="22533" name="Rectangle 4"/>
          <p:cNvSpPr>
            <a:spLocks noGrp="1" noChangeArrowheads="1"/>
          </p:cNvSpPr>
          <p:nvPr>
            <p:ph sz="half" idx="2"/>
          </p:nvPr>
        </p:nvSpPr>
        <p:spPr>
          <a:xfrm>
            <a:off x="4572000" y="2104876"/>
            <a:ext cx="3960440" cy="838200"/>
          </a:xfrm>
          <a:noFill/>
          <a:ln>
            <a:solidFill>
              <a:schemeClr val="tx1"/>
            </a:solidFill>
          </a:ln>
        </p:spPr>
        <p:txBody>
          <a:bodyPr>
            <a:normAutofit fontScale="92500" lnSpcReduction="20000"/>
          </a:bodyPr>
          <a:lstStyle/>
          <a:p>
            <a:pPr eaLnBrk="1" hangingPunct="1">
              <a:lnSpc>
                <a:spcPct val="80000"/>
              </a:lnSpc>
              <a:buFont typeface="Wingdings" pitchFamily="2" charset="2"/>
              <a:buNone/>
            </a:pPr>
            <a:r>
              <a:rPr lang="fr-CA" sz="1800" b="1" dirty="0">
                <a:latin typeface="Courier New" pitchFamily="49" charset="0"/>
              </a:rPr>
              <a:t>ALTER</a:t>
            </a:r>
            <a:r>
              <a:rPr lang="fr-CA" sz="1800" dirty="0">
                <a:latin typeface="Courier New" pitchFamily="49" charset="0"/>
              </a:rPr>
              <a:t> </a:t>
            </a:r>
            <a:r>
              <a:rPr lang="fr-CA" sz="1800" b="1" dirty="0">
                <a:latin typeface="Courier New" pitchFamily="49" charset="0"/>
              </a:rPr>
              <a:t>TABLE</a:t>
            </a:r>
            <a:r>
              <a:rPr lang="fr-CA" sz="1800" dirty="0">
                <a:latin typeface="Courier New" pitchFamily="49" charset="0"/>
              </a:rPr>
              <a:t> </a:t>
            </a:r>
            <a:r>
              <a:rPr lang="fr-CA" sz="1800" dirty="0" err="1">
                <a:latin typeface="Courier New" pitchFamily="49" charset="0"/>
              </a:rPr>
              <a:t>nomTable</a:t>
            </a:r>
            <a:endParaRPr lang="fr-CA" sz="1800" dirty="0">
              <a:latin typeface="Courier New" pitchFamily="49" charset="0"/>
            </a:endParaRPr>
          </a:p>
          <a:p>
            <a:pPr eaLnBrk="1" hangingPunct="1">
              <a:lnSpc>
                <a:spcPct val="80000"/>
              </a:lnSpc>
              <a:buFont typeface="Wingdings" pitchFamily="2" charset="2"/>
              <a:buNone/>
            </a:pPr>
            <a:r>
              <a:rPr lang="fr-CA" sz="1800" b="1" dirty="0">
                <a:latin typeface="Courier New" pitchFamily="49" charset="0"/>
              </a:rPr>
              <a:t>ADD</a:t>
            </a:r>
            <a:r>
              <a:rPr lang="fr-CA" sz="1800" dirty="0">
                <a:latin typeface="Courier New" pitchFamily="49" charset="0"/>
              </a:rPr>
              <a:t> colonne type [</a:t>
            </a:r>
            <a:r>
              <a:rPr lang="fr-CA" sz="1800" b="1" dirty="0">
                <a:latin typeface="Courier New" pitchFamily="49" charset="0"/>
              </a:rPr>
              <a:t>DEFAULT</a:t>
            </a:r>
            <a:r>
              <a:rPr lang="fr-CA" sz="1800" dirty="0">
                <a:latin typeface="Courier New" pitchFamily="49" charset="0"/>
              </a:rPr>
              <a:t> </a:t>
            </a:r>
            <a:r>
              <a:rPr lang="fr-CA" sz="1800" dirty="0" err="1">
                <a:latin typeface="Courier New" pitchFamily="49" charset="0"/>
              </a:rPr>
              <a:t>expr</a:t>
            </a:r>
            <a:r>
              <a:rPr lang="fr-CA" sz="1800" dirty="0">
                <a:latin typeface="Courier New" pitchFamily="49" charset="0"/>
              </a:rPr>
              <a:t>];</a:t>
            </a:r>
            <a:endParaRPr lang="en-US" sz="1800" dirty="0">
              <a:latin typeface="Courier New" pitchFamily="49" charset="0"/>
            </a:endParaRPr>
          </a:p>
        </p:txBody>
      </p:sp>
      <p:sp>
        <p:nvSpPr>
          <p:cNvPr id="22530" name="Espace réservé du numéro de diapositive 6"/>
          <p:cNvSpPr>
            <a:spLocks noGrp="1"/>
          </p:cNvSpPr>
          <p:nvPr>
            <p:ph type="sldNum" sz="quarter" idx="12"/>
          </p:nvPr>
        </p:nvSpPr>
        <p:spPr>
          <a:noFill/>
        </p:spPr>
        <p:txBody>
          <a:bodyPr/>
          <a:lstStyle/>
          <a:p>
            <a:fld id="{C9BE7312-B2F7-4DF0-813C-BC89611D4740}" type="slidenum">
              <a:rPr lang="en-US" smtClean="0"/>
              <a:pPr/>
              <a:t>10</a:t>
            </a:fld>
            <a:endParaRPr lang="en-US"/>
          </a:p>
        </p:txBody>
      </p:sp>
      <p:sp>
        <p:nvSpPr>
          <p:cNvPr id="22534" name="Rectangle 5"/>
          <p:cNvSpPr>
            <a:spLocks noChangeArrowheads="1"/>
          </p:cNvSpPr>
          <p:nvPr/>
        </p:nvSpPr>
        <p:spPr bwMode="auto">
          <a:xfrm>
            <a:off x="4572000" y="3117703"/>
            <a:ext cx="3960440" cy="784225"/>
          </a:xfrm>
          <a:prstGeom prst="rect">
            <a:avLst/>
          </a:prstGeom>
          <a:noFill/>
          <a:ln w="9525" algn="ctr">
            <a:solidFill>
              <a:schemeClr val="tx1"/>
            </a:solidFill>
            <a:miter lim="800000"/>
            <a:headEnd/>
            <a:tailEnd/>
          </a:ln>
        </p:spPr>
        <p:txBody>
          <a:bodyPr/>
          <a:lstStyle/>
          <a:p>
            <a:pPr marL="342900" indent="-342900">
              <a:lnSpc>
                <a:spcPct val="80000"/>
              </a:lnSpc>
              <a:spcBef>
                <a:spcPct val="20000"/>
              </a:spcBef>
              <a:buClr>
                <a:schemeClr val="bg2"/>
              </a:buClr>
              <a:buSzPct val="75000"/>
            </a:pPr>
            <a:r>
              <a:rPr lang="fr-CA" b="1" dirty="0">
                <a:latin typeface="Courier New" pitchFamily="49" charset="0"/>
              </a:rPr>
              <a:t>ALTER</a:t>
            </a:r>
            <a:r>
              <a:rPr lang="fr-CA" sz="1600" dirty="0">
                <a:latin typeface="Courier New" pitchFamily="49" charset="0"/>
              </a:rPr>
              <a:t> </a:t>
            </a:r>
            <a:r>
              <a:rPr lang="fr-CA" b="1" dirty="0">
                <a:latin typeface="Courier New" pitchFamily="49" charset="0"/>
              </a:rPr>
              <a:t>TABLE</a:t>
            </a:r>
            <a:r>
              <a:rPr lang="fr-CA" sz="1600" dirty="0">
                <a:latin typeface="Courier New" pitchFamily="49" charset="0"/>
              </a:rPr>
              <a:t> </a:t>
            </a:r>
            <a:r>
              <a:rPr lang="fr-CA" sz="1600" dirty="0" err="1">
                <a:latin typeface="Courier New" pitchFamily="49" charset="0"/>
              </a:rPr>
              <a:t>nomTable</a:t>
            </a:r>
            <a:endParaRPr lang="fr-CA" sz="1600" dirty="0">
              <a:latin typeface="Courier New" pitchFamily="49" charset="0"/>
            </a:endParaRPr>
          </a:p>
          <a:p>
            <a:pPr marL="342900" indent="-342900">
              <a:lnSpc>
                <a:spcPct val="80000"/>
              </a:lnSpc>
              <a:spcBef>
                <a:spcPct val="20000"/>
              </a:spcBef>
              <a:buClr>
                <a:schemeClr val="bg2"/>
              </a:buClr>
              <a:buSzPct val="75000"/>
            </a:pPr>
            <a:r>
              <a:rPr lang="fr-CA" b="1" dirty="0">
                <a:latin typeface="Courier New" pitchFamily="49" charset="0"/>
              </a:rPr>
              <a:t>ALTER </a:t>
            </a:r>
            <a:r>
              <a:rPr lang="fr-CA" sz="1600" dirty="0">
                <a:latin typeface="Courier New" pitchFamily="49" charset="0"/>
              </a:rPr>
              <a:t>colonne type [DEFAULT </a:t>
            </a:r>
            <a:r>
              <a:rPr lang="fr-CA" sz="1600" dirty="0" err="1">
                <a:latin typeface="Courier New" pitchFamily="49" charset="0"/>
              </a:rPr>
              <a:t>expr</a:t>
            </a:r>
            <a:r>
              <a:rPr lang="fr-CA" sz="1600" dirty="0">
                <a:latin typeface="Courier New" pitchFamily="49" charset="0"/>
              </a:rPr>
              <a:t>]</a:t>
            </a:r>
            <a:endParaRPr lang="en-US" sz="1600" dirty="0">
              <a:latin typeface="Courier New" pitchFamily="49" charset="0"/>
            </a:endParaRPr>
          </a:p>
        </p:txBody>
      </p:sp>
      <p:sp>
        <p:nvSpPr>
          <p:cNvPr id="22535" name="Rectangle 6"/>
          <p:cNvSpPr>
            <a:spLocks noChangeArrowheads="1"/>
          </p:cNvSpPr>
          <p:nvPr/>
        </p:nvSpPr>
        <p:spPr bwMode="auto">
          <a:xfrm>
            <a:off x="4572000" y="4113064"/>
            <a:ext cx="3960440" cy="900112"/>
          </a:xfrm>
          <a:prstGeom prst="rect">
            <a:avLst/>
          </a:prstGeom>
          <a:noFill/>
          <a:ln w="9525">
            <a:solidFill>
              <a:schemeClr val="tx1"/>
            </a:solidFill>
            <a:miter lim="800000"/>
            <a:headEnd/>
            <a:tailEnd/>
          </a:ln>
        </p:spPr>
        <p:txBody>
          <a:bodyPr/>
          <a:lstStyle/>
          <a:p>
            <a:pPr marL="342900" indent="-342900">
              <a:lnSpc>
                <a:spcPct val="80000"/>
              </a:lnSpc>
              <a:spcBef>
                <a:spcPct val="20000"/>
              </a:spcBef>
              <a:buClr>
                <a:schemeClr val="bg2"/>
              </a:buClr>
              <a:buSzPct val="75000"/>
            </a:pPr>
            <a:r>
              <a:rPr lang="fr-CA" b="1" dirty="0">
                <a:latin typeface="Courier New" pitchFamily="49" charset="0"/>
              </a:rPr>
              <a:t>ALTER</a:t>
            </a:r>
            <a:r>
              <a:rPr lang="fr-CA" sz="1600" dirty="0">
                <a:latin typeface="Courier New" pitchFamily="49" charset="0"/>
              </a:rPr>
              <a:t> </a:t>
            </a:r>
            <a:r>
              <a:rPr lang="fr-CA" b="1" dirty="0">
                <a:latin typeface="Courier New" pitchFamily="49" charset="0"/>
              </a:rPr>
              <a:t>TABLE</a:t>
            </a:r>
            <a:r>
              <a:rPr lang="fr-CA" sz="1600" dirty="0">
                <a:latin typeface="Courier New" pitchFamily="49" charset="0"/>
              </a:rPr>
              <a:t> </a:t>
            </a:r>
            <a:r>
              <a:rPr lang="fr-CA" sz="1600" dirty="0" err="1">
                <a:latin typeface="Courier New" pitchFamily="49" charset="0"/>
              </a:rPr>
              <a:t>nomTable</a:t>
            </a:r>
            <a:endParaRPr lang="fr-CA" sz="1600" dirty="0">
              <a:latin typeface="Courier New" pitchFamily="49" charset="0"/>
            </a:endParaRPr>
          </a:p>
          <a:p>
            <a:pPr marL="342900" indent="-342900">
              <a:lnSpc>
                <a:spcPct val="80000"/>
              </a:lnSpc>
              <a:spcBef>
                <a:spcPct val="20000"/>
              </a:spcBef>
              <a:buClr>
                <a:schemeClr val="bg2"/>
              </a:buClr>
              <a:buSzPct val="75000"/>
            </a:pPr>
            <a:r>
              <a:rPr lang="fr-CA" b="1" dirty="0">
                <a:latin typeface="Courier New" pitchFamily="49" charset="0"/>
              </a:rPr>
              <a:t>DROP</a:t>
            </a:r>
            <a:r>
              <a:rPr lang="fr-CA" sz="1600" dirty="0">
                <a:latin typeface="Courier New" pitchFamily="49" charset="0"/>
              </a:rPr>
              <a:t> </a:t>
            </a:r>
            <a:r>
              <a:rPr lang="fr-CA" b="1" dirty="0">
                <a:latin typeface="Courier New" pitchFamily="49" charset="0"/>
              </a:rPr>
              <a:t>COLUMN</a:t>
            </a:r>
            <a:r>
              <a:rPr lang="fr-CA" sz="1600" dirty="0">
                <a:latin typeface="Courier New" pitchFamily="49" charset="0"/>
              </a:rPr>
              <a:t> colonne</a:t>
            </a:r>
            <a:endParaRPr lang="en-US" sz="1600" dirty="0">
              <a:latin typeface="Courier New" pitchFamily="49" charset="0"/>
            </a:endParaRPr>
          </a:p>
        </p:txBody>
      </p:sp>
    </p:spTree>
    <p:extLst>
      <p:ext uri="{BB962C8B-B14F-4D97-AF65-F5344CB8AC3E}">
        <p14:creationId xmlns:p14="http://schemas.microsoft.com/office/powerpoint/2010/main" val="2238276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normAutofit fontScale="90000"/>
          </a:bodyPr>
          <a:lstStyle/>
          <a:p>
            <a:pPr eaLnBrk="1" hangingPunct="1"/>
            <a:r>
              <a:rPr lang="fr-CA" dirty="0"/>
              <a:t>Exemple Ajout, modification et suppression colonne</a:t>
            </a:r>
            <a:endParaRPr lang="en-US" dirty="0"/>
          </a:p>
        </p:txBody>
      </p:sp>
      <p:sp>
        <p:nvSpPr>
          <p:cNvPr id="23554" name="Espace réservé du numéro de diapositive 5"/>
          <p:cNvSpPr>
            <a:spLocks noGrp="1"/>
          </p:cNvSpPr>
          <p:nvPr>
            <p:ph type="sldNum" sz="quarter" idx="12"/>
          </p:nvPr>
        </p:nvSpPr>
        <p:spPr>
          <a:noFill/>
        </p:spPr>
        <p:txBody>
          <a:bodyPr/>
          <a:lstStyle/>
          <a:p>
            <a:fld id="{DA20FB0A-BF59-4EC7-AD88-579D8F718044}" type="slidenum">
              <a:rPr lang="en-US" smtClean="0"/>
              <a:pPr/>
              <a:t>11</a:t>
            </a:fld>
            <a:endParaRPr lang="en-US"/>
          </a:p>
        </p:txBody>
      </p:sp>
      <p:sp>
        <p:nvSpPr>
          <p:cNvPr id="3" name="Espace réservé du contenu 2"/>
          <p:cNvSpPr>
            <a:spLocks noGrp="1"/>
          </p:cNvSpPr>
          <p:nvPr>
            <p:ph sz="quarter" idx="1"/>
          </p:nvPr>
        </p:nvSpPr>
        <p:spPr>
          <a:xfrm>
            <a:off x="457200" y="1219200"/>
            <a:ext cx="3754760" cy="4802088"/>
          </a:xfrm>
        </p:spPr>
        <p:style>
          <a:lnRef idx="1">
            <a:schemeClr val="accent2"/>
          </a:lnRef>
          <a:fillRef idx="2">
            <a:schemeClr val="accent2"/>
          </a:fillRef>
          <a:effectRef idx="1">
            <a:schemeClr val="accent2"/>
          </a:effectRef>
          <a:fontRef idx="minor">
            <a:schemeClr val="dk1"/>
          </a:fontRef>
        </p:style>
        <p:txBody>
          <a:bodyPr/>
          <a:lstStyle/>
          <a:p>
            <a:endParaRPr lang="fr-CA" dirty="0"/>
          </a:p>
          <a:p>
            <a:r>
              <a:rPr lang="fr-CA" dirty="0"/>
              <a:t>Ajout de colonne email</a:t>
            </a:r>
          </a:p>
          <a:p>
            <a:endParaRPr lang="fr-CA" dirty="0"/>
          </a:p>
          <a:p>
            <a:endParaRPr lang="fr-CA" dirty="0"/>
          </a:p>
          <a:p>
            <a:r>
              <a:rPr lang="fr-CA" dirty="0"/>
              <a:t>Augmentation de la taille de la colonne email</a:t>
            </a:r>
          </a:p>
          <a:p>
            <a:endParaRPr lang="fr-CA" dirty="0"/>
          </a:p>
          <a:p>
            <a:r>
              <a:rPr lang="fr-CA" dirty="0"/>
              <a:t>Suppression de la colonne email</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7404" y="1556792"/>
            <a:ext cx="3500438" cy="1008112"/>
          </a:xfrm>
          <a:prstGeom prst="rect">
            <a:avLst/>
          </a:prstGeom>
          <a:ln/>
        </p:spPr>
        <p:style>
          <a:lnRef idx="1">
            <a:schemeClr val="dk1"/>
          </a:lnRef>
          <a:fillRef idx="2">
            <a:schemeClr val="dk1"/>
          </a:fillRef>
          <a:effectRef idx="1">
            <a:schemeClr val="dk1"/>
          </a:effectRef>
          <a:fontRef idx="minor">
            <a:schemeClr val="dk1"/>
          </a:fontRef>
        </p:style>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0729" y="4509120"/>
            <a:ext cx="3567113" cy="1008112"/>
          </a:xfrm>
          <a:prstGeom prst="rect">
            <a:avLst/>
          </a:prstGeom>
          <a:ln/>
        </p:spPr>
        <p:style>
          <a:lnRef idx="1">
            <a:schemeClr val="dk1"/>
          </a:lnRef>
          <a:fillRef idx="2">
            <a:schemeClr val="dk1"/>
          </a:fillRef>
          <a:effectRef idx="1">
            <a:schemeClr val="dk1"/>
          </a:effectRef>
          <a:fontRef idx="minor">
            <a:schemeClr val="dk1"/>
          </a:fontRef>
        </p:style>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4066" y="2996952"/>
            <a:ext cx="3567113" cy="1008112"/>
          </a:xfrm>
          <a:prstGeom prst="rect">
            <a:avLst/>
          </a:prstGeom>
          <a:ln/>
        </p:spPr>
        <p:style>
          <a:lnRef idx="1">
            <a:schemeClr val="dk1"/>
          </a:lnRef>
          <a:fillRef idx="2">
            <a:schemeClr val="dk1"/>
          </a:fillRef>
          <a:effectRef idx="1">
            <a:schemeClr val="dk1"/>
          </a:effectRef>
          <a:fontRef idx="minor">
            <a:schemeClr val="dk1"/>
          </a:fontRef>
        </p:style>
      </p:pic>
    </p:spTree>
    <p:extLst>
      <p:ext uri="{BB962C8B-B14F-4D97-AF65-F5344CB8AC3E}">
        <p14:creationId xmlns:p14="http://schemas.microsoft.com/office/powerpoint/2010/main" val="3475326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251520" y="260648"/>
            <a:ext cx="8199148" cy="720080"/>
          </a:xfrm>
        </p:spPr>
        <p:txBody>
          <a:bodyPr>
            <a:noAutofit/>
          </a:bodyPr>
          <a:lstStyle/>
          <a:p>
            <a:pPr eaLnBrk="1" hangingPunct="1"/>
            <a:r>
              <a:rPr lang="fr-CA" dirty="0"/>
              <a:t>Directives de modification de colonnes</a:t>
            </a:r>
            <a:endParaRPr lang="en-US" dirty="0"/>
          </a:p>
        </p:txBody>
      </p:sp>
      <p:sp>
        <p:nvSpPr>
          <p:cNvPr id="25604" name="Rectangle 3"/>
          <p:cNvSpPr>
            <a:spLocks noGrp="1" noChangeArrowheads="1"/>
          </p:cNvSpPr>
          <p:nvPr>
            <p:ph idx="1"/>
          </p:nvPr>
        </p:nvSpPr>
        <p:spPr>
          <a:xfrm>
            <a:off x="685346" y="1732449"/>
            <a:ext cx="7765322" cy="3504569"/>
          </a:xfrm>
        </p:spPr>
        <p:txBody>
          <a:bodyPr>
            <a:normAutofit/>
          </a:bodyPr>
          <a:lstStyle/>
          <a:p>
            <a:pPr eaLnBrk="1" hangingPunct="1">
              <a:lnSpc>
                <a:spcPct val="90000"/>
              </a:lnSpc>
            </a:pPr>
            <a:r>
              <a:rPr lang="fr-CA" sz="2400" dirty="0"/>
              <a:t>On peut modifier le type de données, la taille et la valeur par défaut d’une colonne. Ainsi, on peut:</a:t>
            </a:r>
          </a:p>
          <a:p>
            <a:pPr lvl="1" eaLnBrk="1" hangingPunct="1">
              <a:lnSpc>
                <a:spcPct val="90000"/>
              </a:lnSpc>
            </a:pPr>
            <a:r>
              <a:rPr lang="fr-CA" dirty="0"/>
              <a:t>Augmenter la largeur et la précision d’une colonne numérique</a:t>
            </a:r>
          </a:p>
          <a:p>
            <a:pPr lvl="1" eaLnBrk="1" hangingPunct="1">
              <a:lnSpc>
                <a:spcPct val="90000"/>
              </a:lnSpc>
            </a:pPr>
            <a:r>
              <a:rPr lang="fr-CA" dirty="0"/>
              <a:t>Augmenter la taille d’une colonne de type chaîne de caractères.</a:t>
            </a:r>
          </a:p>
          <a:p>
            <a:pPr lvl="1" eaLnBrk="1" hangingPunct="1">
              <a:lnSpc>
                <a:spcPct val="90000"/>
              </a:lnSpc>
            </a:pPr>
            <a:r>
              <a:rPr lang="fr-CA" dirty="0"/>
              <a:t>Changer le type de données d’une colonne, si elle contient que des valeurs nulles.</a:t>
            </a:r>
          </a:p>
          <a:p>
            <a:pPr lvl="1" eaLnBrk="1" hangingPunct="1">
              <a:lnSpc>
                <a:spcPct val="90000"/>
              </a:lnSpc>
            </a:pPr>
            <a:r>
              <a:rPr lang="fr-CA" dirty="0"/>
              <a:t>Réduire la taille d’une colonne si la table est vide.</a:t>
            </a:r>
          </a:p>
        </p:txBody>
      </p:sp>
      <p:sp>
        <p:nvSpPr>
          <p:cNvPr id="25602" name="Espace réservé du numéro de diapositive 5"/>
          <p:cNvSpPr>
            <a:spLocks noGrp="1"/>
          </p:cNvSpPr>
          <p:nvPr>
            <p:ph type="sldNum" sz="quarter" idx="12"/>
          </p:nvPr>
        </p:nvSpPr>
        <p:spPr>
          <a:noFill/>
        </p:spPr>
        <p:txBody>
          <a:bodyPr/>
          <a:lstStyle/>
          <a:p>
            <a:fld id="{AED77A40-C104-4C89-A43B-89BCF4D3D251}" type="slidenum">
              <a:rPr lang="en-US" smtClean="0"/>
              <a:pPr/>
              <a:t>12</a:t>
            </a:fld>
            <a:endParaRPr lang="en-US"/>
          </a:p>
        </p:txBody>
      </p:sp>
    </p:spTree>
    <p:extLst>
      <p:ext uri="{BB962C8B-B14F-4D97-AF65-F5344CB8AC3E}">
        <p14:creationId xmlns:p14="http://schemas.microsoft.com/office/powerpoint/2010/main" val="2232286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85345" y="346364"/>
            <a:ext cx="7765322" cy="562356"/>
          </a:xfrm>
        </p:spPr>
        <p:txBody>
          <a:bodyPr>
            <a:normAutofit fontScale="90000"/>
          </a:bodyPr>
          <a:lstStyle/>
          <a:p>
            <a:pPr eaLnBrk="1" hangingPunct="1"/>
            <a:r>
              <a:rPr lang="fr-CA" sz="4000" dirty="0"/>
              <a:t>Commande DROP TABLE</a:t>
            </a:r>
            <a:endParaRPr lang="en-US" sz="4000" dirty="0"/>
          </a:p>
        </p:txBody>
      </p:sp>
      <p:sp>
        <p:nvSpPr>
          <p:cNvPr id="6" name="Espace réservé du contenu 5"/>
          <p:cNvSpPr>
            <a:spLocks noGrp="1"/>
          </p:cNvSpPr>
          <p:nvPr>
            <p:ph idx="1"/>
          </p:nvPr>
        </p:nvSpPr>
        <p:spPr>
          <a:xfrm>
            <a:off x="899592" y="1340768"/>
            <a:ext cx="6912768" cy="1277334"/>
          </a:xfrm>
        </p:spPr>
        <p:style>
          <a:lnRef idx="1">
            <a:schemeClr val="accent2"/>
          </a:lnRef>
          <a:fillRef idx="2">
            <a:schemeClr val="accent2"/>
          </a:fillRef>
          <a:effectRef idx="1">
            <a:schemeClr val="accent2"/>
          </a:effectRef>
          <a:fontRef idx="minor">
            <a:schemeClr val="dk1"/>
          </a:fontRef>
        </p:style>
        <p:txBody>
          <a:bodyPr>
            <a:normAutofit lnSpcReduction="10000"/>
          </a:bodyPr>
          <a:lstStyle/>
          <a:p>
            <a:r>
              <a:rPr lang="fr-CA" dirty="0"/>
              <a:t>Dans ce cas aussi, la suppression de la table dépend du fait que la table est  liée à d'autres tables (voir les contraintes plus loin)</a:t>
            </a:r>
          </a:p>
        </p:txBody>
      </p:sp>
      <p:sp>
        <p:nvSpPr>
          <p:cNvPr id="28674" name="Espace réservé du numéro de diapositive 5"/>
          <p:cNvSpPr>
            <a:spLocks noGrp="1"/>
          </p:cNvSpPr>
          <p:nvPr>
            <p:ph type="sldNum" sz="quarter" idx="12"/>
          </p:nvPr>
        </p:nvSpPr>
        <p:spPr>
          <a:noFill/>
        </p:spPr>
        <p:txBody>
          <a:bodyPr/>
          <a:lstStyle/>
          <a:p>
            <a:fld id="{59BEFBF8-B588-4684-A4E4-8815C906AA24}" type="slidenum">
              <a:rPr lang="en-US" smtClean="0"/>
              <a:pPr/>
              <a:t>13</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140968"/>
            <a:ext cx="4762500" cy="2133600"/>
          </a:xfrm>
          <a:prstGeom prst="rect">
            <a:avLst/>
          </a:prstGeom>
          <a:ln/>
        </p:spPr>
        <p:style>
          <a:lnRef idx="1">
            <a:schemeClr val="dk1"/>
          </a:lnRef>
          <a:fillRef idx="2">
            <a:schemeClr val="dk1"/>
          </a:fillRef>
          <a:effectRef idx="1">
            <a:schemeClr val="dk1"/>
          </a:effectRef>
          <a:fontRef idx="minor">
            <a:schemeClr val="dk1"/>
          </a:fontRef>
        </p:style>
      </p:pic>
    </p:spTree>
    <p:extLst>
      <p:ext uri="{BB962C8B-B14F-4D97-AF65-F5344CB8AC3E}">
        <p14:creationId xmlns:p14="http://schemas.microsoft.com/office/powerpoint/2010/main" val="3859753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4"/>
          <p:cNvSpPr>
            <a:spLocks noGrp="1" noChangeArrowheads="1"/>
          </p:cNvSpPr>
          <p:nvPr>
            <p:ph type="title"/>
          </p:nvPr>
        </p:nvSpPr>
        <p:spPr>
          <a:xfrm>
            <a:off x="971600" y="2636912"/>
            <a:ext cx="7192913" cy="1828813"/>
          </a:xfrm>
        </p:spPr>
        <p:txBody>
          <a:bodyPr>
            <a:normAutofit/>
          </a:bodyPr>
          <a:lstStyle/>
          <a:p>
            <a:pPr algn="r" eaLnBrk="1" hangingPunct="1"/>
            <a:r>
              <a:rPr lang="fr-CA" sz="4800" dirty="0"/>
              <a:t>Les contraintes</a:t>
            </a:r>
            <a:endParaRPr lang="en-US" sz="4800" dirty="0"/>
          </a:p>
        </p:txBody>
      </p:sp>
      <p:sp>
        <p:nvSpPr>
          <p:cNvPr id="31746" name="Espace réservé du numéro de diapositive 4"/>
          <p:cNvSpPr>
            <a:spLocks noGrp="1"/>
          </p:cNvSpPr>
          <p:nvPr>
            <p:ph type="sldNum" sz="quarter" idx="12"/>
          </p:nvPr>
        </p:nvSpPr>
        <p:spPr>
          <a:noFill/>
        </p:spPr>
        <p:txBody>
          <a:bodyPr/>
          <a:lstStyle/>
          <a:p>
            <a:fld id="{638918E1-141D-4105-B360-351E275D20FE}" type="slidenum">
              <a:rPr lang="en-US" smtClean="0"/>
              <a:pPr/>
              <a:t>14</a:t>
            </a:fld>
            <a:endParaRPr lang="en-US"/>
          </a:p>
        </p:txBody>
      </p:sp>
    </p:spTree>
    <p:extLst>
      <p:ext uri="{BB962C8B-B14F-4D97-AF65-F5344CB8AC3E}">
        <p14:creationId xmlns:p14="http://schemas.microsoft.com/office/powerpoint/2010/main" val="2032536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685345" y="517236"/>
            <a:ext cx="7765322" cy="554182"/>
          </a:xfrm>
        </p:spPr>
        <p:txBody>
          <a:bodyPr>
            <a:normAutofit fontScale="90000"/>
          </a:bodyPr>
          <a:lstStyle/>
          <a:p>
            <a:pPr eaLnBrk="1" hangingPunct="1"/>
            <a:r>
              <a:rPr lang="fr-CA" sz="3600" dirty="0"/>
              <a:t>Qu’est ce que les contraintes</a:t>
            </a:r>
            <a:endParaRPr lang="en-US" sz="3600" dirty="0"/>
          </a:p>
        </p:txBody>
      </p:sp>
      <p:sp>
        <p:nvSpPr>
          <p:cNvPr id="32772" name="Rectangle 3"/>
          <p:cNvSpPr>
            <a:spLocks noGrp="1" noChangeArrowheads="1"/>
          </p:cNvSpPr>
          <p:nvPr>
            <p:ph idx="1"/>
          </p:nvPr>
        </p:nvSpPr>
        <p:spPr>
          <a:xfrm>
            <a:off x="683568" y="1916832"/>
            <a:ext cx="7765322" cy="4058751"/>
          </a:xfrm>
        </p:spPr>
        <p:txBody>
          <a:bodyPr>
            <a:normAutofit lnSpcReduction="10000"/>
          </a:bodyPr>
          <a:lstStyle/>
          <a:p>
            <a:pPr eaLnBrk="1" hangingPunct="1">
              <a:lnSpc>
                <a:spcPct val="80000"/>
              </a:lnSpc>
            </a:pPr>
            <a:r>
              <a:rPr lang="fr-CA" dirty="0"/>
              <a:t>Les contraintes sont des conditions qu’on impose aux données dans les tables pour garantir leur intégrité.</a:t>
            </a:r>
          </a:p>
          <a:p>
            <a:pPr eaLnBrk="1" hangingPunct="1">
              <a:lnSpc>
                <a:spcPct val="80000"/>
              </a:lnSpc>
            </a:pPr>
            <a:r>
              <a:rPr lang="fr-CA" dirty="0"/>
              <a:t>On peut définir </a:t>
            </a:r>
            <a:r>
              <a:rPr lang="fr-CA" dirty="0">
                <a:solidFill>
                  <a:srgbClr val="FF0000"/>
                </a:solidFill>
              </a:rPr>
              <a:t>5 types de </a:t>
            </a:r>
            <a:r>
              <a:rPr lang="fr-CA" dirty="0"/>
              <a:t>contraintes:</a:t>
            </a:r>
          </a:p>
          <a:p>
            <a:pPr lvl="1" eaLnBrk="1" hangingPunct="1">
              <a:lnSpc>
                <a:spcPct val="80000"/>
              </a:lnSpc>
            </a:pPr>
            <a:r>
              <a:rPr lang="fr-CA" dirty="0"/>
              <a:t>NOT NULL</a:t>
            </a:r>
          </a:p>
          <a:p>
            <a:pPr lvl="1" eaLnBrk="1" hangingPunct="1">
              <a:lnSpc>
                <a:spcPct val="80000"/>
              </a:lnSpc>
            </a:pPr>
            <a:r>
              <a:rPr lang="fr-CA" dirty="0"/>
              <a:t>UNIQUE</a:t>
            </a:r>
          </a:p>
          <a:p>
            <a:pPr lvl="1" eaLnBrk="1" hangingPunct="1">
              <a:lnSpc>
                <a:spcPct val="80000"/>
              </a:lnSpc>
            </a:pPr>
            <a:r>
              <a:rPr lang="fr-CA" dirty="0"/>
              <a:t>PRIMARY KEY</a:t>
            </a:r>
          </a:p>
          <a:p>
            <a:pPr lvl="1" eaLnBrk="1" hangingPunct="1">
              <a:lnSpc>
                <a:spcPct val="80000"/>
              </a:lnSpc>
            </a:pPr>
            <a:r>
              <a:rPr lang="fr-CA" dirty="0"/>
              <a:t>FOREIGN KEY</a:t>
            </a:r>
          </a:p>
          <a:p>
            <a:pPr lvl="1" eaLnBrk="1" hangingPunct="1">
              <a:lnSpc>
                <a:spcPct val="80000"/>
              </a:lnSpc>
            </a:pPr>
            <a:r>
              <a:rPr lang="fr-CA" dirty="0"/>
              <a:t>CHECK</a:t>
            </a:r>
          </a:p>
          <a:p>
            <a:pPr eaLnBrk="1" hangingPunct="1">
              <a:lnSpc>
                <a:spcPct val="80000"/>
              </a:lnSpc>
            </a:pPr>
            <a:r>
              <a:rPr lang="fr-CA" dirty="0"/>
              <a:t>Syntaxiquement, on peut définir les contraintes de deux manières:</a:t>
            </a:r>
          </a:p>
          <a:p>
            <a:pPr lvl="1" eaLnBrk="1" hangingPunct="1">
              <a:lnSpc>
                <a:spcPct val="80000"/>
              </a:lnSpc>
            </a:pPr>
            <a:r>
              <a:rPr lang="fr-CA" dirty="0"/>
              <a:t>À l’intérieur de la définition d’une colonne (in line). </a:t>
            </a:r>
          </a:p>
          <a:p>
            <a:pPr lvl="1" eaLnBrk="1" hangingPunct="1">
              <a:lnSpc>
                <a:spcPct val="80000"/>
              </a:lnSpc>
            </a:pPr>
            <a:r>
              <a:rPr lang="fr-CA" dirty="0"/>
              <a:t>À l'intérieur de la définition d’une table(out of line). </a:t>
            </a:r>
          </a:p>
        </p:txBody>
      </p:sp>
      <p:sp>
        <p:nvSpPr>
          <p:cNvPr id="32770" name="Espace réservé du numéro de diapositive 5"/>
          <p:cNvSpPr>
            <a:spLocks noGrp="1"/>
          </p:cNvSpPr>
          <p:nvPr>
            <p:ph type="sldNum" sz="quarter" idx="12"/>
          </p:nvPr>
        </p:nvSpPr>
        <p:spPr>
          <a:noFill/>
        </p:spPr>
        <p:txBody>
          <a:bodyPr/>
          <a:lstStyle/>
          <a:p>
            <a:fld id="{5D601071-DC32-46A7-8467-DB40DA744677}" type="slidenum">
              <a:rPr lang="en-US" smtClean="0"/>
              <a:pPr/>
              <a:t>15</a:t>
            </a:fld>
            <a:endParaRPr lang="en-US"/>
          </a:p>
        </p:txBody>
      </p:sp>
    </p:spTree>
    <p:extLst>
      <p:ext uri="{BB962C8B-B14F-4D97-AF65-F5344CB8AC3E}">
        <p14:creationId xmlns:p14="http://schemas.microsoft.com/office/powerpoint/2010/main" val="249804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1303712" y="214292"/>
            <a:ext cx="6172200" cy="650857"/>
          </a:xfrm>
        </p:spPr>
        <p:txBody>
          <a:bodyPr>
            <a:normAutofit fontScale="90000"/>
          </a:bodyPr>
          <a:lstStyle/>
          <a:p>
            <a:pPr eaLnBrk="1" hangingPunct="1"/>
            <a:r>
              <a:rPr lang="fr-CA" sz="3600" dirty="0"/>
              <a:t>Qu’est ce que les contraintes</a:t>
            </a:r>
            <a:endParaRPr lang="en-US" sz="3600" dirty="0"/>
          </a:p>
        </p:txBody>
      </p:sp>
      <p:graphicFrame>
        <p:nvGraphicFramePr>
          <p:cNvPr id="464940" name="Group 44"/>
          <p:cNvGraphicFramePr>
            <a:graphicFrameLocks noGrp="1"/>
          </p:cNvGraphicFramePr>
          <p:nvPr>
            <p:ph type="tbl" idx="1"/>
            <p:extLst>
              <p:ext uri="{D42A27DB-BD31-4B8C-83A1-F6EECF244321}">
                <p14:modId xmlns:p14="http://schemas.microsoft.com/office/powerpoint/2010/main" val="3834472107"/>
              </p:ext>
            </p:extLst>
          </p:nvPr>
        </p:nvGraphicFramePr>
        <p:xfrm>
          <a:off x="971600" y="1196753"/>
          <a:ext cx="6932968" cy="5040864"/>
        </p:xfrm>
        <a:graphic>
          <a:graphicData uri="http://schemas.openxmlformats.org/drawingml/2006/table">
            <a:tbl>
              <a:tblPr/>
              <a:tblGrid>
                <a:gridCol w="1512168">
                  <a:extLst>
                    <a:ext uri="{9D8B030D-6E8A-4147-A177-3AD203B41FA5}">
                      <a16:colId xmlns:a16="http://schemas.microsoft.com/office/drawing/2014/main" val="20000"/>
                    </a:ext>
                  </a:extLst>
                </a:gridCol>
                <a:gridCol w="5420800">
                  <a:extLst>
                    <a:ext uri="{9D8B030D-6E8A-4147-A177-3AD203B41FA5}">
                      <a16:colId xmlns:a16="http://schemas.microsoft.com/office/drawing/2014/main" val="20001"/>
                    </a:ext>
                  </a:extLst>
                </a:gridCol>
              </a:tblGrid>
              <a:tr h="70016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CA" sz="1600" b="1" i="0" u="none" strike="noStrike" cap="none" normalizeH="0" baseline="0" dirty="0">
                          <a:ln>
                            <a:noFill/>
                          </a:ln>
                          <a:solidFill>
                            <a:schemeClr val="tx1"/>
                          </a:solidFill>
                          <a:effectLst/>
                          <a:latin typeface="Verdana" pitchFamily="34" charset="0"/>
                        </a:rPr>
                        <a:t>NOT NULL</a:t>
                      </a:r>
                      <a:endParaRPr kumimoji="0" lang="en-US" sz="1600" b="1" i="0" u="none" strike="noStrike" cap="none" normalizeH="0" baseline="0" dirty="0">
                        <a:ln>
                          <a:noFill/>
                        </a:ln>
                        <a:solidFill>
                          <a:schemeClr val="tx1"/>
                        </a:solidFill>
                        <a:effectLst/>
                        <a:latin typeface="Verdana" pitchFamily="34" charset="0"/>
                      </a:endParaRPr>
                    </a:p>
                  </a:txBody>
                  <a:tcPr marL="69056" marR="69056"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p"/>
                        <a:tabLst/>
                      </a:pPr>
                      <a:r>
                        <a:rPr kumimoji="0" lang="fr-CA" sz="1600" b="0" i="0" u="none" strike="noStrike" cap="none" normalizeH="0" baseline="0" dirty="0">
                          <a:ln>
                            <a:noFill/>
                          </a:ln>
                          <a:solidFill>
                            <a:schemeClr val="tx1"/>
                          </a:solidFill>
                          <a:effectLst/>
                          <a:latin typeface="Verdana" pitchFamily="34" charset="0"/>
                        </a:rPr>
                        <a:t>La colonne associée ne peut pas contenir de valeurs nulles</a:t>
                      </a:r>
                      <a:endParaRPr kumimoji="0" lang="en-US" sz="1600" b="0" i="0" u="none" strike="noStrike" cap="none" normalizeH="0" baseline="0" dirty="0">
                        <a:ln>
                          <a:noFill/>
                        </a:ln>
                        <a:solidFill>
                          <a:schemeClr val="tx1"/>
                        </a:solidFill>
                        <a:effectLst/>
                        <a:latin typeface="Verdana" pitchFamily="34" charset="0"/>
                      </a:endParaRPr>
                    </a:p>
                  </a:txBody>
                  <a:tcPr marL="69056" marR="69056"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01064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CA" sz="1600" b="1" i="0" u="none" strike="noStrike" cap="none" normalizeH="0" baseline="0" dirty="0">
                          <a:ln>
                            <a:noFill/>
                          </a:ln>
                          <a:solidFill>
                            <a:schemeClr val="tx1"/>
                          </a:solidFill>
                          <a:effectLst/>
                          <a:latin typeface="Verdana" pitchFamily="34" charset="0"/>
                        </a:rPr>
                        <a:t>UNIQUE</a:t>
                      </a:r>
                      <a:endParaRPr kumimoji="0" lang="en-US" sz="1600" b="1" i="0" u="none" strike="noStrike" cap="none" normalizeH="0" baseline="0" dirty="0">
                        <a:ln>
                          <a:noFill/>
                        </a:ln>
                        <a:solidFill>
                          <a:schemeClr val="tx1"/>
                        </a:solidFill>
                        <a:effectLst/>
                        <a:latin typeface="Verdana" pitchFamily="34" charset="0"/>
                      </a:endParaRPr>
                    </a:p>
                  </a:txBody>
                  <a:tcPr marL="69056" marR="69056"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p"/>
                        <a:tabLst/>
                      </a:pPr>
                      <a:r>
                        <a:rPr kumimoji="0" lang="fr-CA" sz="1600" b="0" i="0" u="none" strike="noStrike" cap="none" normalizeH="0" baseline="0" dirty="0">
                          <a:ln>
                            <a:noFill/>
                          </a:ln>
                          <a:solidFill>
                            <a:schemeClr val="tx1"/>
                          </a:solidFill>
                          <a:effectLst/>
                          <a:latin typeface="Verdana" pitchFamily="34" charset="0"/>
                        </a:rPr>
                        <a:t>Les valeurs de la colonne associée doivent être uniques (ne se répètent pas) à travers la table. </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p"/>
                        <a:tabLst/>
                      </a:pPr>
                      <a:r>
                        <a:rPr kumimoji="0" lang="fr-CA" sz="1600" b="0" i="0" u="none" strike="noStrike" cap="none" normalizeH="0" baseline="0" dirty="0">
                          <a:ln>
                            <a:noFill/>
                          </a:ln>
                          <a:solidFill>
                            <a:schemeClr val="tx1"/>
                          </a:solidFill>
                          <a:effectLst/>
                          <a:latin typeface="Verdana" pitchFamily="34" charset="0"/>
                        </a:rPr>
                        <a:t>Les valeurs </a:t>
                      </a:r>
                      <a:r>
                        <a:rPr kumimoji="0" lang="fr-CA" sz="1600" b="1" i="0" u="none" strike="noStrike" cap="none" normalizeH="0" baseline="0" dirty="0">
                          <a:ln>
                            <a:noFill/>
                          </a:ln>
                          <a:solidFill>
                            <a:schemeClr val="tx1"/>
                          </a:solidFill>
                          <a:effectLst/>
                          <a:latin typeface="Verdana" pitchFamily="34" charset="0"/>
                        </a:rPr>
                        <a:t>nulles sont permises</a:t>
                      </a:r>
                      <a:endParaRPr kumimoji="0" lang="en-US" sz="1600" b="1" i="0" u="none" strike="noStrike" cap="none" normalizeH="0" baseline="0" dirty="0">
                        <a:ln>
                          <a:noFill/>
                        </a:ln>
                        <a:solidFill>
                          <a:schemeClr val="tx1"/>
                        </a:solidFill>
                        <a:effectLst/>
                        <a:latin typeface="Verdana" pitchFamily="34" charset="0"/>
                      </a:endParaRPr>
                    </a:p>
                  </a:txBody>
                  <a:tcPr marL="69056" marR="69056"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104389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CA" sz="1600" b="1" i="0" u="none" strike="noStrike" cap="none" normalizeH="0" baseline="0" dirty="0">
                          <a:ln>
                            <a:noFill/>
                          </a:ln>
                          <a:solidFill>
                            <a:schemeClr val="tx1"/>
                          </a:solidFill>
                          <a:effectLst/>
                          <a:latin typeface="Verdana" pitchFamily="34" charset="0"/>
                        </a:rPr>
                        <a:t>PRIMARY KEY</a:t>
                      </a:r>
                      <a:endParaRPr kumimoji="0" lang="en-US" sz="1600" b="1" i="0" u="none" strike="noStrike" cap="none" normalizeH="0" baseline="0" dirty="0">
                        <a:ln>
                          <a:noFill/>
                        </a:ln>
                        <a:solidFill>
                          <a:schemeClr val="tx1"/>
                        </a:solidFill>
                        <a:effectLst/>
                        <a:latin typeface="Verdana" pitchFamily="34" charset="0"/>
                      </a:endParaRPr>
                    </a:p>
                  </a:txBody>
                  <a:tcPr marL="69056" marR="69056"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p"/>
                        <a:tabLst/>
                      </a:pPr>
                      <a:r>
                        <a:rPr kumimoji="0" lang="fr-CA" sz="1600" b="0" i="0" u="none" strike="noStrike" cap="none" normalizeH="0" baseline="0" dirty="0">
                          <a:ln>
                            <a:noFill/>
                          </a:ln>
                          <a:solidFill>
                            <a:schemeClr val="tx1"/>
                          </a:solidFill>
                          <a:effectLst/>
                          <a:latin typeface="Verdana" pitchFamily="34" charset="0"/>
                        </a:rPr>
                        <a:t>Permet d’identifier un enregistrement dans une table. Interdit les valeurs nulles et les répétitions.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p"/>
                        <a:tabLst/>
                      </a:pPr>
                      <a:r>
                        <a:rPr kumimoji="0" lang="fr-CA" sz="1600" b="0" i="0" u="none" strike="noStrike" cap="none" normalizeH="0" baseline="0" dirty="0">
                          <a:ln>
                            <a:noFill/>
                          </a:ln>
                          <a:solidFill>
                            <a:schemeClr val="tx1"/>
                          </a:solidFill>
                          <a:effectLst/>
                          <a:latin typeface="Verdana" pitchFamily="34" charset="0"/>
                        </a:rPr>
                        <a:t>Combinaison des contraintes </a:t>
                      </a:r>
                      <a:r>
                        <a:rPr kumimoji="0" lang="fr-CA" sz="1600" b="1" i="0" u="none" strike="noStrike" cap="none" normalizeH="0" baseline="0" dirty="0">
                          <a:ln>
                            <a:noFill/>
                          </a:ln>
                          <a:solidFill>
                            <a:schemeClr val="tx1"/>
                          </a:solidFill>
                          <a:effectLst/>
                          <a:latin typeface="Verdana" pitchFamily="34" charset="0"/>
                        </a:rPr>
                        <a:t>UNIQUE et NOT NULL</a:t>
                      </a:r>
                      <a:endParaRPr kumimoji="0" lang="en-US" sz="1600" b="1" i="0" u="none" strike="noStrike" cap="none" normalizeH="0" baseline="0" dirty="0">
                        <a:ln>
                          <a:noFill/>
                        </a:ln>
                        <a:solidFill>
                          <a:schemeClr val="tx1"/>
                        </a:solidFill>
                        <a:effectLst/>
                        <a:latin typeface="Verdana" pitchFamily="34" charset="0"/>
                      </a:endParaRPr>
                    </a:p>
                  </a:txBody>
                  <a:tcPr marL="69056" marR="69056"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515271">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CA" sz="1600" b="1" i="0" u="none" strike="noStrike" cap="none" normalizeH="0" baseline="0" dirty="0">
                          <a:ln>
                            <a:noFill/>
                          </a:ln>
                          <a:solidFill>
                            <a:schemeClr val="tx1"/>
                          </a:solidFill>
                          <a:effectLst/>
                          <a:latin typeface="Verdana" pitchFamily="34" charset="0"/>
                        </a:rPr>
                        <a:t>FOREIGN KEY</a:t>
                      </a:r>
                      <a:endParaRPr kumimoji="0" lang="en-US" sz="1600" b="1" i="0" u="none" strike="noStrike" cap="none" normalizeH="0" baseline="0" dirty="0">
                        <a:ln>
                          <a:noFill/>
                        </a:ln>
                        <a:solidFill>
                          <a:schemeClr val="tx1"/>
                        </a:solidFill>
                        <a:effectLst/>
                        <a:latin typeface="Verdana" pitchFamily="34" charset="0"/>
                      </a:endParaRPr>
                    </a:p>
                  </a:txBody>
                  <a:tcPr marL="69056" marR="69056"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p"/>
                        <a:tabLst/>
                      </a:pPr>
                      <a:r>
                        <a:rPr kumimoji="0" lang="fr-CA" sz="1600" b="0" i="0" u="none" strike="noStrike" cap="none" normalizeH="0" baseline="0" dirty="0">
                          <a:ln>
                            <a:noFill/>
                          </a:ln>
                          <a:solidFill>
                            <a:schemeClr val="tx1"/>
                          </a:solidFill>
                          <a:effectLst/>
                          <a:latin typeface="Verdana" pitchFamily="34" charset="0"/>
                        </a:rPr>
                        <a:t>Établir une relation entre la colonne et une autre colonne dans une autre table.</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p"/>
                        <a:tabLst/>
                      </a:pPr>
                      <a:r>
                        <a:rPr kumimoji="0" lang="fr-CA" sz="1600" b="0" i="0" u="none" strike="noStrike" cap="none" normalizeH="0" baseline="0" dirty="0">
                          <a:ln>
                            <a:noFill/>
                          </a:ln>
                          <a:solidFill>
                            <a:schemeClr val="tx1"/>
                          </a:solidFill>
                          <a:effectLst/>
                          <a:latin typeface="Verdana" pitchFamily="34" charset="0"/>
                        </a:rPr>
                        <a:t>Exige que les valeurs d’une colonne dans une table correspondent à celles d’une autre colonne dans une autre table.</a:t>
                      </a:r>
                      <a:endParaRPr kumimoji="0" lang="en-US" sz="1600" b="0" i="0" u="none" strike="noStrike" cap="none" normalizeH="0" baseline="0" dirty="0">
                        <a:ln>
                          <a:noFill/>
                        </a:ln>
                        <a:solidFill>
                          <a:schemeClr val="tx1"/>
                        </a:solidFill>
                        <a:effectLst/>
                        <a:latin typeface="Verdana" pitchFamily="34" charset="0"/>
                      </a:endParaRPr>
                    </a:p>
                  </a:txBody>
                  <a:tcPr marL="69056" marR="69056"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9858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CA" sz="1600" b="1" i="0" u="none" strike="noStrike" cap="none" normalizeH="0" baseline="0" dirty="0">
                          <a:ln>
                            <a:noFill/>
                          </a:ln>
                          <a:solidFill>
                            <a:schemeClr val="tx1"/>
                          </a:solidFill>
                          <a:effectLst/>
                          <a:latin typeface="Verdana" pitchFamily="34" charset="0"/>
                        </a:rPr>
                        <a:t>CHECK</a:t>
                      </a:r>
                      <a:endParaRPr kumimoji="0" lang="en-US" sz="1600" b="1" i="0" u="none" strike="noStrike" cap="none" normalizeH="0" baseline="0" dirty="0">
                        <a:ln>
                          <a:noFill/>
                        </a:ln>
                        <a:solidFill>
                          <a:schemeClr val="tx1"/>
                        </a:solidFill>
                        <a:effectLst/>
                        <a:latin typeface="Verdana" pitchFamily="34" charset="0"/>
                      </a:endParaRPr>
                    </a:p>
                  </a:txBody>
                  <a:tcPr marL="69056" marR="69056"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Char char="p"/>
                        <a:tabLst/>
                      </a:pPr>
                      <a:r>
                        <a:rPr kumimoji="0" lang="fr-CA" sz="1600" b="0" i="0" u="none" strike="noStrike" cap="none" normalizeH="0" baseline="0" dirty="0">
                          <a:ln>
                            <a:noFill/>
                          </a:ln>
                          <a:solidFill>
                            <a:schemeClr val="tx1"/>
                          </a:solidFill>
                          <a:effectLst/>
                          <a:latin typeface="Verdana" pitchFamily="34" charset="0"/>
                        </a:rPr>
                        <a:t>Exige que les valeurs dans une colonne vérifient une certaine condition </a:t>
                      </a:r>
                      <a:r>
                        <a:rPr kumimoji="0" lang="fr-CA" sz="1600" b="1" i="0" u="none" strike="noStrike" cap="none" normalizeH="0" baseline="0" dirty="0">
                          <a:ln>
                            <a:noFill/>
                          </a:ln>
                          <a:solidFill>
                            <a:schemeClr val="tx1"/>
                          </a:solidFill>
                          <a:effectLst/>
                          <a:latin typeface="Verdana" pitchFamily="34" charset="0"/>
                        </a:rPr>
                        <a:t>(règles d’affaires)</a:t>
                      </a:r>
                      <a:endParaRPr kumimoji="0" lang="en-US" sz="1600" b="1" i="0" u="none" strike="noStrike" cap="none" normalizeH="0" baseline="0" dirty="0">
                        <a:ln>
                          <a:noFill/>
                        </a:ln>
                        <a:solidFill>
                          <a:schemeClr val="tx1"/>
                        </a:solidFill>
                        <a:effectLst/>
                        <a:latin typeface="Verdana" pitchFamily="34" charset="0"/>
                      </a:endParaRPr>
                    </a:p>
                  </a:txBody>
                  <a:tcPr marL="69056" marR="69056"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3794" name="Espace réservé du numéro de diapositive 5"/>
          <p:cNvSpPr>
            <a:spLocks noGrp="1"/>
          </p:cNvSpPr>
          <p:nvPr>
            <p:ph type="sldNum" sz="quarter" idx="12"/>
          </p:nvPr>
        </p:nvSpPr>
        <p:spPr>
          <a:noFill/>
        </p:spPr>
        <p:txBody>
          <a:bodyPr/>
          <a:lstStyle/>
          <a:p>
            <a:fld id="{A768BFA9-41FF-4B02-AC40-BA22986089CC}" type="slidenum">
              <a:rPr lang="en-US" smtClean="0"/>
              <a:pPr/>
              <a:t>16</a:t>
            </a:fld>
            <a:endParaRPr lang="en-US"/>
          </a:p>
        </p:txBody>
      </p:sp>
    </p:spTree>
    <p:extLst>
      <p:ext uri="{BB962C8B-B14F-4D97-AF65-F5344CB8AC3E}">
        <p14:creationId xmlns:p14="http://schemas.microsoft.com/office/powerpoint/2010/main" val="1685158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395536" y="457201"/>
            <a:ext cx="8352927" cy="484909"/>
          </a:xfrm>
        </p:spPr>
        <p:txBody>
          <a:bodyPr>
            <a:noAutofit/>
          </a:bodyPr>
          <a:lstStyle/>
          <a:p>
            <a:pPr eaLnBrk="1" hangingPunct="1"/>
            <a:r>
              <a:rPr lang="fr-CA" dirty="0"/>
              <a:t>Directives de définition des contraintes</a:t>
            </a:r>
            <a:endParaRPr lang="en-US" dirty="0"/>
          </a:p>
        </p:txBody>
      </p:sp>
      <p:sp>
        <p:nvSpPr>
          <p:cNvPr id="34820" name="Rectangle 3"/>
          <p:cNvSpPr>
            <a:spLocks noGrp="1" noChangeArrowheads="1"/>
          </p:cNvSpPr>
          <p:nvPr>
            <p:ph idx="1"/>
          </p:nvPr>
        </p:nvSpPr>
        <p:spPr>
          <a:xfrm>
            <a:off x="755576" y="1556792"/>
            <a:ext cx="7463182" cy="4392488"/>
          </a:xfrm>
        </p:spPr>
        <p:txBody>
          <a:bodyPr>
            <a:normAutofit/>
          </a:bodyPr>
          <a:lstStyle/>
          <a:p>
            <a:pPr eaLnBrk="1" hangingPunct="1">
              <a:lnSpc>
                <a:spcPct val="80000"/>
              </a:lnSpc>
            </a:pPr>
            <a:r>
              <a:rPr lang="fr-CA" sz="2400" dirty="0"/>
              <a:t>Associer un nom aux contraintes, c’est très </a:t>
            </a:r>
            <a:r>
              <a:rPr lang="fr-CA" sz="2400" dirty="0" err="1"/>
              <a:t>tile</a:t>
            </a:r>
            <a:r>
              <a:rPr lang="fr-CA" sz="2400" dirty="0"/>
              <a:t> pour la lecture des messages d’erreurs entre autres</a:t>
            </a:r>
            <a:endParaRPr lang="fr-CA" sz="2400" b="1" baseline="-25000" dirty="0"/>
          </a:p>
          <a:p>
            <a:pPr eaLnBrk="1" hangingPunct="1">
              <a:lnSpc>
                <a:spcPct val="80000"/>
              </a:lnSpc>
            </a:pPr>
            <a:r>
              <a:rPr lang="fr-CA" sz="2400" dirty="0"/>
              <a:t>On recommande de nommer les contraintes comme suit:</a:t>
            </a:r>
          </a:p>
          <a:p>
            <a:pPr lvl="1" eaLnBrk="1" hangingPunct="1">
              <a:lnSpc>
                <a:spcPct val="80000"/>
              </a:lnSpc>
            </a:pPr>
            <a:r>
              <a:rPr lang="fr-CA" dirty="0"/>
              <a:t>nomTable_nomColonne_typeContrainte (ou l'inverse)</a:t>
            </a:r>
          </a:p>
          <a:p>
            <a:pPr lvl="1">
              <a:lnSpc>
                <a:spcPct val="80000"/>
              </a:lnSpc>
              <a:spcAft>
                <a:spcPts val="600"/>
              </a:spcAft>
            </a:pPr>
            <a:r>
              <a:rPr lang="fr-CA" dirty="0"/>
              <a:t>Ex: emp_empno_pk</a:t>
            </a:r>
          </a:p>
          <a:p>
            <a:pPr eaLnBrk="1" hangingPunct="1">
              <a:lnSpc>
                <a:spcPct val="80000"/>
              </a:lnSpc>
            </a:pPr>
            <a:r>
              <a:rPr lang="fr-CA" sz="2400" dirty="0"/>
              <a:t>Créer une contrainte:</a:t>
            </a:r>
          </a:p>
          <a:p>
            <a:pPr lvl="1" eaLnBrk="1" hangingPunct="1">
              <a:lnSpc>
                <a:spcPct val="80000"/>
              </a:lnSpc>
            </a:pPr>
            <a:r>
              <a:rPr lang="fr-CA" dirty="0"/>
              <a:t>Au moment de la création de la table (CREATE TABLE)</a:t>
            </a:r>
          </a:p>
          <a:p>
            <a:pPr lvl="1">
              <a:lnSpc>
                <a:spcPct val="80000"/>
              </a:lnSpc>
              <a:spcAft>
                <a:spcPts val="600"/>
              </a:spcAft>
            </a:pPr>
            <a:r>
              <a:rPr lang="fr-CA" dirty="0"/>
              <a:t>Après la création de la table (ALTER TABLE)</a:t>
            </a:r>
          </a:p>
          <a:p>
            <a:pPr eaLnBrk="1" hangingPunct="1">
              <a:lnSpc>
                <a:spcPct val="80000"/>
              </a:lnSpc>
            </a:pPr>
            <a:r>
              <a:rPr lang="fr-CA" sz="2400" dirty="0"/>
              <a:t>Définir la contrainte </a:t>
            </a:r>
          </a:p>
          <a:p>
            <a:pPr lvl="1">
              <a:lnSpc>
                <a:spcPct val="80000"/>
              </a:lnSpc>
            </a:pPr>
            <a:r>
              <a:rPr lang="fr-CA" dirty="0"/>
              <a:t>au niveau </a:t>
            </a:r>
            <a:r>
              <a:rPr lang="fr-CA" b="1" dirty="0"/>
              <a:t>colonne</a:t>
            </a:r>
            <a:r>
              <a:rPr lang="fr-CA" dirty="0"/>
              <a:t> ou au niveau </a:t>
            </a:r>
            <a:r>
              <a:rPr lang="fr-CA" b="1" dirty="0"/>
              <a:t>table</a:t>
            </a:r>
            <a:r>
              <a:rPr lang="fr-CA" dirty="0"/>
              <a:t>.</a:t>
            </a:r>
          </a:p>
        </p:txBody>
      </p:sp>
      <p:sp>
        <p:nvSpPr>
          <p:cNvPr id="34818" name="Espace réservé du numéro de diapositive 5"/>
          <p:cNvSpPr>
            <a:spLocks noGrp="1"/>
          </p:cNvSpPr>
          <p:nvPr>
            <p:ph type="sldNum" sz="quarter" idx="12"/>
          </p:nvPr>
        </p:nvSpPr>
        <p:spPr>
          <a:noFill/>
        </p:spPr>
        <p:txBody>
          <a:bodyPr/>
          <a:lstStyle/>
          <a:p>
            <a:fld id="{148E4488-8426-4697-BA49-A13B25256EFE}" type="slidenum">
              <a:rPr lang="en-US" smtClean="0"/>
              <a:pPr/>
              <a:t>17</a:t>
            </a:fld>
            <a:endParaRPr lang="en-US"/>
          </a:p>
        </p:txBody>
      </p:sp>
    </p:spTree>
    <p:extLst>
      <p:ext uri="{BB962C8B-B14F-4D97-AF65-F5344CB8AC3E}">
        <p14:creationId xmlns:p14="http://schemas.microsoft.com/office/powerpoint/2010/main" val="3486323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395536" y="332656"/>
            <a:ext cx="8197017" cy="731983"/>
          </a:xfrm>
        </p:spPr>
        <p:txBody>
          <a:bodyPr>
            <a:normAutofit fontScale="90000"/>
          </a:bodyPr>
          <a:lstStyle/>
          <a:p>
            <a:pPr eaLnBrk="1" hangingPunct="1"/>
            <a:r>
              <a:rPr lang="fr-CA" dirty="0"/>
              <a:t>CREATE TABLE: C</a:t>
            </a:r>
            <a:r>
              <a:rPr lang="fr-CA" i="1" dirty="0"/>
              <a:t>ontrainte de clé primaire</a:t>
            </a:r>
          </a:p>
        </p:txBody>
      </p:sp>
      <p:sp>
        <p:nvSpPr>
          <p:cNvPr id="37890" name="Espace réservé du numéro de diapositive 5"/>
          <p:cNvSpPr>
            <a:spLocks noGrp="1"/>
          </p:cNvSpPr>
          <p:nvPr>
            <p:ph type="sldNum" sz="quarter" idx="12"/>
          </p:nvPr>
        </p:nvSpPr>
        <p:spPr>
          <a:noFill/>
        </p:spPr>
        <p:txBody>
          <a:bodyPr/>
          <a:lstStyle/>
          <a:p>
            <a:fld id="{8A0227FE-28E0-4871-8A6E-F3581AC98E9A}" type="slidenum">
              <a:rPr lang="en-US" smtClean="0"/>
              <a:pPr/>
              <a:t>18</a:t>
            </a:fld>
            <a:endParaRPr lang="en-US"/>
          </a:p>
        </p:txBody>
      </p:sp>
      <p:pic>
        <p:nvPicPr>
          <p:cNvPr id="8" name="Espace réservé du contenu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5897" y="1700808"/>
            <a:ext cx="4530362" cy="4154663"/>
          </a:xfrm>
          <a:prstGeom prst="rect">
            <a:avLst/>
          </a:prstGeom>
        </p:spPr>
        <p:style>
          <a:lnRef idx="1">
            <a:schemeClr val="dk1"/>
          </a:lnRef>
          <a:fillRef idx="2">
            <a:schemeClr val="dk1"/>
          </a:fillRef>
          <a:effectRef idx="1">
            <a:schemeClr val="dk1"/>
          </a:effectRef>
          <a:fontRef idx="minor">
            <a:schemeClr val="dk1"/>
          </a:fontRef>
        </p:style>
      </p:pic>
      <p:sp>
        <p:nvSpPr>
          <p:cNvPr id="2" name="ZoneTexte 1"/>
          <p:cNvSpPr txBox="1"/>
          <p:nvPr/>
        </p:nvSpPr>
        <p:spPr>
          <a:xfrm>
            <a:off x="1187624" y="2887574"/>
            <a:ext cx="1985068" cy="120032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fr-CA" dirty="0"/>
              <a:t>PRIMARY KEY: </a:t>
            </a:r>
          </a:p>
          <a:p>
            <a:r>
              <a:rPr lang="fr-CA" dirty="0"/>
              <a:t>   NOT NULL</a:t>
            </a:r>
          </a:p>
          <a:p>
            <a:r>
              <a:rPr lang="fr-CA" dirty="0"/>
              <a:t>   ET</a:t>
            </a:r>
          </a:p>
          <a:p>
            <a:r>
              <a:rPr lang="fr-CA" dirty="0"/>
              <a:t>  UNIQUE</a:t>
            </a:r>
          </a:p>
        </p:txBody>
      </p:sp>
    </p:spTree>
    <p:extLst>
      <p:ext uri="{BB962C8B-B14F-4D97-AF65-F5344CB8AC3E}">
        <p14:creationId xmlns:p14="http://schemas.microsoft.com/office/powerpoint/2010/main" val="2062692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323528" y="260648"/>
            <a:ext cx="8197017" cy="831553"/>
          </a:xfrm>
        </p:spPr>
        <p:txBody>
          <a:bodyPr>
            <a:normAutofit fontScale="90000"/>
          </a:bodyPr>
          <a:lstStyle/>
          <a:p>
            <a:pPr eaLnBrk="1" hangingPunct="1"/>
            <a:r>
              <a:rPr lang="fr-CA" dirty="0"/>
              <a:t>CREATE TABLE: C</a:t>
            </a:r>
            <a:r>
              <a:rPr lang="fr-CA" i="1" dirty="0"/>
              <a:t>ontrainte de clé primaire</a:t>
            </a:r>
          </a:p>
        </p:txBody>
      </p:sp>
      <p:sp>
        <p:nvSpPr>
          <p:cNvPr id="37892" name="Rectangle 3"/>
          <p:cNvSpPr>
            <a:spLocks noGrp="1" noChangeArrowheads="1"/>
          </p:cNvSpPr>
          <p:nvPr>
            <p:ph idx="1"/>
          </p:nvPr>
        </p:nvSpPr>
        <p:spPr>
          <a:xfrm>
            <a:off x="467544" y="2420888"/>
            <a:ext cx="4748645" cy="3078234"/>
          </a:xfrm>
        </p:spPr>
        <p:style>
          <a:lnRef idx="1">
            <a:schemeClr val="accent2"/>
          </a:lnRef>
          <a:fillRef idx="2">
            <a:schemeClr val="accent2"/>
          </a:fillRef>
          <a:effectRef idx="1">
            <a:schemeClr val="accent2"/>
          </a:effectRef>
          <a:fontRef idx="minor">
            <a:schemeClr val="dk1"/>
          </a:fontRef>
        </p:style>
        <p:txBody>
          <a:bodyPr>
            <a:noAutofit/>
          </a:bodyPr>
          <a:lstStyle/>
          <a:p>
            <a:pPr marL="419100" indent="-419100"/>
            <a:r>
              <a:rPr lang="fr-CA" sz="2400" dirty="0"/>
              <a:t>Chaque table doit avoir une clé primaire. Cette dernière peut être:</a:t>
            </a:r>
          </a:p>
          <a:p>
            <a:pPr marL="857250" lvl="1" indent="-400050"/>
            <a:r>
              <a:rPr lang="fr-CA" sz="2400" b="1" dirty="0"/>
              <a:t>Simple</a:t>
            </a:r>
            <a:r>
              <a:rPr lang="fr-CA" sz="2400" dirty="0"/>
              <a:t>: basée sur une seule colonne</a:t>
            </a:r>
          </a:p>
          <a:p>
            <a:pPr marL="857250" lvl="1" indent="-400050"/>
            <a:r>
              <a:rPr lang="fr-CA" sz="2400" b="1" dirty="0"/>
              <a:t>Composée</a:t>
            </a:r>
            <a:r>
              <a:rPr lang="fr-CA" sz="2400" dirty="0"/>
              <a:t>: basée sur plusieurs colonnes. </a:t>
            </a:r>
          </a:p>
          <a:p>
            <a:pPr marL="419100" indent="-419100"/>
            <a:endParaRPr lang="fr-CA" sz="2400" dirty="0"/>
          </a:p>
          <a:p>
            <a:pPr marL="857250" lvl="1" indent="-400050">
              <a:lnSpc>
                <a:spcPct val="80000"/>
              </a:lnSpc>
              <a:buNone/>
            </a:pPr>
            <a:r>
              <a:rPr lang="fr-CA" sz="2400" dirty="0"/>
              <a:t>  </a:t>
            </a:r>
          </a:p>
        </p:txBody>
      </p:sp>
      <p:sp>
        <p:nvSpPr>
          <p:cNvPr id="37890" name="Espace réservé du numéro de diapositive 5"/>
          <p:cNvSpPr>
            <a:spLocks noGrp="1"/>
          </p:cNvSpPr>
          <p:nvPr>
            <p:ph type="sldNum" sz="quarter" idx="12"/>
          </p:nvPr>
        </p:nvSpPr>
        <p:spPr>
          <a:noFill/>
        </p:spPr>
        <p:txBody>
          <a:bodyPr/>
          <a:lstStyle/>
          <a:p>
            <a:fld id="{8A0227FE-28E0-4871-8A6E-F3581AC98E9A}" type="slidenum">
              <a:rPr lang="en-US" smtClean="0"/>
              <a:pPr/>
              <a:t>19</a:t>
            </a:fld>
            <a:endParaRPr lang="en-US"/>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4128" y="1771977"/>
            <a:ext cx="2857500" cy="2362200"/>
          </a:xfrm>
          <a:prstGeom prst="rect">
            <a:avLst/>
          </a:prstGeom>
        </p:spPr>
      </p:pic>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8572" y="4150030"/>
            <a:ext cx="2743200" cy="2359152"/>
          </a:xfrm>
          <a:prstGeom prst="rect">
            <a:avLst/>
          </a:prstGeom>
        </p:spPr>
      </p:pic>
    </p:spTree>
    <p:extLst>
      <p:ext uri="{BB962C8B-B14F-4D97-AF65-F5344CB8AC3E}">
        <p14:creationId xmlns:p14="http://schemas.microsoft.com/office/powerpoint/2010/main" val="2856583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60648"/>
            <a:ext cx="7981346" cy="970450"/>
          </a:xfrm>
        </p:spPr>
        <p:txBody>
          <a:bodyPr>
            <a:normAutofit fontScale="90000"/>
          </a:bodyPr>
          <a:lstStyle/>
          <a:p>
            <a:r>
              <a:rPr lang="fr-CA" dirty="0"/>
              <a:t>CREATE TABLE: C</a:t>
            </a:r>
            <a:r>
              <a:rPr lang="fr-CA" i="1" dirty="0"/>
              <a:t>ontrainte de clé primaire</a:t>
            </a:r>
            <a:endParaRPr lang="fr-CA" dirty="0"/>
          </a:p>
        </p:txBody>
      </p:sp>
      <p:sp>
        <p:nvSpPr>
          <p:cNvPr id="3" name="Espace réservé du contenu 2"/>
          <p:cNvSpPr>
            <a:spLocks noGrp="1"/>
          </p:cNvSpPr>
          <p:nvPr>
            <p:ph idx="1"/>
          </p:nvPr>
        </p:nvSpPr>
        <p:spPr>
          <a:xfrm>
            <a:off x="395536" y="1316815"/>
            <a:ext cx="8055132" cy="816041"/>
          </a:xfrm>
        </p:spPr>
        <p:style>
          <a:lnRef idx="2">
            <a:schemeClr val="accent1"/>
          </a:lnRef>
          <a:fillRef idx="1">
            <a:schemeClr val="lt1"/>
          </a:fillRef>
          <a:effectRef idx="0">
            <a:schemeClr val="accent1"/>
          </a:effectRef>
          <a:fontRef idx="minor">
            <a:schemeClr val="dk1"/>
          </a:fontRef>
        </p:style>
        <p:txBody>
          <a:bodyPr>
            <a:normAutofit/>
          </a:bodyPr>
          <a:lstStyle/>
          <a:p>
            <a:pPr marL="419100" indent="-419100"/>
            <a:r>
              <a:rPr lang="fr-CA" sz="1800" b="1" dirty="0"/>
              <a:t>Clé primaire simple</a:t>
            </a:r>
          </a:p>
          <a:p>
            <a:pPr marL="419100" indent="-419100">
              <a:buNone/>
            </a:pPr>
            <a:r>
              <a:rPr lang="fr-CA" sz="1800" dirty="0"/>
              <a:t>	Table Coureur (</a:t>
            </a:r>
            <a:r>
              <a:rPr lang="fr-CA" sz="1800" b="1" u="sng" dirty="0"/>
              <a:t>idCoureur</a:t>
            </a:r>
            <a:r>
              <a:rPr lang="fr-CA" sz="1800" dirty="0"/>
              <a:t>, nomCoureur, prenomCoureur, </a:t>
            </a:r>
            <a:r>
              <a:rPr lang="fr-CA" sz="1800" dirty="0" err="1"/>
              <a:t>sexeCoureur</a:t>
            </a:r>
            <a:r>
              <a:rPr lang="fr-CA" sz="1800" dirty="0"/>
              <a:t>, …)</a:t>
            </a:r>
          </a:p>
        </p:txBody>
      </p:sp>
      <p:sp>
        <p:nvSpPr>
          <p:cNvPr id="4" name="Espace réservé du numéro de diapositive 3"/>
          <p:cNvSpPr>
            <a:spLocks noGrp="1"/>
          </p:cNvSpPr>
          <p:nvPr>
            <p:ph type="sldNum" sz="quarter" idx="12"/>
          </p:nvPr>
        </p:nvSpPr>
        <p:spPr/>
        <p:txBody>
          <a:bodyPr/>
          <a:lstStyle/>
          <a:p>
            <a:fld id="{0BB7606F-3185-4DD5-A96D-8A14DE87D6B5}" type="slidenum">
              <a:rPr lang="fr-CA" smtClean="0"/>
              <a:t>20</a:t>
            </a:fld>
            <a:endParaRPr lang="fr-CA"/>
          </a:p>
        </p:txBody>
      </p:sp>
      <p:sp>
        <p:nvSpPr>
          <p:cNvPr id="5" name="Rectangle 4"/>
          <p:cNvSpPr/>
          <p:nvPr/>
        </p:nvSpPr>
        <p:spPr>
          <a:xfrm>
            <a:off x="395536" y="2684176"/>
            <a:ext cx="8496944" cy="312085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400050" indent="-400050">
              <a:lnSpc>
                <a:spcPct val="80000"/>
              </a:lnSpc>
            </a:pPr>
            <a:r>
              <a:rPr lang="fr-CA" sz="1600" b="1" dirty="0"/>
              <a:t>Contrainte définie au niveau de la colonne</a:t>
            </a:r>
          </a:p>
          <a:p>
            <a:pPr marL="400050" indent="-400050">
              <a:lnSpc>
                <a:spcPct val="80000"/>
              </a:lnSpc>
            </a:pPr>
            <a:r>
              <a:rPr lang="fr-CA" sz="1600" b="1" dirty="0">
                <a:latin typeface="Courier New" pitchFamily="49" charset="0"/>
              </a:rPr>
              <a:t>CREATE TABLE Coureur(</a:t>
            </a:r>
            <a:r>
              <a:rPr lang="fr-CA" sz="1600" dirty="0">
                <a:latin typeface="Courier New" pitchFamily="49" charset="0"/>
              </a:rPr>
              <a:t>	</a:t>
            </a:r>
          </a:p>
          <a:p>
            <a:pPr marL="400050" indent="-400050">
              <a:lnSpc>
                <a:spcPct val="80000"/>
              </a:lnSpc>
            </a:pPr>
            <a:r>
              <a:rPr lang="fr-CA" sz="1600" dirty="0">
                <a:latin typeface="Courier New" pitchFamily="49" charset="0"/>
              </a:rPr>
              <a:t>  </a:t>
            </a:r>
            <a:r>
              <a:rPr lang="fr-CA" sz="1600" b="1" dirty="0" err="1">
                <a:latin typeface="Courier New" pitchFamily="49" charset="0"/>
              </a:rPr>
              <a:t>idCoureur</a:t>
            </a:r>
            <a:r>
              <a:rPr lang="fr-CA" sz="1600" b="1" dirty="0">
                <a:latin typeface="Courier New" pitchFamily="49" charset="0"/>
              </a:rPr>
              <a:t> </a:t>
            </a:r>
            <a:r>
              <a:rPr lang="fr-CA" sz="1600" b="1" dirty="0" err="1">
                <a:latin typeface="Courier New" pitchFamily="49" charset="0"/>
              </a:rPr>
              <a:t>int</a:t>
            </a:r>
            <a:r>
              <a:rPr lang="fr-CA" sz="1600" b="1" dirty="0">
                <a:latin typeface="Courier New" pitchFamily="49" charset="0"/>
              </a:rPr>
              <a:t>   </a:t>
            </a:r>
            <a:r>
              <a:rPr lang="fr-CA" b="1" dirty="0">
                <a:solidFill>
                  <a:srgbClr val="FF0000"/>
                </a:solidFill>
                <a:latin typeface="Courier New" pitchFamily="49" charset="0"/>
              </a:rPr>
              <a:t>CONSTRAINT  </a:t>
            </a:r>
            <a:r>
              <a:rPr lang="fr-CA" b="1" dirty="0" err="1">
                <a:solidFill>
                  <a:srgbClr val="FF0000"/>
                </a:solidFill>
                <a:latin typeface="Courier New" pitchFamily="49" charset="0"/>
              </a:rPr>
              <a:t>coureur_idcoureur_pk</a:t>
            </a:r>
            <a:r>
              <a:rPr lang="fr-CA" b="1" dirty="0">
                <a:solidFill>
                  <a:srgbClr val="FF0000"/>
                </a:solidFill>
                <a:latin typeface="Courier New" pitchFamily="49" charset="0"/>
              </a:rPr>
              <a:t>  </a:t>
            </a:r>
            <a:r>
              <a:rPr lang="fr-CA" sz="1600" b="1" dirty="0">
                <a:solidFill>
                  <a:srgbClr val="FF0000"/>
                </a:solidFill>
                <a:latin typeface="Courier New" pitchFamily="49" charset="0"/>
              </a:rPr>
              <a:t>PRIMARY KEY</a:t>
            </a:r>
            <a:endParaRPr lang="fr-CA" sz="1600" b="1" dirty="0">
              <a:latin typeface="Courier New" pitchFamily="49" charset="0"/>
            </a:endParaRPr>
          </a:p>
          <a:p>
            <a:pPr marL="400050" indent="-400050">
              <a:lnSpc>
                <a:spcPct val="80000"/>
              </a:lnSpc>
            </a:pPr>
            <a:r>
              <a:rPr lang="fr-CA" sz="1600" b="1" dirty="0">
                <a:latin typeface="Courier New" pitchFamily="49" charset="0"/>
              </a:rPr>
              <a:t>  </a:t>
            </a:r>
            <a:r>
              <a:rPr lang="fr-CA" sz="1600" b="1" dirty="0" err="1">
                <a:latin typeface="Courier New" pitchFamily="49" charset="0"/>
              </a:rPr>
              <a:t>nomCoureur</a:t>
            </a:r>
            <a:r>
              <a:rPr lang="fr-CA" sz="1600" b="1" dirty="0">
                <a:latin typeface="Courier New" pitchFamily="49" charset="0"/>
              </a:rPr>
              <a:t> </a:t>
            </a:r>
            <a:r>
              <a:rPr lang="fr-CA" sz="1600" b="1" dirty="0" err="1">
                <a:latin typeface="Courier New" pitchFamily="49" charset="0"/>
              </a:rPr>
              <a:t>nvarchar</a:t>
            </a:r>
            <a:r>
              <a:rPr lang="fr-CA" sz="1600" b="1" dirty="0">
                <a:latin typeface="Courier New" pitchFamily="49" charset="0"/>
              </a:rPr>
              <a:t>(25) , </a:t>
            </a:r>
          </a:p>
          <a:p>
            <a:pPr marL="400050" indent="-400050">
              <a:lnSpc>
                <a:spcPct val="80000"/>
              </a:lnSpc>
            </a:pPr>
            <a:r>
              <a:rPr lang="fr-CA" sz="1600" b="1" dirty="0">
                <a:latin typeface="Courier New" pitchFamily="49" charset="0"/>
              </a:rPr>
              <a:t>  ……………………</a:t>
            </a:r>
          </a:p>
          <a:p>
            <a:pPr marL="400050" indent="-400050">
              <a:lnSpc>
                <a:spcPct val="80000"/>
              </a:lnSpc>
            </a:pPr>
            <a:r>
              <a:rPr lang="fr-CA" sz="1600" b="1" dirty="0">
                <a:latin typeface="Courier New" pitchFamily="49" charset="0"/>
              </a:rPr>
              <a:t> );</a:t>
            </a:r>
            <a:endParaRPr lang="en-US" sz="1600" b="1" dirty="0">
              <a:latin typeface="Courier New" pitchFamily="49" charset="0"/>
            </a:endParaRPr>
          </a:p>
          <a:p>
            <a:pPr marL="400050" indent="-400050">
              <a:lnSpc>
                <a:spcPct val="80000"/>
              </a:lnSpc>
            </a:pPr>
            <a:endParaRPr lang="en-US" sz="1600" b="1" dirty="0">
              <a:latin typeface="Courier New" pitchFamily="49" charset="0"/>
            </a:endParaRPr>
          </a:p>
          <a:p>
            <a:pPr marL="400050" indent="-400050">
              <a:lnSpc>
                <a:spcPct val="80000"/>
              </a:lnSpc>
            </a:pPr>
            <a:r>
              <a:rPr lang="fr-CA" sz="1600" b="1" dirty="0"/>
              <a:t>Contrainte définie au niveau de la table</a:t>
            </a:r>
          </a:p>
          <a:p>
            <a:pPr marL="400050" indent="-400050">
              <a:lnSpc>
                <a:spcPct val="80000"/>
              </a:lnSpc>
            </a:pPr>
            <a:r>
              <a:rPr lang="fr-CA" sz="1600" b="1" dirty="0">
                <a:latin typeface="Courier New" pitchFamily="49" charset="0"/>
              </a:rPr>
              <a:t>CREATE TABLE Coureur(</a:t>
            </a:r>
            <a:r>
              <a:rPr lang="fr-CA" sz="1600" dirty="0">
                <a:latin typeface="Courier New" pitchFamily="49" charset="0"/>
              </a:rPr>
              <a:t>	</a:t>
            </a:r>
          </a:p>
          <a:p>
            <a:pPr marL="400050" indent="-400050">
              <a:lnSpc>
                <a:spcPct val="80000"/>
              </a:lnSpc>
            </a:pPr>
            <a:r>
              <a:rPr lang="fr-CA" sz="1600" b="1" dirty="0">
                <a:latin typeface="Courier New" pitchFamily="49" charset="0"/>
              </a:rPr>
              <a:t> </a:t>
            </a:r>
            <a:r>
              <a:rPr lang="fr-CA" b="1" dirty="0" err="1">
                <a:solidFill>
                  <a:srgbClr val="0070C0"/>
                </a:solidFill>
                <a:latin typeface="Courier New" pitchFamily="49" charset="0"/>
              </a:rPr>
              <a:t>idCoureur</a:t>
            </a:r>
            <a:r>
              <a:rPr lang="fr-CA" sz="1600" b="1" dirty="0">
                <a:latin typeface="Courier New" pitchFamily="49" charset="0"/>
              </a:rPr>
              <a:t>    INT,</a:t>
            </a:r>
          </a:p>
          <a:p>
            <a:pPr marL="400050" indent="-400050">
              <a:lnSpc>
                <a:spcPct val="80000"/>
              </a:lnSpc>
            </a:pPr>
            <a:r>
              <a:rPr lang="fr-CA" sz="1600" b="1" dirty="0" err="1">
                <a:latin typeface="Courier New" pitchFamily="49" charset="0"/>
              </a:rPr>
              <a:t>nomCOureur</a:t>
            </a:r>
            <a:r>
              <a:rPr lang="fr-CA" sz="1600" b="1" dirty="0">
                <a:latin typeface="Courier New" pitchFamily="49" charset="0"/>
              </a:rPr>
              <a:t> NVARCHAR(30), </a:t>
            </a:r>
          </a:p>
          <a:p>
            <a:pPr marL="400050" indent="-400050">
              <a:lnSpc>
                <a:spcPct val="80000"/>
              </a:lnSpc>
            </a:pPr>
            <a:r>
              <a:rPr lang="fr-CA" sz="1600" b="1" dirty="0">
                <a:latin typeface="Courier New" pitchFamily="49" charset="0"/>
              </a:rPr>
              <a:t>…………………………,/* définir toutes les colonnes */</a:t>
            </a:r>
          </a:p>
          <a:p>
            <a:pPr marL="857250" lvl="1" indent="-400050">
              <a:lnSpc>
                <a:spcPct val="80000"/>
              </a:lnSpc>
              <a:buNone/>
            </a:pPr>
            <a:r>
              <a:rPr lang="fr-CA" sz="1600" b="1" dirty="0">
                <a:latin typeface="Courier New" pitchFamily="49" charset="0"/>
              </a:rPr>
              <a:t>       </a:t>
            </a:r>
          </a:p>
          <a:p>
            <a:pPr marL="400050" indent="-400050">
              <a:lnSpc>
                <a:spcPct val="80000"/>
              </a:lnSpc>
            </a:pPr>
            <a:r>
              <a:rPr lang="fr-CA" b="1" dirty="0">
                <a:solidFill>
                  <a:srgbClr val="FF0000"/>
                </a:solidFill>
                <a:latin typeface="Courier New" pitchFamily="49" charset="0"/>
              </a:rPr>
              <a:t>CONSTRAINT </a:t>
            </a:r>
            <a:r>
              <a:rPr lang="fr-CA" b="1" dirty="0" err="1">
                <a:solidFill>
                  <a:srgbClr val="FF0000"/>
                </a:solidFill>
                <a:latin typeface="Courier New" pitchFamily="49" charset="0"/>
              </a:rPr>
              <a:t>coureur_idcoureur_pk</a:t>
            </a:r>
            <a:r>
              <a:rPr lang="fr-CA" b="1" dirty="0">
                <a:solidFill>
                  <a:srgbClr val="FF0000"/>
                </a:solidFill>
                <a:latin typeface="Courier New" pitchFamily="49" charset="0"/>
              </a:rPr>
              <a:t> PRIMARY KEY </a:t>
            </a:r>
            <a:r>
              <a:rPr lang="fr-CA" b="1" dirty="0">
                <a:solidFill>
                  <a:srgbClr val="0070C0"/>
                </a:solidFill>
                <a:latin typeface="Courier New" pitchFamily="49" charset="0"/>
              </a:rPr>
              <a:t>(</a:t>
            </a:r>
            <a:r>
              <a:rPr lang="fr-CA" b="1" dirty="0" err="1">
                <a:solidFill>
                  <a:srgbClr val="0070C0"/>
                </a:solidFill>
                <a:latin typeface="Courier New" pitchFamily="49" charset="0"/>
              </a:rPr>
              <a:t>idCoureur</a:t>
            </a:r>
            <a:r>
              <a:rPr lang="fr-CA" b="1" dirty="0">
                <a:solidFill>
                  <a:srgbClr val="0070C0"/>
                </a:solidFill>
                <a:latin typeface="Courier New" pitchFamily="49" charset="0"/>
              </a:rPr>
              <a:t>) </a:t>
            </a:r>
          </a:p>
          <a:p>
            <a:pPr marL="400050" indent="-400050">
              <a:lnSpc>
                <a:spcPct val="80000"/>
              </a:lnSpc>
            </a:pPr>
            <a:r>
              <a:rPr lang="fr-CA" sz="1600" b="1" dirty="0">
                <a:latin typeface="Courier New" pitchFamily="49" charset="0"/>
              </a:rPr>
              <a:t>);</a:t>
            </a:r>
            <a:endParaRPr lang="fr-CA" dirty="0"/>
          </a:p>
        </p:txBody>
      </p:sp>
    </p:spTree>
    <p:extLst>
      <p:ext uri="{BB962C8B-B14F-4D97-AF65-F5344CB8AC3E}">
        <p14:creationId xmlns:p14="http://schemas.microsoft.com/office/powerpoint/2010/main" val="4178212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238992" y="306942"/>
            <a:ext cx="8759536" cy="662876"/>
          </a:xfrm>
        </p:spPr>
        <p:txBody>
          <a:bodyPr>
            <a:normAutofit/>
          </a:bodyPr>
          <a:lstStyle/>
          <a:p>
            <a:pPr algn="l" eaLnBrk="1" hangingPunct="1"/>
            <a:r>
              <a:rPr lang="fr-CA" sz="3400" dirty="0"/>
              <a:t>CREATE TABLE: </a:t>
            </a:r>
            <a:r>
              <a:rPr lang="fr-CA" sz="3400" i="1" dirty="0"/>
              <a:t>Contrainte d’unicité</a:t>
            </a:r>
          </a:p>
        </p:txBody>
      </p:sp>
      <p:sp>
        <p:nvSpPr>
          <p:cNvPr id="35844" name="Rectangle 3"/>
          <p:cNvSpPr>
            <a:spLocks noGrp="1" noChangeArrowheads="1"/>
          </p:cNvSpPr>
          <p:nvPr>
            <p:ph idx="1"/>
          </p:nvPr>
        </p:nvSpPr>
        <p:spPr>
          <a:xfrm>
            <a:off x="201827" y="1466770"/>
            <a:ext cx="5450293" cy="3494809"/>
          </a:xfrm>
        </p:spPr>
        <p:txBody>
          <a:bodyPr>
            <a:normAutofit fontScale="77500" lnSpcReduction="20000"/>
          </a:bodyPr>
          <a:lstStyle/>
          <a:p>
            <a:pPr eaLnBrk="1" hangingPunct="1">
              <a:lnSpc>
                <a:spcPct val="90000"/>
              </a:lnSpc>
            </a:pPr>
            <a:r>
              <a:rPr lang="fr-CA" sz="2000" b="1" dirty="0"/>
              <a:t>Contrainte d'unicité: </a:t>
            </a:r>
          </a:p>
          <a:p>
            <a:pPr lvl="1">
              <a:lnSpc>
                <a:spcPct val="90000"/>
              </a:lnSpc>
            </a:pPr>
            <a:r>
              <a:rPr lang="fr-FR" dirty="0"/>
              <a:t>la colonne doit avoir une valeur unique dans toute la table.</a:t>
            </a:r>
          </a:p>
          <a:p>
            <a:pPr lvl="1">
              <a:lnSpc>
                <a:spcPct val="90000"/>
              </a:lnSpc>
            </a:pPr>
            <a:r>
              <a:rPr lang="fr-FR" dirty="0"/>
              <a:t>Mais elle peut avoir des valeurs nulles</a:t>
            </a:r>
          </a:p>
          <a:p>
            <a:pPr eaLnBrk="1" hangingPunct="1">
              <a:lnSpc>
                <a:spcPct val="90000"/>
              </a:lnSpc>
              <a:buFont typeface="Wingdings" pitchFamily="2" charset="2"/>
              <a:buNone/>
            </a:pPr>
            <a:r>
              <a:rPr lang="fr-FR" sz="2000" dirty="0"/>
              <a:t>    </a:t>
            </a:r>
          </a:p>
          <a:p>
            <a:pPr eaLnBrk="1" hangingPunct="1">
              <a:lnSpc>
                <a:spcPct val="90000"/>
              </a:lnSpc>
              <a:buFont typeface="Wingdings" pitchFamily="2" charset="2"/>
              <a:buNone/>
            </a:pPr>
            <a:r>
              <a:rPr lang="fr-FR" sz="2000" dirty="0"/>
              <a:t>     ex: </a:t>
            </a:r>
            <a:r>
              <a:rPr lang="fr-FR" sz="2000" dirty="0" err="1"/>
              <a:t>Categorie</a:t>
            </a:r>
            <a:r>
              <a:rPr lang="fr-FR" sz="2000" dirty="0"/>
              <a:t> (</a:t>
            </a:r>
            <a:r>
              <a:rPr lang="fr-FR" sz="2000" u="sng" dirty="0" err="1"/>
              <a:t>idCategorie</a:t>
            </a:r>
            <a:r>
              <a:rPr lang="fr-FR" sz="2000" dirty="0"/>
              <a:t>, </a:t>
            </a:r>
            <a:r>
              <a:rPr lang="fr-FR" sz="2000" dirty="0" err="1"/>
              <a:t>nomCategorie</a:t>
            </a:r>
            <a:r>
              <a:rPr lang="fr-FR" sz="2000" dirty="0"/>
              <a:t>)</a:t>
            </a:r>
          </a:p>
          <a:p>
            <a:pPr eaLnBrk="1" hangingPunct="1">
              <a:lnSpc>
                <a:spcPct val="90000"/>
              </a:lnSpc>
              <a:buFont typeface="Wingdings" pitchFamily="2" charset="2"/>
              <a:buNone/>
            </a:pPr>
            <a:endParaRPr lang="fr-FR" sz="2000" dirty="0"/>
          </a:p>
          <a:p>
            <a:pPr eaLnBrk="1" hangingPunct="1">
              <a:lnSpc>
                <a:spcPct val="90000"/>
              </a:lnSpc>
              <a:buFont typeface="Wingdings" pitchFamily="2" charset="2"/>
              <a:buNone/>
            </a:pPr>
            <a:r>
              <a:rPr lang="fr-FR" sz="2000" dirty="0"/>
              <a:t>           Le nom d’une catégorie doit être unique. </a:t>
            </a:r>
          </a:p>
          <a:p>
            <a:pPr eaLnBrk="1" hangingPunct="1">
              <a:lnSpc>
                <a:spcPct val="90000"/>
              </a:lnSpc>
              <a:buFont typeface="Wingdings" pitchFamily="2" charset="2"/>
              <a:buNone/>
            </a:pPr>
            <a:r>
              <a:rPr lang="fr-FR" dirty="0"/>
              <a:t>     </a:t>
            </a:r>
            <a:r>
              <a:rPr lang="fr-FR" cap="small" dirty="0" err="1"/>
              <a:t>create</a:t>
            </a:r>
            <a:r>
              <a:rPr lang="fr-FR" cap="small" dirty="0"/>
              <a:t> table </a:t>
            </a:r>
            <a:r>
              <a:rPr lang="fr-FR" dirty="0" err="1"/>
              <a:t>categorie</a:t>
            </a:r>
            <a:r>
              <a:rPr lang="fr-FR" dirty="0"/>
              <a:t> (</a:t>
            </a:r>
          </a:p>
          <a:p>
            <a:pPr eaLnBrk="1" hangingPunct="1">
              <a:lnSpc>
                <a:spcPct val="90000"/>
              </a:lnSpc>
              <a:buFont typeface="Wingdings" pitchFamily="2" charset="2"/>
              <a:buNone/>
            </a:pPr>
            <a:r>
              <a:rPr lang="fr-FR" sz="2000" dirty="0"/>
              <a:t>      ……</a:t>
            </a:r>
          </a:p>
          <a:p>
            <a:pPr eaLnBrk="1" hangingPunct="1">
              <a:lnSpc>
                <a:spcPct val="90000"/>
              </a:lnSpc>
              <a:buFont typeface="Wingdings" pitchFamily="2" charset="2"/>
              <a:buNone/>
            </a:pPr>
            <a:r>
              <a:rPr lang="fr-FR" sz="2000" dirty="0"/>
              <a:t>	      </a:t>
            </a:r>
            <a:r>
              <a:rPr lang="fr-FR" sz="2000" b="1" dirty="0" err="1">
                <a:solidFill>
                  <a:schemeClr val="tx2"/>
                </a:solidFill>
                <a:latin typeface="Courier New" pitchFamily="49" charset="0"/>
              </a:rPr>
              <a:t>nomCategorie</a:t>
            </a:r>
            <a:r>
              <a:rPr lang="fr-FR" sz="2000" b="1" dirty="0">
                <a:solidFill>
                  <a:schemeClr val="tx2"/>
                </a:solidFill>
                <a:latin typeface="Courier New" pitchFamily="49" charset="0"/>
              </a:rPr>
              <a:t>   NVARCHAR(20) </a:t>
            </a:r>
            <a:r>
              <a:rPr lang="fr-FR" sz="2000" b="1" dirty="0">
                <a:solidFill>
                  <a:srgbClr val="FF0000"/>
                </a:solidFill>
                <a:latin typeface="Courier New" pitchFamily="49" charset="0"/>
              </a:rPr>
              <a:t>CONSTRAINT</a:t>
            </a:r>
          </a:p>
          <a:p>
            <a:pPr eaLnBrk="1" hangingPunct="1">
              <a:lnSpc>
                <a:spcPct val="90000"/>
              </a:lnSpc>
              <a:buFont typeface="Wingdings" pitchFamily="2" charset="2"/>
              <a:buNone/>
            </a:pPr>
            <a:r>
              <a:rPr lang="fr-FR" sz="2000" b="1" dirty="0">
                <a:solidFill>
                  <a:srgbClr val="FF0000"/>
                </a:solidFill>
                <a:latin typeface="Courier New" pitchFamily="49" charset="0"/>
              </a:rPr>
              <a:t>	</a:t>
            </a:r>
            <a:r>
              <a:rPr lang="fr-FR" sz="2000" b="1" dirty="0" err="1">
                <a:solidFill>
                  <a:srgbClr val="FF0000"/>
                </a:solidFill>
                <a:latin typeface="Courier New" pitchFamily="49" charset="0"/>
              </a:rPr>
              <a:t>Categorie_nomCategorie_u</a:t>
            </a:r>
            <a:r>
              <a:rPr lang="fr-FR" sz="2000" b="1" dirty="0">
                <a:solidFill>
                  <a:srgbClr val="FF0000"/>
                </a:solidFill>
                <a:latin typeface="Courier New" pitchFamily="49" charset="0"/>
              </a:rPr>
              <a:t>  UNIQUE</a:t>
            </a:r>
            <a:r>
              <a:rPr lang="fr-FR" sz="2000" b="1" dirty="0">
                <a:solidFill>
                  <a:schemeClr val="tx2"/>
                </a:solidFill>
                <a:latin typeface="Courier New" pitchFamily="49" charset="0"/>
              </a:rPr>
              <a:t>,</a:t>
            </a:r>
          </a:p>
          <a:p>
            <a:pPr eaLnBrk="1" hangingPunct="1">
              <a:lnSpc>
                <a:spcPct val="90000"/>
              </a:lnSpc>
              <a:buFont typeface="Wingdings" pitchFamily="2" charset="2"/>
              <a:buNone/>
            </a:pPr>
            <a:r>
              <a:rPr lang="fr-FR" sz="2000" b="1" dirty="0">
                <a:solidFill>
                  <a:schemeClr val="tx2"/>
                </a:solidFill>
                <a:latin typeface="Courier New" pitchFamily="49" charset="0"/>
              </a:rPr>
              <a:t>	  ……………</a:t>
            </a:r>
            <a:endParaRPr lang="fr-CA" sz="2000" b="1" dirty="0">
              <a:solidFill>
                <a:schemeClr val="tx2"/>
              </a:solidFill>
              <a:latin typeface="Courier New" pitchFamily="49" charset="0"/>
            </a:endParaRPr>
          </a:p>
        </p:txBody>
      </p:sp>
      <p:sp>
        <p:nvSpPr>
          <p:cNvPr id="35842" name="Espace réservé du numéro de diapositive 5"/>
          <p:cNvSpPr>
            <a:spLocks noGrp="1"/>
          </p:cNvSpPr>
          <p:nvPr>
            <p:ph type="sldNum" sz="quarter" idx="12"/>
          </p:nvPr>
        </p:nvSpPr>
        <p:spPr>
          <a:noFill/>
        </p:spPr>
        <p:txBody>
          <a:bodyPr/>
          <a:lstStyle/>
          <a:p>
            <a:fld id="{35BA79C2-3EC9-46FC-97C4-5095B10A8356}" type="slidenum">
              <a:rPr lang="en-US" smtClean="0"/>
              <a:pPr/>
              <a:t>21</a:t>
            </a:fld>
            <a:endParaRPr lang="en-US"/>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6135" y="1340769"/>
            <a:ext cx="3053723" cy="2164000"/>
          </a:xfrm>
          <a:prstGeom prst="rect">
            <a:avLst/>
          </a:prstGeom>
        </p:spPr>
        <p:style>
          <a:lnRef idx="1">
            <a:schemeClr val="dk1"/>
          </a:lnRef>
          <a:fillRef idx="2">
            <a:schemeClr val="dk1"/>
          </a:fillRef>
          <a:effectRef idx="1">
            <a:schemeClr val="dk1"/>
          </a:effectRef>
          <a:fontRef idx="minor">
            <a:schemeClr val="dk1"/>
          </a:fontRef>
        </p:style>
      </p:pic>
      <p:pic>
        <p:nvPicPr>
          <p:cNvPr id="3" name="Imag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0112" y="3874296"/>
            <a:ext cx="3378891" cy="2219000"/>
          </a:xfrm>
          <a:prstGeom prst="rect">
            <a:avLst/>
          </a:prstGeom>
        </p:spPr>
        <p:style>
          <a:lnRef idx="1">
            <a:schemeClr val="dk1"/>
          </a:lnRef>
          <a:fillRef idx="2">
            <a:schemeClr val="dk1"/>
          </a:fillRef>
          <a:effectRef idx="1">
            <a:schemeClr val="dk1"/>
          </a:effectRef>
          <a:fontRef idx="minor">
            <a:schemeClr val="dk1"/>
          </a:fontRef>
        </p:style>
      </p:pic>
      <p:sp>
        <p:nvSpPr>
          <p:cNvPr id="4" name="ZoneTexte 3"/>
          <p:cNvSpPr txBox="1"/>
          <p:nvPr/>
        </p:nvSpPr>
        <p:spPr>
          <a:xfrm>
            <a:off x="2195736" y="5302949"/>
            <a:ext cx="3103735" cy="646331"/>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fr-CA" dirty="0"/>
              <a:t>L’image ci contre montre une </a:t>
            </a:r>
          </a:p>
          <a:p>
            <a:r>
              <a:rPr lang="fr-CA" dirty="0"/>
              <a:t>contrainte UNIQUE composée</a:t>
            </a:r>
          </a:p>
        </p:txBody>
      </p:sp>
    </p:spTree>
    <p:extLst>
      <p:ext uri="{BB962C8B-B14F-4D97-AF65-F5344CB8AC3E}">
        <p14:creationId xmlns:p14="http://schemas.microsoft.com/office/powerpoint/2010/main" val="3517890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Clé primaire versus clé unique</a:t>
            </a:r>
          </a:p>
        </p:txBody>
      </p:sp>
      <p:pic>
        <p:nvPicPr>
          <p:cNvPr id="4" name="Espace réservé du conten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3688" y="1556792"/>
            <a:ext cx="5412316" cy="4059237"/>
          </a:xfrm>
        </p:spPr>
        <p:style>
          <a:lnRef idx="1">
            <a:schemeClr val="dk1"/>
          </a:lnRef>
          <a:fillRef idx="2">
            <a:schemeClr val="dk1"/>
          </a:fillRef>
          <a:effectRef idx="1">
            <a:schemeClr val="dk1"/>
          </a:effectRef>
          <a:fontRef idx="minor">
            <a:schemeClr val="dk1"/>
          </a:fontRef>
        </p:style>
      </p:pic>
      <p:sp>
        <p:nvSpPr>
          <p:cNvPr id="3" name="Espace réservé du numéro de diapositive 2"/>
          <p:cNvSpPr>
            <a:spLocks noGrp="1"/>
          </p:cNvSpPr>
          <p:nvPr>
            <p:ph type="sldNum" sz="quarter" idx="12"/>
          </p:nvPr>
        </p:nvSpPr>
        <p:spPr/>
        <p:txBody>
          <a:bodyPr/>
          <a:lstStyle/>
          <a:p>
            <a:fld id="{0BB7606F-3185-4DD5-A96D-8A14DE87D6B5}" type="slidenum">
              <a:rPr lang="fr-CA" smtClean="0"/>
              <a:t>22</a:t>
            </a:fld>
            <a:endParaRPr lang="fr-CA"/>
          </a:p>
        </p:txBody>
      </p:sp>
    </p:spTree>
    <p:extLst>
      <p:ext uri="{BB962C8B-B14F-4D97-AF65-F5344CB8AC3E}">
        <p14:creationId xmlns:p14="http://schemas.microsoft.com/office/powerpoint/2010/main" val="2605716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238992" y="306942"/>
            <a:ext cx="8759536" cy="662876"/>
          </a:xfrm>
        </p:spPr>
        <p:txBody>
          <a:bodyPr>
            <a:normAutofit fontScale="90000"/>
          </a:bodyPr>
          <a:lstStyle/>
          <a:p>
            <a:pPr algn="l" eaLnBrk="1" hangingPunct="1"/>
            <a:r>
              <a:rPr lang="fr-CA" sz="3400" dirty="0"/>
              <a:t>CREATE TABLE: </a:t>
            </a:r>
            <a:r>
              <a:rPr lang="fr-CA" sz="3400" i="1" dirty="0"/>
              <a:t>Contrainte de non nullité</a:t>
            </a:r>
          </a:p>
        </p:txBody>
      </p:sp>
      <p:sp>
        <p:nvSpPr>
          <p:cNvPr id="35844" name="Rectangle 3"/>
          <p:cNvSpPr>
            <a:spLocks noGrp="1" noChangeArrowheads="1"/>
          </p:cNvSpPr>
          <p:nvPr>
            <p:ph idx="1"/>
          </p:nvPr>
        </p:nvSpPr>
        <p:spPr>
          <a:xfrm>
            <a:off x="179512" y="1412776"/>
            <a:ext cx="5184576" cy="3702627"/>
          </a:xfrm>
        </p:spPr>
        <p:style>
          <a:lnRef idx="1">
            <a:schemeClr val="accent2"/>
          </a:lnRef>
          <a:fillRef idx="2">
            <a:schemeClr val="accent2"/>
          </a:fillRef>
          <a:effectRef idx="1">
            <a:schemeClr val="accent2"/>
          </a:effectRef>
          <a:fontRef idx="minor">
            <a:schemeClr val="dk1"/>
          </a:fontRef>
        </p:style>
        <p:txBody>
          <a:bodyPr>
            <a:normAutofit lnSpcReduction="10000"/>
          </a:bodyPr>
          <a:lstStyle/>
          <a:p>
            <a:pPr eaLnBrk="1" hangingPunct="1">
              <a:lnSpc>
                <a:spcPct val="90000"/>
              </a:lnSpc>
            </a:pPr>
            <a:r>
              <a:rPr lang="fr-CA" sz="1800" b="1" dirty="0"/>
              <a:t>Contrainte de non nullité:  </a:t>
            </a:r>
          </a:p>
          <a:p>
            <a:pPr lvl="1">
              <a:lnSpc>
                <a:spcPct val="90000"/>
              </a:lnSpc>
            </a:pPr>
            <a:r>
              <a:rPr lang="fr-FR" dirty="0"/>
              <a:t>la colonne pour laquelle on spécifie cette contrainte ne peut pas prendre la valeur NULL, elle doit être toujours renseignée.</a:t>
            </a:r>
          </a:p>
          <a:p>
            <a:pPr eaLnBrk="1" hangingPunct="1">
              <a:lnSpc>
                <a:spcPct val="90000"/>
              </a:lnSpc>
              <a:buFont typeface="Wingdings" pitchFamily="2" charset="2"/>
              <a:buNone/>
            </a:pPr>
            <a:endParaRPr lang="fr-FR" sz="1800" dirty="0"/>
          </a:p>
          <a:p>
            <a:pPr eaLnBrk="1" hangingPunct="1">
              <a:lnSpc>
                <a:spcPct val="90000"/>
              </a:lnSpc>
              <a:buFont typeface="Wingdings" pitchFamily="2" charset="2"/>
              <a:buNone/>
            </a:pPr>
            <a:r>
              <a:rPr lang="fr-FR" sz="1800" dirty="0"/>
              <a:t>     ex: </a:t>
            </a:r>
            <a:r>
              <a:rPr lang="fr-CA" sz="1800" dirty="0"/>
              <a:t>Coureur</a:t>
            </a:r>
            <a:r>
              <a:rPr lang="fr-CA" sz="1800" b="1" dirty="0"/>
              <a:t> </a:t>
            </a:r>
            <a:r>
              <a:rPr lang="fr-CA" sz="1800" dirty="0"/>
              <a:t>(</a:t>
            </a:r>
            <a:r>
              <a:rPr lang="fr-CA" sz="1800" u="sng" dirty="0"/>
              <a:t>idCoureur</a:t>
            </a:r>
            <a:r>
              <a:rPr lang="fr-CA" sz="1800" dirty="0"/>
              <a:t>, nomCoureur, prenomCoureur, </a:t>
            </a:r>
            <a:r>
              <a:rPr lang="fr-CA" sz="1800" dirty="0" err="1"/>
              <a:t>sexeCoureur</a:t>
            </a:r>
            <a:r>
              <a:rPr lang="fr-CA" sz="1800" dirty="0"/>
              <a:t>,  …)</a:t>
            </a:r>
          </a:p>
          <a:p>
            <a:pPr eaLnBrk="1" hangingPunct="1">
              <a:lnSpc>
                <a:spcPct val="90000"/>
              </a:lnSpc>
              <a:buFont typeface="Wingdings" pitchFamily="2" charset="2"/>
              <a:buNone/>
            </a:pPr>
            <a:r>
              <a:rPr lang="fr-FR" sz="1800" dirty="0"/>
              <a:t>    Le nom d’un coureur doit être connu lors de l’inscription:</a:t>
            </a:r>
          </a:p>
          <a:p>
            <a:pPr eaLnBrk="1" hangingPunct="1">
              <a:lnSpc>
                <a:spcPct val="90000"/>
              </a:lnSpc>
              <a:buFont typeface="Wingdings" pitchFamily="2" charset="2"/>
              <a:buNone/>
            </a:pPr>
            <a:endParaRPr lang="fr-FR" sz="1800" dirty="0"/>
          </a:p>
          <a:p>
            <a:pPr eaLnBrk="1" hangingPunct="1">
              <a:lnSpc>
                <a:spcPct val="90000"/>
              </a:lnSpc>
              <a:buFont typeface="Wingdings" pitchFamily="2" charset="2"/>
              <a:buNone/>
            </a:pPr>
            <a:r>
              <a:rPr lang="fr-FR" sz="1800" dirty="0"/>
              <a:t>   </a:t>
            </a:r>
            <a:r>
              <a:rPr lang="fr-CA" sz="1800" b="1" dirty="0" err="1"/>
              <a:t>nomCoureur</a:t>
            </a:r>
            <a:r>
              <a:rPr lang="fr-CA" sz="1800" b="1" dirty="0"/>
              <a:t>   VARCHAR (20)    NOT NULL</a:t>
            </a:r>
          </a:p>
          <a:p>
            <a:pPr eaLnBrk="1" hangingPunct="1">
              <a:lnSpc>
                <a:spcPct val="90000"/>
              </a:lnSpc>
              <a:buFont typeface="Wingdings" pitchFamily="2" charset="2"/>
              <a:buNone/>
            </a:pPr>
            <a:endParaRPr lang="fr-CA" sz="1800" dirty="0"/>
          </a:p>
        </p:txBody>
      </p:sp>
      <p:sp>
        <p:nvSpPr>
          <p:cNvPr id="35842" name="Espace réservé du numéro de diapositive 5"/>
          <p:cNvSpPr>
            <a:spLocks noGrp="1"/>
          </p:cNvSpPr>
          <p:nvPr>
            <p:ph type="sldNum" sz="quarter" idx="12"/>
          </p:nvPr>
        </p:nvSpPr>
        <p:spPr>
          <a:noFill/>
        </p:spPr>
        <p:txBody>
          <a:bodyPr/>
          <a:lstStyle/>
          <a:p>
            <a:fld id="{35BA79C2-3EC9-46FC-97C4-5095B10A8356}" type="slidenum">
              <a:rPr lang="en-US" smtClean="0"/>
              <a:pPr/>
              <a:t>23</a:t>
            </a:fld>
            <a:endParaRPr lang="en-US"/>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5890" y="2310103"/>
            <a:ext cx="3403310" cy="2271025"/>
          </a:xfrm>
          <a:prstGeom prst="rect">
            <a:avLst/>
          </a:prstGeom>
        </p:spPr>
        <p:style>
          <a:lnRef idx="1">
            <a:schemeClr val="dk1"/>
          </a:lnRef>
          <a:fillRef idx="2">
            <a:schemeClr val="dk1"/>
          </a:fillRef>
          <a:effectRef idx="1">
            <a:schemeClr val="dk1"/>
          </a:effectRef>
          <a:fontRef idx="minor">
            <a:schemeClr val="dk1"/>
          </a:fontRef>
        </p:style>
      </p:pic>
      <p:sp>
        <p:nvSpPr>
          <p:cNvPr id="5" name="Rectangle 4"/>
          <p:cNvSpPr/>
          <p:nvPr/>
        </p:nvSpPr>
        <p:spPr>
          <a:xfrm>
            <a:off x="3923928" y="5003762"/>
            <a:ext cx="1363766" cy="116955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ctr"/>
            <a:r>
              <a:rPr lang="fr-CA" sz="1400" dirty="0">
                <a:solidFill>
                  <a:srgbClr val="FF0000"/>
                </a:solidFill>
              </a:rPr>
              <a:t>La contrainte n’a pas de nom. Possible mais non recommandé </a:t>
            </a:r>
          </a:p>
        </p:txBody>
      </p:sp>
      <p:sp>
        <p:nvSpPr>
          <p:cNvPr id="6" name="Flèche vers le haut 5"/>
          <p:cNvSpPr/>
          <p:nvPr/>
        </p:nvSpPr>
        <p:spPr>
          <a:xfrm>
            <a:off x="4355976" y="4725144"/>
            <a:ext cx="173182" cy="31394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730969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CREATE TABLE: </a:t>
            </a:r>
            <a:r>
              <a:rPr lang="fr-CA" i="1" dirty="0"/>
              <a:t>Contrainte d’intégrité référentielle</a:t>
            </a:r>
            <a:endParaRPr lang="fr-CA" dirty="0"/>
          </a:p>
        </p:txBody>
      </p:sp>
      <p:pic>
        <p:nvPicPr>
          <p:cNvPr id="4" name="Espace réservé du conten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4419" y="1796618"/>
            <a:ext cx="5029199" cy="4243964"/>
          </a:xfrm>
        </p:spPr>
        <p:style>
          <a:lnRef idx="1">
            <a:schemeClr val="dk1"/>
          </a:lnRef>
          <a:fillRef idx="2">
            <a:schemeClr val="dk1"/>
          </a:fillRef>
          <a:effectRef idx="1">
            <a:schemeClr val="dk1"/>
          </a:effectRef>
          <a:fontRef idx="minor">
            <a:schemeClr val="dk1"/>
          </a:fontRef>
        </p:style>
      </p:pic>
      <p:sp>
        <p:nvSpPr>
          <p:cNvPr id="7" name="ZoneTexte 6"/>
          <p:cNvSpPr txBox="1"/>
          <p:nvPr/>
        </p:nvSpPr>
        <p:spPr>
          <a:xfrm>
            <a:off x="323528" y="3140968"/>
            <a:ext cx="3042564" cy="646331"/>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fr-CA" dirty="0"/>
              <a:t>Exemple qui illustre le rôle de </a:t>
            </a:r>
          </a:p>
          <a:p>
            <a:r>
              <a:rPr lang="fr-CA" dirty="0"/>
              <a:t>l’intégrité référentielle</a:t>
            </a:r>
          </a:p>
        </p:txBody>
      </p:sp>
      <p:sp>
        <p:nvSpPr>
          <p:cNvPr id="3" name="Espace réservé du numéro de diapositive 2"/>
          <p:cNvSpPr>
            <a:spLocks noGrp="1"/>
          </p:cNvSpPr>
          <p:nvPr>
            <p:ph type="sldNum" sz="quarter" idx="12"/>
          </p:nvPr>
        </p:nvSpPr>
        <p:spPr/>
        <p:txBody>
          <a:bodyPr/>
          <a:lstStyle/>
          <a:p>
            <a:fld id="{0BB7606F-3185-4DD5-A96D-8A14DE87D6B5}" type="slidenum">
              <a:rPr lang="fr-CA" smtClean="0"/>
              <a:t>24</a:t>
            </a:fld>
            <a:endParaRPr lang="fr-CA"/>
          </a:p>
        </p:txBody>
      </p:sp>
    </p:spTree>
    <p:extLst>
      <p:ext uri="{BB962C8B-B14F-4D97-AF65-F5344CB8AC3E}">
        <p14:creationId xmlns:p14="http://schemas.microsoft.com/office/powerpoint/2010/main" val="1748026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CREATE TABLE: </a:t>
            </a:r>
            <a:r>
              <a:rPr lang="fr-CA" i="1" dirty="0"/>
              <a:t>Contrainte d’intégrité référentielle</a:t>
            </a:r>
            <a:endParaRPr lang="fr-CA" dirty="0"/>
          </a:p>
        </p:txBody>
      </p:sp>
      <p:sp>
        <p:nvSpPr>
          <p:cNvPr id="3" name="Espace réservé du contenu 2"/>
          <p:cNvSpPr>
            <a:spLocks noGrp="1"/>
          </p:cNvSpPr>
          <p:nvPr>
            <p:ph idx="1"/>
          </p:nvPr>
        </p:nvSpPr>
        <p:spPr>
          <a:xfrm>
            <a:off x="395537" y="2537690"/>
            <a:ext cx="3421392" cy="2246747"/>
          </a:xfrm>
        </p:spPr>
        <p:style>
          <a:lnRef idx="1">
            <a:schemeClr val="accent2"/>
          </a:lnRef>
          <a:fillRef idx="2">
            <a:schemeClr val="accent2"/>
          </a:fillRef>
          <a:effectRef idx="1">
            <a:schemeClr val="accent2"/>
          </a:effectRef>
          <a:fontRef idx="minor">
            <a:schemeClr val="dk1"/>
          </a:fontRef>
        </p:style>
        <p:txBody>
          <a:bodyPr>
            <a:normAutofit fontScale="92500" lnSpcReduction="20000"/>
          </a:bodyPr>
          <a:lstStyle/>
          <a:p>
            <a:r>
              <a:rPr lang="fr-CA" dirty="0"/>
              <a:t>L’image ci-contre montre un exemple de contrainte référentielle à l’intérieur de la même table: </a:t>
            </a:r>
          </a:p>
          <a:p>
            <a:pPr lvl="1"/>
            <a:r>
              <a:rPr lang="fr-CA" dirty="0"/>
              <a:t>Un manager doit être un employé</a:t>
            </a:r>
          </a:p>
          <a:p>
            <a:endParaRPr lang="fr-CA" dirty="0"/>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2548" y="2060719"/>
            <a:ext cx="4600575" cy="3438525"/>
          </a:xfrm>
          <a:prstGeom prst="rect">
            <a:avLst/>
          </a:prstGeom>
        </p:spPr>
        <p:style>
          <a:lnRef idx="1">
            <a:schemeClr val="dk1"/>
          </a:lnRef>
          <a:fillRef idx="2">
            <a:schemeClr val="dk1"/>
          </a:fillRef>
          <a:effectRef idx="1">
            <a:schemeClr val="dk1"/>
          </a:effectRef>
          <a:fontRef idx="minor">
            <a:schemeClr val="dk1"/>
          </a:fontRef>
        </p:style>
      </p:pic>
      <p:sp>
        <p:nvSpPr>
          <p:cNvPr id="4" name="Espace réservé du numéro de diapositive 3"/>
          <p:cNvSpPr>
            <a:spLocks noGrp="1"/>
          </p:cNvSpPr>
          <p:nvPr>
            <p:ph type="sldNum" sz="quarter" idx="12"/>
          </p:nvPr>
        </p:nvSpPr>
        <p:spPr/>
        <p:txBody>
          <a:bodyPr/>
          <a:lstStyle/>
          <a:p>
            <a:fld id="{0BB7606F-3185-4DD5-A96D-8A14DE87D6B5}" type="slidenum">
              <a:rPr lang="fr-CA" smtClean="0"/>
              <a:t>25</a:t>
            </a:fld>
            <a:endParaRPr lang="fr-CA"/>
          </a:p>
        </p:txBody>
      </p:sp>
    </p:spTree>
    <p:extLst>
      <p:ext uri="{BB962C8B-B14F-4D97-AF65-F5344CB8AC3E}">
        <p14:creationId xmlns:p14="http://schemas.microsoft.com/office/powerpoint/2010/main" val="3732168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1026"/>
          <p:cNvSpPr>
            <a:spLocks noGrp="1" noChangeArrowheads="1"/>
          </p:cNvSpPr>
          <p:nvPr>
            <p:ph type="title"/>
          </p:nvPr>
        </p:nvSpPr>
        <p:spPr>
          <a:xfrm>
            <a:off x="469584" y="369455"/>
            <a:ext cx="8134090" cy="626918"/>
          </a:xfrm>
        </p:spPr>
        <p:txBody>
          <a:bodyPr>
            <a:normAutofit fontScale="90000"/>
          </a:bodyPr>
          <a:lstStyle/>
          <a:p>
            <a:pPr algn="l" eaLnBrk="1" hangingPunct="1"/>
            <a:r>
              <a:rPr lang="fr-CA" dirty="0"/>
              <a:t>CREATE TABLE: </a:t>
            </a:r>
            <a:r>
              <a:rPr lang="fr-CA" i="1" dirty="0"/>
              <a:t>Contrainte d’intégrité référentielle</a:t>
            </a:r>
            <a:endParaRPr lang="fr-CA" sz="3000" i="1" dirty="0"/>
          </a:p>
        </p:txBody>
      </p:sp>
      <p:sp>
        <p:nvSpPr>
          <p:cNvPr id="36868" name="Rectangle 1027"/>
          <p:cNvSpPr>
            <a:spLocks noGrp="1" noChangeArrowheads="1"/>
          </p:cNvSpPr>
          <p:nvPr>
            <p:ph idx="1"/>
          </p:nvPr>
        </p:nvSpPr>
        <p:spPr>
          <a:xfrm>
            <a:off x="251520" y="1352551"/>
            <a:ext cx="8568952" cy="1716409"/>
          </a:xfrm>
        </p:spPr>
        <p:txBody>
          <a:bodyPr>
            <a:normAutofit fontScale="92500" lnSpcReduction="10000"/>
          </a:bodyPr>
          <a:lstStyle/>
          <a:p>
            <a:pPr eaLnBrk="1" hangingPunct="1">
              <a:lnSpc>
                <a:spcPct val="90000"/>
              </a:lnSpc>
            </a:pPr>
            <a:r>
              <a:rPr lang="fr-CA" sz="2000" dirty="0"/>
              <a:t>Applicable à la clé étrangère; permet de maintenir la cohérence entre les enregistrements des deux tables.</a:t>
            </a:r>
          </a:p>
          <a:p>
            <a:pPr eaLnBrk="1" hangingPunct="1">
              <a:lnSpc>
                <a:spcPct val="90000"/>
              </a:lnSpc>
            </a:pPr>
            <a:r>
              <a:rPr lang="fr-CA" sz="2000" b="1" dirty="0"/>
              <a:t>Exemple</a:t>
            </a:r>
          </a:p>
          <a:p>
            <a:pPr lvl="1" eaLnBrk="1" hangingPunct="1">
              <a:lnSpc>
                <a:spcPct val="80000"/>
              </a:lnSpc>
              <a:buFont typeface="Wingdings" pitchFamily="2" charset="2"/>
              <a:buNone/>
            </a:pPr>
            <a:r>
              <a:rPr lang="fr-CA" sz="2000" b="1" dirty="0">
                <a:latin typeface="Courier New" pitchFamily="49" charset="0"/>
              </a:rPr>
              <a:t>Club</a:t>
            </a:r>
            <a:r>
              <a:rPr lang="fr-CA" sz="2000" dirty="0">
                <a:latin typeface="Courier New" pitchFamily="49" charset="0"/>
              </a:rPr>
              <a:t> (</a:t>
            </a:r>
            <a:r>
              <a:rPr lang="fr-CA" sz="2000" b="1" u="sng" dirty="0">
                <a:latin typeface="Courier New" pitchFamily="49" charset="0"/>
              </a:rPr>
              <a:t>idClub</a:t>
            </a:r>
            <a:r>
              <a:rPr lang="fr-CA" sz="2000" dirty="0">
                <a:latin typeface="Courier New" pitchFamily="49" charset="0"/>
              </a:rPr>
              <a:t>, </a:t>
            </a:r>
            <a:r>
              <a:rPr lang="fr-CA" sz="2000" dirty="0" err="1">
                <a:latin typeface="Courier New" pitchFamily="49" charset="0"/>
              </a:rPr>
              <a:t>nomClub</a:t>
            </a:r>
            <a:r>
              <a:rPr lang="fr-CA" sz="2000" dirty="0">
                <a:latin typeface="Courier New" pitchFamily="49" charset="0"/>
              </a:rPr>
              <a:t>, </a:t>
            </a:r>
            <a:r>
              <a:rPr lang="fr-CA" sz="2000" dirty="0" err="1">
                <a:latin typeface="Courier New" pitchFamily="49" charset="0"/>
              </a:rPr>
              <a:t>villeClub</a:t>
            </a:r>
            <a:r>
              <a:rPr lang="fr-CA" sz="2000" dirty="0">
                <a:latin typeface="Courier New" pitchFamily="49" charset="0"/>
              </a:rPr>
              <a:t>, </a:t>
            </a:r>
            <a:r>
              <a:rPr lang="fr-CA" sz="2000" dirty="0" err="1">
                <a:latin typeface="Courier New" pitchFamily="49" charset="0"/>
              </a:rPr>
              <a:t>fondCourse</a:t>
            </a:r>
            <a:r>
              <a:rPr lang="fr-CA" sz="2000" dirty="0">
                <a:latin typeface="Courier New" pitchFamily="49" charset="0"/>
              </a:rPr>
              <a:t>)</a:t>
            </a:r>
          </a:p>
          <a:p>
            <a:pPr lvl="1" eaLnBrk="1" hangingPunct="1">
              <a:lnSpc>
                <a:spcPct val="80000"/>
              </a:lnSpc>
              <a:buFont typeface="Wingdings" pitchFamily="2" charset="2"/>
              <a:buNone/>
            </a:pPr>
            <a:r>
              <a:rPr lang="fr-CA" sz="2000" b="1" dirty="0">
                <a:latin typeface="Courier New" pitchFamily="49" charset="0"/>
              </a:rPr>
              <a:t>Coureur</a:t>
            </a:r>
            <a:r>
              <a:rPr lang="fr-CA" sz="2000" dirty="0">
                <a:latin typeface="Courier New" pitchFamily="49" charset="0"/>
              </a:rPr>
              <a:t>(</a:t>
            </a:r>
            <a:r>
              <a:rPr lang="fr-CA" sz="2000" b="1" u="sng" dirty="0" err="1">
                <a:latin typeface="Courier New" pitchFamily="49" charset="0"/>
              </a:rPr>
              <a:t>idCoureur</a:t>
            </a:r>
            <a:r>
              <a:rPr lang="fr-CA" sz="2000" dirty="0" err="1">
                <a:latin typeface="Courier New" pitchFamily="49" charset="0"/>
              </a:rPr>
              <a:t>,nomCoureur,prenomCoureur</a:t>
            </a:r>
            <a:r>
              <a:rPr lang="fr-CA" sz="2000" dirty="0">
                <a:latin typeface="Courier New" pitchFamily="49" charset="0"/>
              </a:rPr>
              <a:t>,….,</a:t>
            </a:r>
            <a:r>
              <a:rPr lang="fr-CA" sz="2000" b="1" dirty="0">
                <a:latin typeface="Courier New" pitchFamily="49" charset="0"/>
              </a:rPr>
              <a:t>idClub</a:t>
            </a:r>
            <a:r>
              <a:rPr lang="fr-CA" sz="2000" dirty="0">
                <a:latin typeface="Courier New" pitchFamily="49" charset="0"/>
              </a:rPr>
              <a:t>)</a:t>
            </a:r>
          </a:p>
          <a:p>
            <a:pPr eaLnBrk="1" hangingPunct="1">
              <a:lnSpc>
                <a:spcPct val="90000"/>
              </a:lnSpc>
              <a:buFont typeface="Wingdings" pitchFamily="2" charset="2"/>
              <a:buNone/>
            </a:pPr>
            <a:r>
              <a:rPr lang="fr-CA" sz="2000" b="1" dirty="0">
                <a:latin typeface="Courier New" pitchFamily="49" charset="0"/>
              </a:rPr>
              <a:t>	</a:t>
            </a:r>
          </a:p>
        </p:txBody>
      </p:sp>
      <p:sp>
        <p:nvSpPr>
          <p:cNvPr id="36866" name="Espace réservé du numéro de diapositive 5"/>
          <p:cNvSpPr>
            <a:spLocks noGrp="1"/>
          </p:cNvSpPr>
          <p:nvPr>
            <p:ph type="sldNum" sz="quarter" idx="12"/>
          </p:nvPr>
        </p:nvSpPr>
        <p:spPr>
          <a:noFill/>
        </p:spPr>
        <p:txBody>
          <a:bodyPr/>
          <a:lstStyle/>
          <a:p>
            <a:fld id="{9E3609C0-0EAE-45EB-95D8-1A81AA5704F3}" type="slidenum">
              <a:rPr lang="en-US" smtClean="0"/>
              <a:pPr/>
              <a:t>26</a:t>
            </a:fld>
            <a:endParaRPr lang="en-US"/>
          </a:p>
        </p:txBody>
      </p:sp>
      <p:sp>
        <p:nvSpPr>
          <p:cNvPr id="2" name="Rectangle 1"/>
          <p:cNvSpPr/>
          <p:nvPr/>
        </p:nvSpPr>
        <p:spPr>
          <a:xfrm>
            <a:off x="251520" y="3212976"/>
            <a:ext cx="8640960" cy="203132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90000"/>
              </a:lnSpc>
            </a:pPr>
            <a:r>
              <a:rPr lang="fr-CA" sz="2400" dirty="0">
                <a:latin typeface="Courier New" pitchFamily="49" charset="0"/>
              </a:rPr>
              <a:t> </a:t>
            </a:r>
            <a:r>
              <a:rPr lang="fr-CA" sz="2400" b="1" dirty="0">
                <a:latin typeface="Courier New" pitchFamily="49" charset="0"/>
              </a:rPr>
              <a:t>CREATE</a:t>
            </a:r>
            <a:r>
              <a:rPr lang="fr-CA" sz="2400" dirty="0">
                <a:latin typeface="Courier New" pitchFamily="49" charset="0"/>
              </a:rPr>
              <a:t> </a:t>
            </a:r>
            <a:r>
              <a:rPr lang="fr-CA" sz="2400" b="1" dirty="0">
                <a:latin typeface="Courier New" pitchFamily="49" charset="0"/>
              </a:rPr>
              <a:t>TABLE</a:t>
            </a:r>
            <a:r>
              <a:rPr lang="fr-CA" sz="2400" dirty="0">
                <a:latin typeface="Courier New" pitchFamily="49" charset="0"/>
              </a:rPr>
              <a:t> Coureur</a:t>
            </a:r>
          </a:p>
          <a:p>
            <a:pPr>
              <a:lnSpc>
                <a:spcPct val="90000"/>
              </a:lnSpc>
            </a:pPr>
            <a:r>
              <a:rPr lang="fr-CA" sz="2400" b="1" dirty="0">
                <a:latin typeface="Courier New" pitchFamily="49" charset="0"/>
              </a:rPr>
              <a:t>(</a:t>
            </a:r>
          </a:p>
          <a:p>
            <a:pPr>
              <a:lnSpc>
                <a:spcPct val="90000"/>
              </a:lnSpc>
            </a:pPr>
            <a:r>
              <a:rPr lang="fr-CA" sz="2400" dirty="0">
                <a:latin typeface="Courier New" pitchFamily="49" charset="0"/>
              </a:rPr>
              <a:t>  ………………………………….,</a:t>
            </a:r>
          </a:p>
          <a:p>
            <a:pPr>
              <a:lnSpc>
                <a:spcPct val="90000"/>
              </a:lnSpc>
            </a:pPr>
            <a:r>
              <a:rPr lang="fr-CA" sz="2400" dirty="0">
                <a:latin typeface="Courier New" pitchFamily="49" charset="0"/>
              </a:rPr>
              <a:t>  </a:t>
            </a:r>
            <a:r>
              <a:rPr lang="fr-CA" sz="2000" dirty="0" err="1">
                <a:latin typeface="Courier New" pitchFamily="49" charset="0"/>
              </a:rPr>
              <a:t>idClub</a:t>
            </a:r>
            <a:r>
              <a:rPr lang="fr-CA" sz="2000" dirty="0">
                <a:latin typeface="Courier New" pitchFamily="49" charset="0"/>
              </a:rPr>
              <a:t> </a:t>
            </a:r>
            <a:r>
              <a:rPr lang="fr-CA" sz="2000" b="1" dirty="0" err="1">
                <a:latin typeface="Courier New" pitchFamily="49" charset="0"/>
              </a:rPr>
              <a:t>int</a:t>
            </a:r>
            <a:r>
              <a:rPr lang="fr-CA" sz="2000" b="1" dirty="0">
                <a:latin typeface="Courier New" pitchFamily="49" charset="0"/>
              </a:rPr>
              <a:t> </a:t>
            </a:r>
            <a:r>
              <a:rPr lang="fr-CA" sz="1600" b="1" dirty="0">
                <a:solidFill>
                  <a:srgbClr val="FF0000"/>
                </a:solidFill>
                <a:latin typeface="Courier New" pitchFamily="49" charset="0"/>
              </a:rPr>
              <a:t>CONSTRAINT </a:t>
            </a:r>
            <a:r>
              <a:rPr lang="fr-CA" sz="1600" b="1" dirty="0" err="1">
                <a:solidFill>
                  <a:srgbClr val="FF0000"/>
                </a:solidFill>
                <a:latin typeface="Courier New" pitchFamily="49" charset="0"/>
              </a:rPr>
              <a:t>fk_coureur_club</a:t>
            </a:r>
            <a:r>
              <a:rPr lang="fr-CA" sz="1600" b="1" dirty="0">
                <a:solidFill>
                  <a:srgbClr val="FF0000"/>
                </a:solidFill>
                <a:latin typeface="Courier New" pitchFamily="49" charset="0"/>
              </a:rPr>
              <a:t>  REFERENCES Club(</a:t>
            </a:r>
            <a:r>
              <a:rPr lang="fr-CA" sz="1600" b="1" dirty="0" err="1">
                <a:solidFill>
                  <a:srgbClr val="FF0000"/>
                </a:solidFill>
                <a:latin typeface="Courier New" pitchFamily="49" charset="0"/>
              </a:rPr>
              <a:t>idClub</a:t>
            </a:r>
            <a:r>
              <a:rPr lang="fr-CA" sz="1600" dirty="0">
                <a:solidFill>
                  <a:srgbClr val="FF0000"/>
                </a:solidFill>
                <a:latin typeface="Courier New" pitchFamily="49" charset="0"/>
              </a:rPr>
              <a:t>)</a:t>
            </a:r>
            <a:r>
              <a:rPr lang="fr-CA" sz="1600" dirty="0">
                <a:latin typeface="Courier New" pitchFamily="49" charset="0"/>
              </a:rPr>
              <a:t>,</a:t>
            </a:r>
          </a:p>
          <a:p>
            <a:pPr>
              <a:lnSpc>
                <a:spcPct val="90000"/>
              </a:lnSpc>
            </a:pPr>
            <a:r>
              <a:rPr lang="fr-CA" sz="2000" dirty="0">
                <a:solidFill>
                  <a:srgbClr val="FF0000"/>
                </a:solidFill>
                <a:latin typeface="Courier New" pitchFamily="49" charset="0"/>
              </a:rPr>
              <a:t>   </a:t>
            </a:r>
            <a:r>
              <a:rPr lang="fr-CA" sz="2000" dirty="0">
                <a:latin typeface="Courier New" pitchFamily="49" charset="0"/>
              </a:rPr>
              <a:t>……………</a:t>
            </a:r>
          </a:p>
          <a:p>
            <a:pPr>
              <a:lnSpc>
                <a:spcPct val="90000"/>
              </a:lnSpc>
            </a:pPr>
            <a:r>
              <a:rPr lang="fr-CA" sz="2400" dirty="0">
                <a:latin typeface="Courier New" pitchFamily="49" charset="0"/>
              </a:rPr>
              <a:t>   </a:t>
            </a:r>
            <a:r>
              <a:rPr lang="fr-CA" sz="2400" b="1" dirty="0">
                <a:latin typeface="Courier New" pitchFamily="49" charset="0"/>
              </a:rPr>
              <a:t>);</a:t>
            </a:r>
            <a:endParaRPr lang="fr-CA" dirty="0"/>
          </a:p>
        </p:txBody>
      </p:sp>
    </p:spTree>
    <p:extLst>
      <p:ext uri="{BB962C8B-B14F-4D97-AF65-F5344CB8AC3E}">
        <p14:creationId xmlns:p14="http://schemas.microsoft.com/office/powerpoint/2010/main" val="4099116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323528" y="260648"/>
            <a:ext cx="8197017" cy="831553"/>
          </a:xfrm>
        </p:spPr>
        <p:txBody>
          <a:bodyPr>
            <a:noAutofit/>
          </a:bodyPr>
          <a:lstStyle/>
          <a:p>
            <a:pPr algn="l" eaLnBrk="1" hangingPunct="1"/>
            <a:r>
              <a:rPr lang="fr-CA" sz="2800" dirty="0"/>
              <a:t>CREATE TABLE: C</a:t>
            </a:r>
            <a:r>
              <a:rPr lang="fr-CA" sz="2800" i="1" dirty="0"/>
              <a:t>ontrainte de clé primaire (composée)</a:t>
            </a:r>
          </a:p>
        </p:txBody>
      </p:sp>
      <p:sp>
        <p:nvSpPr>
          <p:cNvPr id="38916" name="Rectangle 3"/>
          <p:cNvSpPr>
            <a:spLocks noGrp="1" noChangeArrowheads="1"/>
          </p:cNvSpPr>
          <p:nvPr>
            <p:ph idx="1"/>
          </p:nvPr>
        </p:nvSpPr>
        <p:spPr>
          <a:xfrm>
            <a:off x="251520" y="1170709"/>
            <a:ext cx="8640960" cy="2258291"/>
          </a:xfrm>
        </p:spPr>
        <p:txBody>
          <a:bodyPr>
            <a:noAutofit/>
          </a:bodyPr>
          <a:lstStyle/>
          <a:p>
            <a:pPr eaLnBrk="1" hangingPunct="1">
              <a:lnSpc>
                <a:spcPct val="90000"/>
              </a:lnSpc>
              <a:spcAft>
                <a:spcPts val="0"/>
              </a:spcAft>
            </a:pPr>
            <a:r>
              <a:rPr lang="fr-CA" sz="1600" b="1" dirty="0"/>
              <a:t>Clé primaire composée</a:t>
            </a:r>
          </a:p>
          <a:p>
            <a:pPr eaLnBrk="1" hangingPunct="1">
              <a:lnSpc>
                <a:spcPct val="90000"/>
              </a:lnSpc>
              <a:spcAft>
                <a:spcPts val="0"/>
              </a:spcAft>
            </a:pPr>
            <a:r>
              <a:rPr lang="fr-CA" sz="1600" dirty="0"/>
              <a:t>Aucune colonne faisant partie de la clé primaire composée ne peut avoir la valeur nulle (NULL).</a:t>
            </a:r>
            <a:endParaRPr lang="fr-CA" sz="1600" b="1" dirty="0"/>
          </a:p>
          <a:p>
            <a:pPr eaLnBrk="1" hangingPunct="1">
              <a:lnSpc>
                <a:spcPct val="90000"/>
              </a:lnSpc>
              <a:spcAft>
                <a:spcPts val="0"/>
              </a:spcAft>
            </a:pPr>
            <a:r>
              <a:rPr lang="fr-CA" sz="1600" b="1" dirty="0"/>
              <a:t>Exemple:</a:t>
            </a:r>
          </a:p>
          <a:p>
            <a:pPr lvl="1">
              <a:lnSpc>
                <a:spcPct val="90000"/>
              </a:lnSpc>
              <a:spcAft>
                <a:spcPts val="0"/>
              </a:spcAft>
              <a:buFont typeface="Wingdings" pitchFamily="2" charset="2"/>
              <a:buNone/>
            </a:pPr>
            <a:r>
              <a:rPr lang="fr-CA" sz="1600" b="1" dirty="0"/>
              <a:t>	</a:t>
            </a:r>
            <a:r>
              <a:rPr lang="fr-CA" sz="1600" b="1" dirty="0" err="1"/>
              <a:t>resultat</a:t>
            </a:r>
            <a:r>
              <a:rPr lang="fr-CA" sz="1600" b="1" dirty="0"/>
              <a:t> (</a:t>
            </a:r>
            <a:r>
              <a:rPr lang="fr-CA" sz="1600" b="1" u="sng" dirty="0"/>
              <a:t>idCoureur</a:t>
            </a:r>
            <a:r>
              <a:rPr lang="fr-CA" sz="1600" b="1" dirty="0"/>
              <a:t>, </a:t>
            </a:r>
            <a:r>
              <a:rPr lang="fr-CA" sz="1600" b="1" u="sng" dirty="0" err="1"/>
              <a:t>idCourse</a:t>
            </a:r>
            <a:r>
              <a:rPr lang="fr-CA" sz="1600" dirty="0"/>
              <a:t>, dossard, position</a:t>
            </a:r>
            <a:r>
              <a:rPr lang="fr-CA" sz="1600" b="1" dirty="0"/>
              <a:t>)</a:t>
            </a:r>
          </a:p>
          <a:p>
            <a:pPr lvl="1">
              <a:lnSpc>
                <a:spcPct val="90000"/>
              </a:lnSpc>
              <a:spcAft>
                <a:spcPts val="0"/>
              </a:spcAft>
              <a:buFont typeface="Wingdings" pitchFamily="2" charset="2"/>
              <a:buNone/>
            </a:pPr>
            <a:r>
              <a:rPr lang="fr-CA" sz="1600" b="1" dirty="0"/>
              <a:t>	coureur </a:t>
            </a:r>
            <a:r>
              <a:rPr lang="fr-CA" sz="1600" dirty="0"/>
              <a:t>(</a:t>
            </a:r>
            <a:r>
              <a:rPr lang="fr-CA" sz="1600" b="1" u="sng" dirty="0"/>
              <a:t>idCoureur</a:t>
            </a:r>
            <a:r>
              <a:rPr lang="fr-CA" sz="1600" dirty="0"/>
              <a:t>, nomCoureur, prenomCoureur, </a:t>
            </a:r>
            <a:r>
              <a:rPr lang="fr-CA" sz="1600" dirty="0" err="1"/>
              <a:t>sexeCoureur</a:t>
            </a:r>
            <a:r>
              <a:rPr lang="fr-CA" sz="1600" dirty="0"/>
              <a:t>, </a:t>
            </a:r>
            <a:r>
              <a:rPr lang="fr-CA" sz="1600" dirty="0" err="1"/>
              <a:t>ageCoureur</a:t>
            </a:r>
            <a:r>
              <a:rPr lang="fr-CA" sz="1600" dirty="0"/>
              <a:t>,…)</a:t>
            </a:r>
          </a:p>
          <a:p>
            <a:pPr lvl="1">
              <a:lnSpc>
                <a:spcPct val="90000"/>
              </a:lnSpc>
              <a:spcAft>
                <a:spcPts val="0"/>
              </a:spcAft>
              <a:buFont typeface="Wingdings" pitchFamily="2" charset="2"/>
              <a:buNone/>
            </a:pPr>
            <a:r>
              <a:rPr lang="fr-CA" sz="1600" dirty="0"/>
              <a:t>	</a:t>
            </a:r>
            <a:r>
              <a:rPr lang="fr-CA" sz="1600" b="1" dirty="0"/>
              <a:t>course</a:t>
            </a:r>
            <a:r>
              <a:rPr lang="fr-CA" sz="1600" dirty="0"/>
              <a:t> (</a:t>
            </a:r>
            <a:r>
              <a:rPr lang="fr-CA" sz="1600" b="1" u="sng" dirty="0" err="1"/>
              <a:t>idcourse</a:t>
            </a:r>
            <a:r>
              <a:rPr lang="fr-CA" sz="1600" dirty="0"/>
              <a:t>, </a:t>
            </a:r>
            <a:r>
              <a:rPr lang="fr-CA" sz="1600" dirty="0" err="1"/>
              <a:t>typecourse</a:t>
            </a:r>
            <a:r>
              <a:rPr lang="fr-CA" sz="1600" dirty="0"/>
              <a:t>, distance)</a:t>
            </a:r>
          </a:p>
          <a:p>
            <a:pPr>
              <a:lnSpc>
                <a:spcPct val="90000"/>
              </a:lnSpc>
            </a:pPr>
            <a:r>
              <a:rPr lang="fr-CA" sz="1600" b="1" dirty="0"/>
              <a:t>Contrainte clé primaire définie au niveau de la table </a:t>
            </a:r>
            <a:r>
              <a:rPr lang="fr-CA" sz="1600" b="1" dirty="0">
                <a:solidFill>
                  <a:srgbClr val="FF0000"/>
                </a:solidFill>
              </a:rPr>
              <a:t>OBLIGATOIREMENT</a:t>
            </a:r>
            <a:r>
              <a:rPr lang="fr-CA" sz="1600" b="1" dirty="0"/>
              <a:t> car elle implique plus qu’une colonne</a:t>
            </a:r>
            <a:r>
              <a:rPr lang="fr-CA" sz="1600" dirty="0">
                <a:latin typeface="Courier New" pitchFamily="49" charset="0"/>
              </a:rPr>
              <a:t>	</a:t>
            </a:r>
          </a:p>
          <a:p>
            <a:pPr lvl="1" eaLnBrk="1" hangingPunct="1">
              <a:lnSpc>
                <a:spcPct val="80000"/>
              </a:lnSpc>
              <a:buFont typeface="Wingdings" pitchFamily="2" charset="2"/>
              <a:buNone/>
            </a:pPr>
            <a:endParaRPr lang="fr-CA" sz="1600" dirty="0">
              <a:latin typeface="Courier New" pitchFamily="49" charset="0"/>
            </a:endParaRPr>
          </a:p>
        </p:txBody>
      </p:sp>
      <p:sp>
        <p:nvSpPr>
          <p:cNvPr id="38914" name="Espace réservé du numéro de diapositive 5"/>
          <p:cNvSpPr>
            <a:spLocks noGrp="1"/>
          </p:cNvSpPr>
          <p:nvPr>
            <p:ph type="sldNum" sz="quarter" idx="12"/>
          </p:nvPr>
        </p:nvSpPr>
        <p:spPr>
          <a:noFill/>
        </p:spPr>
        <p:txBody>
          <a:bodyPr/>
          <a:lstStyle/>
          <a:p>
            <a:fld id="{B2C5D3E5-9765-4239-843C-031179EF6426}" type="slidenum">
              <a:rPr lang="en-US" smtClean="0"/>
              <a:pPr/>
              <a:t>27</a:t>
            </a:fld>
            <a:endParaRPr lang="en-US"/>
          </a:p>
        </p:txBody>
      </p:sp>
      <p:sp>
        <p:nvSpPr>
          <p:cNvPr id="2" name="Rectangle 1"/>
          <p:cNvSpPr/>
          <p:nvPr/>
        </p:nvSpPr>
        <p:spPr>
          <a:xfrm>
            <a:off x="179511" y="3573016"/>
            <a:ext cx="8473477" cy="276498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lvl="1">
              <a:lnSpc>
                <a:spcPct val="80000"/>
              </a:lnSpc>
            </a:pPr>
            <a:r>
              <a:rPr lang="fr-CA" b="1" dirty="0">
                <a:latin typeface="Courier New" pitchFamily="49" charset="0"/>
              </a:rPr>
              <a:t>CREATE</a:t>
            </a:r>
            <a:r>
              <a:rPr lang="fr-CA" dirty="0">
                <a:latin typeface="Courier New" pitchFamily="49" charset="0"/>
              </a:rPr>
              <a:t> </a:t>
            </a:r>
            <a:r>
              <a:rPr lang="fr-CA" b="1" dirty="0">
                <a:latin typeface="Courier New" pitchFamily="49" charset="0"/>
              </a:rPr>
              <a:t>TABLE</a:t>
            </a:r>
            <a:r>
              <a:rPr lang="fr-CA" dirty="0">
                <a:latin typeface="Courier New" pitchFamily="49" charset="0"/>
              </a:rPr>
              <a:t> </a:t>
            </a:r>
            <a:r>
              <a:rPr lang="fr-CA" dirty="0" err="1">
                <a:latin typeface="Courier New" pitchFamily="49" charset="0"/>
              </a:rPr>
              <a:t>Resultat</a:t>
            </a:r>
            <a:r>
              <a:rPr lang="fr-CA" dirty="0">
                <a:latin typeface="Courier New" pitchFamily="49" charset="0"/>
              </a:rPr>
              <a:t>( </a:t>
            </a:r>
            <a:r>
              <a:rPr lang="fr-CA" b="1" dirty="0">
                <a:latin typeface="Courier New" pitchFamily="49" charset="0"/>
              </a:rPr>
              <a:t>	</a:t>
            </a:r>
          </a:p>
          <a:p>
            <a:pPr lvl="1">
              <a:lnSpc>
                <a:spcPct val="80000"/>
              </a:lnSpc>
            </a:pPr>
            <a:r>
              <a:rPr lang="fr-CA" dirty="0">
                <a:latin typeface="Courier New" pitchFamily="49" charset="0"/>
              </a:rPr>
              <a:t> </a:t>
            </a:r>
            <a:r>
              <a:rPr lang="fr-CA" dirty="0" err="1">
                <a:latin typeface="Courier New" pitchFamily="49" charset="0"/>
              </a:rPr>
              <a:t>idCoureur</a:t>
            </a:r>
            <a:r>
              <a:rPr lang="fr-CA" dirty="0">
                <a:latin typeface="Courier New" pitchFamily="49" charset="0"/>
              </a:rPr>
              <a:t>   </a:t>
            </a:r>
            <a:r>
              <a:rPr lang="fr-CA" b="1" dirty="0">
                <a:latin typeface="Courier New" pitchFamily="49" charset="0"/>
              </a:rPr>
              <a:t>INTEGER</a:t>
            </a:r>
            <a:r>
              <a:rPr lang="en-US" dirty="0">
                <a:latin typeface="Courier New" pitchFamily="49" charset="0"/>
              </a:rPr>
              <a:t>    </a:t>
            </a:r>
            <a:r>
              <a:rPr lang="en-US" b="1" dirty="0">
                <a:latin typeface="Courier New" pitchFamily="49" charset="0"/>
              </a:rPr>
              <a:t>not</a:t>
            </a:r>
            <a:r>
              <a:rPr lang="en-US" i="1" dirty="0">
                <a:latin typeface="Courier New" pitchFamily="49" charset="0"/>
              </a:rPr>
              <a:t> </a:t>
            </a:r>
            <a:r>
              <a:rPr lang="en-US" b="1" dirty="0">
                <a:latin typeface="Courier New" pitchFamily="49" charset="0"/>
              </a:rPr>
              <a:t>null</a:t>
            </a:r>
            <a:r>
              <a:rPr lang="fr-CA" dirty="0">
                <a:latin typeface="Courier New" pitchFamily="49" charset="0"/>
              </a:rPr>
              <a:t>,</a:t>
            </a:r>
          </a:p>
          <a:p>
            <a:pPr lvl="1">
              <a:lnSpc>
                <a:spcPct val="80000"/>
              </a:lnSpc>
            </a:pPr>
            <a:r>
              <a:rPr lang="fr-CA" dirty="0">
                <a:latin typeface="Courier New" pitchFamily="49" charset="0"/>
              </a:rPr>
              <a:t> </a:t>
            </a:r>
            <a:r>
              <a:rPr lang="fr-CA" dirty="0" err="1">
                <a:latin typeface="Courier New" pitchFamily="49" charset="0"/>
              </a:rPr>
              <a:t>idCourse</a:t>
            </a:r>
            <a:r>
              <a:rPr lang="fr-CA" dirty="0">
                <a:latin typeface="Courier New" pitchFamily="49" charset="0"/>
              </a:rPr>
              <a:t>    </a:t>
            </a:r>
            <a:r>
              <a:rPr lang="fr-CA" b="1" dirty="0">
                <a:latin typeface="Courier New" pitchFamily="49" charset="0"/>
              </a:rPr>
              <a:t>INTEGER</a:t>
            </a:r>
            <a:r>
              <a:rPr lang="en-US" dirty="0">
                <a:latin typeface="Courier New" pitchFamily="49" charset="0"/>
              </a:rPr>
              <a:t>    </a:t>
            </a:r>
            <a:r>
              <a:rPr lang="en-US" b="1" dirty="0">
                <a:latin typeface="Courier New" pitchFamily="49" charset="0"/>
              </a:rPr>
              <a:t>not</a:t>
            </a:r>
            <a:r>
              <a:rPr lang="en-US" i="1" dirty="0">
                <a:latin typeface="Courier New" pitchFamily="49" charset="0"/>
              </a:rPr>
              <a:t> </a:t>
            </a:r>
            <a:r>
              <a:rPr lang="en-US" b="1" dirty="0">
                <a:latin typeface="Courier New" pitchFamily="49" charset="0"/>
              </a:rPr>
              <a:t>null</a:t>
            </a:r>
            <a:r>
              <a:rPr lang="fr-CA" dirty="0">
                <a:latin typeface="Courier New" pitchFamily="49" charset="0"/>
              </a:rPr>
              <a:t>,</a:t>
            </a:r>
          </a:p>
          <a:p>
            <a:pPr lvl="1">
              <a:lnSpc>
                <a:spcPct val="80000"/>
              </a:lnSpc>
            </a:pPr>
            <a:r>
              <a:rPr lang="fr-CA" dirty="0">
                <a:latin typeface="Courier New" pitchFamily="49" charset="0"/>
              </a:rPr>
              <a:t> dossard VARCHAR(20),</a:t>
            </a:r>
          </a:p>
          <a:p>
            <a:pPr lvl="1">
              <a:lnSpc>
                <a:spcPct val="80000"/>
              </a:lnSpc>
            </a:pPr>
            <a:r>
              <a:rPr lang="fr-CA" dirty="0">
                <a:latin typeface="Courier New" pitchFamily="49" charset="0"/>
              </a:rPr>
              <a:t> position INTEGER,  	 </a:t>
            </a:r>
          </a:p>
          <a:p>
            <a:pPr lvl="1">
              <a:lnSpc>
                <a:spcPct val="80000"/>
              </a:lnSpc>
            </a:pPr>
            <a:r>
              <a:rPr lang="fr-CA" b="1" dirty="0">
                <a:latin typeface="Courier New" pitchFamily="49" charset="0"/>
              </a:rPr>
              <a:t> CONSTRAINT</a:t>
            </a:r>
            <a:r>
              <a:rPr lang="fr-CA" dirty="0">
                <a:latin typeface="Courier New" pitchFamily="49" charset="0"/>
              </a:rPr>
              <a:t> </a:t>
            </a:r>
            <a:r>
              <a:rPr lang="fr-CA" dirty="0" err="1">
                <a:latin typeface="Courier New" pitchFamily="49" charset="0"/>
              </a:rPr>
              <a:t>fk_coureur_resultat</a:t>
            </a:r>
            <a:r>
              <a:rPr lang="fr-CA" dirty="0">
                <a:latin typeface="Courier New" pitchFamily="49" charset="0"/>
              </a:rPr>
              <a:t> FOREIGN KEY (</a:t>
            </a:r>
            <a:r>
              <a:rPr lang="fr-CA" dirty="0" err="1">
                <a:latin typeface="Courier New" pitchFamily="49" charset="0"/>
              </a:rPr>
              <a:t>idCoureur</a:t>
            </a:r>
            <a:r>
              <a:rPr lang="fr-CA" dirty="0">
                <a:latin typeface="Courier New" pitchFamily="49" charset="0"/>
              </a:rPr>
              <a:t>)   </a:t>
            </a:r>
          </a:p>
          <a:p>
            <a:pPr lvl="1">
              <a:lnSpc>
                <a:spcPct val="80000"/>
              </a:lnSpc>
            </a:pPr>
            <a:r>
              <a:rPr lang="fr-CA" b="1" dirty="0">
                <a:latin typeface="Courier New" pitchFamily="49" charset="0"/>
              </a:rPr>
              <a:t>				       REFERENCES</a:t>
            </a:r>
            <a:r>
              <a:rPr lang="fr-CA" dirty="0">
                <a:latin typeface="Courier New" pitchFamily="49" charset="0"/>
              </a:rPr>
              <a:t> Coureur (</a:t>
            </a:r>
            <a:r>
              <a:rPr lang="fr-CA" dirty="0" err="1">
                <a:latin typeface="Courier New" pitchFamily="49" charset="0"/>
              </a:rPr>
              <a:t>idCoureur</a:t>
            </a:r>
            <a:r>
              <a:rPr lang="fr-CA" dirty="0">
                <a:latin typeface="Courier New" pitchFamily="49" charset="0"/>
              </a:rPr>
              <a:t>), </a:t>
            </a:r>
          </a:p>
          <a:p>
            <a:pPr lvl="1">
              <a:lnSpc>
                <a:spcPct val="80000"/>
              </a:lnSpc>
            </a:pPr>
            <a:r>
              <a:rPr lang="fr-CA" b="1" dirty="0">
                <a:latin typeface="Courier New" pitchFamily="49" charset="0"/>
              </a:rPr>
              <a:t> CONSTRAINT</a:t>
            </a:r>
            <a:r>
              <a:rPr lang="fr-CA" dirty="0">
                <a:latin typeface="Courier New" pitchFamily="49" charset="0"/>
              </a:rPr>
              <a:t> </a:t>
            </a:r>
            <a:r>
              <a:rPr lang="fr-CA" dirty="0" err="1">
                <a:latin typeface="Courier New" pitchFamily="49" charset="0"/>
              </a:rPr>
              <a:t>fk_course_resultat</a:t>
            </a:r>
            <a:r>
              <a:rPr lang="en-US" dirty="0">
                <a:latin typeface="Courier New" pitchFamily="49" charset="0"/>
              </a:rPr>
              <a:t> </a:t>
            </a:r>
            <a:r>
              <a:rPr lang="en-US" b="1" dirty="0">
                <a:latin typeface="Courier New" pitchFamily="49" charset="0"/>
              </a:rPr>
              <a:t>FOREIGN</a:t>
            </a:r>
            <a:r>
              <a:rPr lang="en-US" dirty="0">
                <a:latin typeface="Courier New" pitchFamily="49" charset="0"/>
              </a:rPr>
              <a:t> </a:t>
            </a:r>
            <a:r>
              <a:rPr lang="en-US" b="1" dirty="0">
                <a:latin typeface="Courier New" pitchFamily="49" charset="0"/>
              </a:rPr>
              <a:t>KEY</a:t>
            </a:r>
            <a:r>
              <a:rPr lang="en-US" dirty="0">
                <a:latin typeface="Courier New" pitchFamily="49" charset="0"/>
              </a:rPr>
              <a:t> (</a:t>
            </a:r>
            <a:r>
              <a:rPr lang="en-US" dirty="0" err="1">
                <a:latin typeface="Courier New" pitchFamily="49" charset="0"/>
              </a:rPr>
              <a:t>idcourse</a:t>
            </a:r>
            <a:r>
              <a:rPr lang="en-US" dirty="0">
                <a:latin typeface="Courier New" pitchFamily="49" charset="0"/>
              </a:rPr>
              <a:t>)</a:t>
            </a:r>
            <a:r>
              <a:rPr lang="fr-CA" dirty="0">
                <a:latin typeface="Courier New" pitchFamily="49" charset="0"/>
              </a:rPr>
              <a:t>                                                                                 			      </a:t>
            </a:r>
            <a:r>
              <a:rPr lang="fr-CA" b="1" dirty="0">
                <a:latin typeface="Courier New" pitchFamily="49" charset="0"/>
              </a:rPr>
              <a:t>REFERENCES</a:t>
            </a:r>
            <a:r>
              <a:rPr lang="en-US" dirty="0">
                <a:latin typeface="Courier New" pitchFamily="49" charset="0"/>
              </a:rPr>
              <a:t> </a:t>
            </a:r>
            <a:r>
              <a:rPr lang="fr-CA" dirty="0">
                <a:latin typeface="Courier New" pitchFamily="49" charset="0"/>
              </a:rPr>
              <a:t>course (</a:t>
            </a:r>
            <a:r>
              <a:rPr lang="fr-CA" dirty="0" err="1">
                <a:latin typeface="Courier New" pitchFamily="49" charset="0"/>
              </a:rPr>
              <a:t>idcourse</a:t>
            </a:r>
            <a:r>
              <a:rPr lang="fr-CA" dirty="0">
                <a:latin typeface="Courier New" pitchFamily="49" charset="0"/>
              </a:rPr>
              <a:t>), </a:t>
            </a:r>
          </a:p>
          <a:p>
            <a:pPr lvl="1">
              <a:lnSpc>
                <a:spcPct val="80000"/>
              </a:lnSpc>
            </a:pPr>
            <a:r>
              <a:rPr lang="fr-CA" b="1" dirty="0">
                <a:latin typeface="Courier New" pitchFamily="49" charset="0"/>
              </a:rPr>
              <a:t> </a:t>
            </a:r>
            <a:r>
              <a:rPr lang="fr-CA" b="1" dirty="0">
                <a:solidFill>
                  <a:srgbClr val="FF0000"/>
                </a:solidFill>
                <a:latin typeface="Courier New" pitchFamily="49" charset="0"/>
              </a:rPr>
              <a:t>CONSTRAINT pk_</a:t>
            </a:r>
            <a:r>
              <a:rPr lang="en-US" b="1" dirty="0">
                <a:solidFill>
                  <a:srgbClr val="FF0000"/>
                </a:solidFill>
                <a:latin typeface="Courier New" pitchFamily="49" charset="0"/>
              </a:rPr>
              <a:t>r</a:t>
            </a:r>
            <a:r>
              <a:rPr lang="fr-CA" b="1" dirty="0" err="1">
                <a:solidFill>
                  <a:srgbClr val="FF0000"/>
                </a:solidFill>
                <a:latin typeface="Courier New" pitchFamily="49" charset="0"/>
              </a:rPr>
              <a:t>esultat</a:t>
            </a:r>
            <a:r>
              <a:rPr lang="fr-CA" b="1" dirty="0">
                <a:solidFill>
                  <a:srgbClr val="FF0000"/>
                </a:solidFill>
                <a:latin typeface="Courier New" pitchFamily="49" charset="0"/>
              </a:rPr>
              <a:t> PRIMARY KEY (</a:t>
            </a:r>
            <a:r>
              <a:rPr lang="fr-CA" b="1" dirty="0" err="1">
                <a:solidFill>
                  <a:srgbClr val="FF0000"/>
                </a:solidFill>
                <a:latin typeface="Courier New" pitchFamily="49" charset="0"/>
              </a:rPr>
              <a:t>idCoureur</a:t>
            </a:r>
            <a:r>
              <a:rPr lang="fr-CA" b="1" dirty="0">
                <a:solidFill>
                  <a:srgbClr val="FF0000"/>
                </a:solidFill>
                <a:latin typeface="Courier New" pitchFamily="49" charset="0"/>
              </a:rPr>
              <a:t>, </a:t>
            </a:r>
            <a:r>
              <a:rPr lang="fr-CA" b="1" dirty="0" err="1">
                <a:solidFill>
                  <a:srgbClr val="FF0000"/>
                </a:solidFill>
                <a:latin typeface="Courier New" pitchFamily="49" charset="0"/>
              </a:rPr>
              <a:t>idCourse</a:t>
            </a:r>
            <a:r>
              <a:rPr lang="fr-CA" b="1" dirty="0">
                <a:solidFill>
                  <a:srgbClr val="FF0000"/>
                </a:solidFill>
                <a:latin typeface="Courier New" pitchFamily="49" charset="0"/>
              </a:rPr>
              <a:t>) </a:t>
            </a:r>
            <a:r>
              <a:rPr lang="fr-CA" b="1" dirty="0">
                <a:latin typeface="Courier New" pitchFamily="49" charset="0"/>
              </a:rPr>
              <a:t>);</a:t>
            </a:r>
            <a:endParaRPr lang="fr-CA" dirty="0"/>
          </a:p>
        </p:txBody>
      </p:sp>
    </p:spTree>
    <p:extLst>
      <p:ext uri="{BB962C8B-B14F-4D97-AF65-F5344CB8AC3E}">
        <p14:creationId xmlns:p14="http://schemas.microsoft.com/office/powerpoint/2010/main" val="3006306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251520" y="116632"/>
            <a:ext cx="8511481" cy="864096"/>
          </a:xfrm>
        </p:spPr>
        <p:txBody>
          <a:bodyPr>
            <a:noAutofit/>
          </a:bodyPr>
          <a:lstStyle/>
          <a:p>
            <a:pPr algn="l" eaLnBrk="1" hangingPunct="1"/>
            <a:r>
              <a:rPr lang="fr-CA" sz="2800" dirty="0"/>
              <a:t>CREATE TABLE: C</a:t>
            </a:r>
            <a:r>
              <a:rPr lang="fr-CA" sz="2800" i="1" dirty="0"/>
              <a:t>ontrainte de vérification </a:t>
            </a:r>
            <a:br>
              <a:rPr lang="fr-CA" sz="2800" i="1" dirty="0"/>
            </a:br>
            <a:r>
              <a:rPr lang="fr-CA" sz="2800" i="1" dirty="0"/>
              <a:t>(de type check)</a:t>
            </a:r>
            <a:endParaRPr lang="en-US" sz="2800" i="1" dirty="0"/>
          </a:p>
        </p:txBody>
      </p:sp>
      <p:sp>
        <p:nvSpPr>
          <p:cNvPr id="39940" name="Rectangle 3"/>
          <p:cNvSpPr>
            <a:spLocks noGrp="1" noChangeArrowheads="1"/>
          </p:cNvSpPr>
          <p:nvPr>
            <p:ph idx="1"/>
          </p:nvPr>
        </p:nvSpPr>
        <p:spPr>
          <a:xfrm>
            <a:off x="467544" y="1340768"/>
            <a:ext cx="8192000" cy="4179841"/>
          </a:xfrm>
        </p:spPr>
        <p:txBody>
          <a:bodyPr>
            <a:noAutofit/>
          </a:bodyPr>
          <a:lstStyle/>
          <a:p>
            <a:r>
              <a:rPr lang="fr-FR" sz="2000" dirty="0"/>
              <a:t>Une contrainte de vérification permet de spécifier une condition que chaque ligne de la table doit satisfaire. Ce sont généralement des </a:t>
            </a:r>
            <a:r>
              <a:rPr lang="fr-FR" sz="2000" b="1" dirty="0"/>
              <a:t>règles métier</a:t>
            </a:r>
            <a:r>
              <a:rPr lang="fr-FR" sz="2000" dirty="0"/>
              <a:t>:</a:t>
            </a:r>
          </a:p>
          <a:p>
            <a:pPr lvl="1"/>
            <a:r>
              <a:rPr lang="fr-FR" sz="2000" dirty="0"/>
              <a:t>Exemple: une date de fin de cours doit être supérieure à une date de début de cours.</a:t>
            </a:r>
          </a:p>
          <a:p>
            <a:pPr eaLnBrk="1" hangingPunct="1">
              <a:lnSpc>
                <a:spcPct val="80000"/>
              </a:lnSpc>
            </a:pPr>
            <a:r>
              <a:rPr lang="fr-CA" sz="2000" dirty="0"/>
              <a:t>La condition utilise la même structure que les conditions dans les requêtes SQL ( clause </a:t>
            </a:r>
            <a:r>
              <a:rPr lang="fr-CA" sz="2000" dirty="0" err="1"/>
              <a:t>where</a:t>
            </a:r>
            <a:r>
              <a:rPr lang="fr-CA" sz="2000" dirty="0"/>
              <a:t> par exemple)</a:t>
            </a:r>
          </a:p>
          <a:p>
            <a:pPr eaLnBrk="1" hangingPunct="1">
              <a:lnSpc>
                <a:spcPct val="80000"/>
              </a:lnSpc>
            </a:pPr>
            <a:r>
              <a:rPr lang="fr-CA" sz="2000" dirty="0"/>
              <a:t>Une colonne peut avoir plusieurs contraintes de type check.</a:t>
            </a:r>
          </a:p>
          <a:p>
            <a:pPr eaLnBrk="1" hangingPunct="1">
              <a:lnSpc>
                <a:spcPct val="80000"/>
              </a:lnSpc>
            </a:pPr>
            <a:r>
              <a:rPr lang="fr-CA" sz="2000" dirty="0"/>
              <a:t>Exemples:</a:t>
            </a:r>
          </a:p>
          <a:p>
            <a:pPr lvl="1" eaLnBrk="1" hangingPunct="1">
              <a:lnSpc>
                <a:spcPct val="80000"/>
              </a:lnSpc>
            </a:pPr>
            <a:r>
              <a:rPr lang="en-US" sz="2000" dirty="0"/>
              <a:t>check (</a:t>
            </a:r>
            <a:r>
              <a:rPr lang="en-US" sz="2000" dirty="0" err="1"/>
              <a:t>qte</a:t>
            </a:r>
            <a:r>
              <a:rPr lang="en-US" sz="2000" dirty="0"/>
              <a:t> &gt;= 0) </a:t>
            </a:r>
          </a:p>
          <a:p>
            <a:pPr lvl="1" eaLnBrk="1" hangingPunct="1">
              <a:lnSpc>
                <a:spcPct val="80000"/>
              </a:lnSpc>
            </a:pPr>
            <a:r>
              <a:rPr lang="en-US" sz="2000" dirty="0"/>
              <a:t>check (</a:t>
            </a:r>
            <a:r>
              <a:rPr lang="en-US" sz="2000" dirty="0" err="1"/>
              <a:t>date_deb</a:t>
            </a:r>
            <a:r>
              <a:rPr lang="en-US" sz="2000" dirty="0"/>
              <a:t> &lt; </a:t>
            </a:r>
            <a:r>
              <a:rPr lang="en-US" sz="2000" dirty="0" err="1"/>
              <a:t>date_fin</a:t>
            </a:r>
            <a:r>
              <a:rPr lang="en-US" sz="2000" dirty="0"/>
              <a:t>) </a:t>
            </a:r>
          </a:p>
          <a:p>
            <a:pPr lvl="1" eaLnBrk="1" hangingPunct="1">
              <a:lnSpc>
                <a:spcPct val="80000"/>
              </a:lnSpc>
            </a:pPr>
            <a:r>
              <a:rPr lang="en-US" sz="2000" dirty="0"/>
              <a:t>check (</a:t>
            </a:r>
            <a:r>
              <a:rPr lang="en-US" sz="2000" dirty="0" err="1"/>
              <a:t>couleur</a:t>
            </a:r>
            <a:r>
              <a:rPr lang="en-US" sz="2000" dirty="0"/>
              <a:t> IN ('BLANC', 'VERT', 'ROUGE')) </a:t>
            </a:r>
            <a:endParaRPr lang="fr-CA" sz="2000" dirty="0"/>
          </a:p>
          <a:p>
            <a:pPr eaLnBrk="1" hangingPunct="1">
              <a:lnSpc>
                <a:spcPct val="80000"/>
              </a:lnSpc>
            </a:pPr>
            <a:endParaRPr lang="en-US" sz="2000" dirty="0"/>
          </a:p>
        </p:txBody>
      </p:sp>
      <p:sp>
        <p:nvSpPr>
          <p:cNvPr id="39938" name="Espace réservé du numéro de diapositive 5"/>
          <p:cNvSpPr>
            <a:spLocks noGrp="1"/>
          </p:cNvSpPr>
          <p:nvPr>
            <p:ph type="sldNum" sz="quarter" idx="12"/>
          </p:nvPr>
        </p:nvSpPr>
        <p:spPr>
          <a:noFill/>
        </p:spPr>
        <p:txBody>
          <a:bodyPr/>
          <a:lstStyle/>
          <a:p>
            <a:fld id="{B2377EE6-AD2C-4A21-A183-465BC45E9948}" type="slidenum">
              <a:rPr lang="en-US" smtClean="0"/>
              <a:pPr/>
              <a:t>28</a:t>
            </a:fld>
            <a:endParaRPr lang="en-US"/>
          </a:p>
        </p:txBody>
      </p:sp>
    </p:spTree>
    <p:extLst>
      <p:ext uri="{BB962C8B-B14F-4D97-AF65-F5344CB8AC3E}">
        <p14:creationId xmlns:p14="http://schemas.microsoft.com/office/powerpoint/2010/main" val="651701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normAutofit/>
          </a:bodyPr>
          <a:lstStyle/>
          <a:p>
            <a:pPr eaLnBrk="1" hangingPunct="1"/>
            <a:r>
              <a:rPr lang="fr-CA" dirty="0"/>
              <a:t>Exemples contraintes de type </a:t>
            </a:r>
            <a:r>
              <a:rPr lang="fr-CA" sz="4000" i="1" dirty="0"/>
              <a:t>check</a:t>
            </a:r>
            <a:endParaRPr lang="en-US" sz="4000" i="1" dirty="0"/>
          </a:p>
        </p:txBody>
      </p:sp>
      <p:sp>
        <p:nvSpPr>
          <p:cNvPr id="40962" name="Espace réservé du numéro de diapositive 5"/>
          <p:cNvSpPr>
            <a:spLocks noGrp="1"/>
          </p:cNvSpPr>
          <p:nvPr>
            <p:ph type="sldNum" sz="quarter" idx="12"/>
          </p:nvPr>
        </p:nvSpPr>
        <p:spPr>
          <a:noFill/>
        </p:spPr>
        <p:txBody>
          <a:bodyPr/>
          <a:lstStyle/>
          <a:p>
            <a:fld id="{0C6E8640-EB59-4972-97E8-8E9047CB54D0}" type="slidenum">
              <a:rPr lang="en-US" smtClean="0"/>
              <a:pPr/>
              <a:t>29</a:t>
            </a:fld>
            <a:endParaRPr lang="en-US"/>
          </a:p>
        </p:txBody>
      </p:sp>
      <p:sp>
        <p:nvSpPr>
          <p:cNvPr id="4" name="Espace réservé du contenu 3"/>
          <p:cNvSpPr>
            <a:spLocks noGrp="1"/>
          </p:cNvSpPr>
          <p:nvPr>
            <p:ph sz="quarter" idx="1"/>
          </p:nvPr>
        </p:nvSpPr>
        <p:spPr>
          <a:xfrm>
            <a:off x="360090" y="1916832"/>
            <a:ext cx="8229600" cy="1080120"/>
          </a:xfrm>
        </p:spPr>
        <p:style>
          <a:lnRef idx="1">
            <a:schemeClr val="accent2"/>
          </a:lnRef>
          <a:fillRef idx="2">
            <a:schemeClr val="accent2"/>
          </a:fillRef>
          <a:effectRef idx="1">
            <a:schemeClr val="accent2"/>
          </a:effectRef>
          <a:fontRef idx="minor">
            <a:schemeClr val="dk1"/>
          </a:fontRef>
        </p:style>
        <p:txBody>
          <a:bodyPr/>
          <a:lstStyle/>
          <a:p>
            <a:r>
              <a:rPr lang="fr-CA" dirty="0"/>
              <a:t>La contrainte suivante implémente une règle d’affaires qui exige que le salaire soit toujours &gt; à 20</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3645024"/>
            <a:ext cx="6286500" cy="735576"/>
          </a:xfrm>
          <a:prstGeom prst="rect">
            <a:avLst/>
          </a:prstGeom>
          <a:ln/>
        </p:spPr>
        <p:style>
          <a:lnRef idx="1">
            <a:schemeClr val="dk1"/>
          </a:lnRef>
          <a:fillRef idx="2">
            <a:schemeClr val="dk1"/>
          </a:fillRef>
          <a:effectRef idx="1">
            <a:schemeClr val="dk1"/>
          </a:effectRef>
          <a:fontRef idx="minor">
            <a:schemeClr val="dk1"/>
          </a:fontRef>
        </p:style>
      </p:pic>
    </p:spTree>
    <p:extLst>
      <p:ext uri="{BB962C8B-B14F-4D97-AF65-F5344CB8AC3E}">
        <p14:creationId xmlns:p14="http://schemas.microsoft.com/office/powerpoint/2010/main" val="3585442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9277" y="424962"/>
            <a:ext cx="8493368" cy="630115"/>
          </a:xfrm>
        </p:spPr>
        <p:txBody>
          <a:bodyPr>
            <a:normAutofit fontScale="90000"/>
          </a:bodyPr>
          <a:lstStyle/>
          <a:p>
            <a:r>
              <a:rPr lang="fr-CA" dirty="0"/>
              <a:t>CREATE TABLE: C</a:t>
            </a:r>
            <a:r>
              <a:rPr lang="fr-CA" i="1" dirty="0"/>
              <a:t>ontrainte de vérification (de type check)</a:t>
            </a:r>
            <a:endParaRPr lang="fr-CA" dirty="0"/>
          </a:p>
        </p:txBody>
      </p:sp>
      <p:sp>
        <p:nvSpPr>
          <p:cNvPr id="3" name="Espace réservé du contenu 2"/>
          <p:cNvSpPr>
            <a:spLocks noGrp="1"/>
          </p:cNvSpPr>
          <p:nvPr>
            <p:ph idx="1"/>
          </p:nvPr>
        </p:nvSpPr>
        <p:spPr>
          <a:xfrm>
            <a:off x="632593" y="1380758"/>
            <a:ext cx="7765322" cy="4334243"/>
          </a:xfrm>
        </p:spPr>
        <p:txBody>
          <a:bodyPr>
            <a:normAutofit fontScale="77500" lnSpcReduction="20000"/>
          </a:bodyPr>
          <a:lstStyle/>
          <a:p>
            <a:r>
              <a:rPr lang="fr-FR" dirty="0"/>
              <a:t>Pour satisfaire la contrainte, dans chaque ligne de la table, la condition doit s’évaluer à VRAIE </a:t>
            </a:r>
          </a:p>
          <a:p>
            <a:r>
              <a:rPr lang="fr-FR" dirty="0"/>
              <a:t>Lorsque le SGBD évalue une condition de contrainte de vérification pour une ligne particulière, les noms de colonne de la condition font référence aux valeurs de colonne de cette ligne.</a:t>
            </a:r>
            <a:br>
              <a:rPr lang="fr-FR" dirty="0"/>
            </a:br>
            <a:br>
              <a:rPr lang="fr-FR" dirty="0"/>
            </a:br>
            <a:r>
              <a:rPr lang="fr-FR" dirty="0"/>
              <a:t>La syntaxe pour la spécification </a:t>
            </a:r>
            <a:r>
              <a:rPr lang="fr-FR" dirty="0" err="1"/>
              <a:t>inline</a:t>
            </a:r>
            <a:r>
              <a:rPr lang="fr-FR" dirty="0"/>
              <a:t> et out-of-line des contraintes de vérification est la même. </a:t>
            </a:r>
          </a:p>
          <a:p>
            <a:pPr lvl="1"/>
            <a:r>
              <a:rPr lang="fr-FR" dirty="0"/>
              <a:t>Cependant, la spécification en ligne ne peut se référer qu'à la colonne en cours de définition, alors que la spécification hors ligne peut faire référence à plusieurs colonnes.</a:t>
            </a:r>
          </a:p>
          <a:p>
            <a:r>
              <a:rPr lang="fr-FR" dirty="0"/>
              <a:t>Le SGBD ne vérifie pas que les conditions de vérification des contraintes ne s'excluent pas ( se contredisent pas). </a:t>
            </a:r>
          </a:p>
          <a:p>
            <a:pPr lvl="1"/>
            <a:r>
              <a:rPr lang="fr-FR" dirty="0"/>
              <a:t>Donc, si vous créez plusieurs contraintes de vérification pour une colonne, il faut bien les concevoir et éviter elles ne sont pas en conflit. Ne pas supposer un ordre particulier d'évaluation des conditions.</a:t>
            </a:r>
            <a:endParaRPr lang="fr-CA" dirty="0"/>
          </a:p>
        </p:txBody>
      </p:sp>
      <p:sp>
        <p:nvSpPr>
          <p:cNvPr id="4" name="Espace réservé du numéro de diapositive 3"/>
          <p:cNvSpPr>
            <a:spLocks noGrp="1"/>
          </p:cNvSpPr>
          <p:nvPr>
            <p:ph type="sldNum" sz="quarter" idx="12"/>
          </p:nvPr>
        </p:nvSpPr>
        <p:spPr/>
        <p:txBody>
          <a:bodyPr/>
          <a:lstStyle/>
          <a:p>
            <a:fld id="{0BB7606F-3185-4DD5-A96D-8A14DE87D6B5}" type="slidenum">
              <a:rPr lang="fr-CA" smtClean="0"/>
              <a:t>30</a:t>
            </a:fld>
            <a:endParaRPr lang="fr-CA"/>
          </a:p>
        </p:txBody>
      </p:sp>
    </p:spTree>
    <p:extLst>
      <p:ext uri="{BB962C8B-B14F-4D97-AF65-F5344CB8AC3E}">
        <p14:creationId xmlns:p14="http://schemas.microsoft.com/office/powerpoint/2010/main" val="2674595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a:xfrm>
            <a:off x="395536" y="116633"/>
            <a:ext cx="8352928" cy="936103"/>
          </a:xfrm>
        </p:spPr>
        <p:txBody>
          <a:bodyPr>
            <a:normAutofit fontScale="90000"/>
          </a:bodyPr>
          <a:lstStyle/>
          <a:p>
            <a:pPr eaLnBrk="1" hangingPunct="1"/>
            <a:r>
              <a:rPr lang="fr-CA" sz="4000" dirty="0"/>
              <a:t>Ajout et suppression de contraintes</a:t>
            </a:r>
            <a:endParaRPr lang="en-US" sz="4000" dirty="0"/>
          </a:p>
        </p:txBody>
      </p:sp>
      <p:sp>
        <p:nvSpPr>
          <p:cNvPr id="41988" name="Rectangle 3"/>
          <p:cNvSpPr>
            <a:spLocks noGrp="1" noChangeArrowheads="1"/>
          </p:cNvSpPr>
          <p:nvPr>
            <p:ph idx="1"/>
          </p:nvPr>
        </p:nvSpPr>
        <p:spPr>
          <a:xfrm>
            <a:off x="1086196" y="1412776"/>
            <a:ext cx="7158211" cy="1584176"/>
          </a:xfrm>
        </p:spPr>
        <p:style>
          <a:lnRef idx="1">
            <a:schemeClr val="accent2"/>
          </a:lnRef>
          <a:fillRef idx="2">
            <a:schemeClr val="accent2"/>
          </a:fillRef>
          <a:effectRef idx="1">
            <a:schemeClr val="accent2"/>
          </a:effectRef>
          <a:fontRef idx="minor">
            <a:schemeClr val="dk1"/>
          </a:fontRef>
        </p:style>
        <p:txBody>
          <a:bodyPr>
            <a:normAutofit fontScale="92500" lnSpcReduction="20000"/>
          </a:bodyPr>
          <a:lstStyle/>
          <a:p>
            <a:pPr eaLnBrk="1" hangingPunct="1"/>
            <a:r>
              <a:rPr lang="fr-CA" sz="2000" b="1" dirty="0">
                <a:latin typeface="Courier New" pitchFamily="49" charset="0"/>
              </a:rPr>
              <a:t>ALTER</a:t>
            </a:r>
            <a:r>
              <a:rPr lang="fr-CA" sz="2000" dirty="0">
                <a:latin typeface="Courier New" pitchFamily="49" charset="0"/>
              </a:rPr>
              <a:t> </a:t>
            </a:r>
            <a:r>
              <a:rPr lang="fr-CA" sz="2000" b="1" dirty="0">
                <a:latin typeface="Courier New" pitchFamily="49" charset="0"/>
              </a:rPr>
              <a:t>TABLE</a:t>
            </a:r>
          </a:p>
          <a:p>
            <a:pPr eaLnBrk="1" hangingPunct="1">
              <a:buFont typeface="Wingdings" pitchFamily="2" charset="2"/>
              <a:buNone/>
            </a:pPr>
            <a:r>
              <a:rPr lang="fr-CA" sz="2000" b="1" dirty="0">
                <a:latin typeface="Courier New" pitchFamily="49" charset="0"/>
              </a:rPr>
              <a:t>	ADD</a:t>
            </a:r>
            <a:r>
              <a:rPr lang="fr-CA" sz="2000" dirty="0">
                <a:latin typeface="Courier New" pitchFamily="49" charset="0"/>
              </a:rPr>
              <a:t> </a:t>
            </a:r>
            <a:r>
              <a:rPr lang="fr-CA" sz="2000" b="1" dirty="0">
                <a:latin typeface="Courier New" pitchFamily="49" charset="0"/>
              </a:rPr>
              <a:t>CONSTRAINT</a:t>
            </a:r>
            <a:r>
              <a:rPr lang="fr-CA" sz="2000" dirty="0">
                <a:latin typeface="Courier New" pitchFamily="49" charset="0"/>
              </a:rPr>
              <a:t> </a:t>
            </a:r>
            <a:r>
              <a:rPr lang="fr-CA" sz="2000" dirty="0" err="1">
                <a:latin typeface="Courier New" pitchFamily="49" charset="0"/>
              </a:rPr>
              <a:t>nomcontrainte</a:t>
            </a:r>
            <a:r>
              <a:rPr lang="fr-CA" sz="2000" dirty="0">
                <a:latin typeface="Courier New" pitchFamily="49" charset="0"/>
              </a:rPr>
              <a:t> type (colonne)</a:t>
            </a:r>
          </a:p>
          <a:p>
            <a:pPr eaLnBrk="1" hangingPunct="1">
              <a:buFont typeface="Wingdings" pitchFamily="2" charset="2"/>
              <a:buNone/>
            </a:pPr>
            <a:endParaRPr lang="fr-CA" sz="2000" dirty="0">
              <a:latin typeface="Courier New" pitchFamily="49" charset="0"/>
            </a:endParaRPr>
          </a:p>
          <a:p>
            <a:pPr eaLnBrk="1" hangingPunct="1"/>
            <a:r>
              <a:rPr lang="fr-CA" sz="2000" b="1" dirty="0">
                <a:latin typeface="Courier New" pitchFamily="49" charset="0"/>
              </a:rPr>
              <a:t>ALTER</a:t>
            </a:r>
            <a:r>
              <a:rPr lang="fr-CA" sz="2000" dirty="0">
                <a:latin typeface="Courier New" pitchFamily="49" charset="0"/>
              </a:rPr>
              <a:t> </a:t>
            </a:r>
            <a:r>
              <a:rPr lang="fr-CA" sz="2000" b="1" dirty="0">
                <a:latin typeface="Courier New" pitchFamily="49" charset="0"/>
              </a:rPr>
              <a:t>TABLE</a:t>
            </a:r>
          </a:p>
          <a:p>
            <a:pPr eaLnBrk="1" hangingPunct="1">
              <a:buFont typeface="Wingdings" pitchFamily="2" charset="2"/>
              <a:buNone/>
            </a:pPr>
            <a:r>
              <a:rPr lang="fr-CA" sz="2000" b="1" dirty="0">
                <a:latin typeface="Courier New" pitchFamily="49" charset="0"/>
              </a:rPr>
              <a:t>	DROP</a:t>
            </a:r>
            <a:r>
              <a:rPr lang="fr-CA" sz="2000" dirty="0">
                <a:latin typeface="Courier New" pitchFamily="49" charset="0"/>
              </a:rPr>
              <a:t> </a:t>
            </a:r>
            <a:r>
              <a:rPr lang="fr-CA" sz="2000" b="1" dirty="0">
                <a:latin typeface="Courier New" pitchFamily="49" charset="0"/>
              </a:rPr>
              <a:t>CONSTRAINT </a:t>
            </a:r>
            <a:r>
              <a:rPr lang="fr-CA" sz="2000" b="1" dirty="0" err="1">
                <a:latin typeface="Courier New" pitchFamily="49" charset="0"/>
              </a:rPr>
              <a:t>nomContrainte</a:t>
            </a:r>
            <a:endParaRPr lang="fr-CA" sz="2000" dirty="0">
              <a:latin typeface="Courier New" pitchFamily="49" charset="0"/>
            </a:endParaRPr>
          </a:p>
          <a:p>
            <a:pPr eaLnBrk="1" hangingPunct="1">
              <a:buFont typeface="Wingdings" pitchFamily="2" charset="2"/>
              <a:buNone/>
            </a:pPr>
            <a:endParaRPr lang="en-US" sz="2000" dirty="0">
              <a:latin typeface="Courier New" pitchFamily="49" charset="0"/>
            </a:endParaRPr>
          </a:p>
        </p:txBody>
      </p:sp>
      <p:sp>
        <p:nvSpPr>
          <p:cNvPr id="41986" name="Espace réservé du numéro de diapositive 5"/>
          <p:cNvSpPr>
            <a:spLocks noGrp="1"/>
          </p:cNvSpPr>
          <p:nvPr>
            <p:ph type="sldNum" sz="quarter" idx="12"/>
          </p:nvPr>
        </p:nvSpPr>
        <p:spPr>
          <a:noFill/>
        </p:spPr>
        <p:txBody>
          <a:bodyPr/>
          <a:lstStyle/>
          <a:p>
            <a:fld id="{6EDA4C14-8173-4D7C-AFAF-0CF0C61B870E}" type="slidenum">
              <a:rPr lang="en-US" smtClean="0"/>
              <a:pPr/>
              <a:t>31</a:t>
            </a:fld>
            <a:endParaRPr lang="en-US"/>
          </a:p>
        </p:txBody>
      </p:sp>
      <p:sp>
        <p:nvSpPr>
          <p:cNvPr id="6" name="Rectangle 3"/>
          <p:cNvSpPr txBox="1">
            <a:spLocks noChangeArrowheads="1"/>
          </p:cNvSpPr>
          <p:nvPr/>
        </p:nvSpPr>
        <p:spPr>
          <a:xfrm>
            <a:off x="1475656" y="3501008"/>
            <a:ext cx="6472341" cy="2592288"/>
          </a:xfrm>
          <a:prstGeom prst="rect">
            <a:avLst/>
          </a:prstGeom>
        </p:spPr>
        <p:style>
          <a:lnRef idx="1">
            <a:schemeClr val="accent2"/>
          </a:lnRef>
          <a:fillRef idx="2">
            <a:schemeClr val="accent2"/>
          </a:fillRef>
          <a:effectRef idx="1">
            <a:schemeClr val="accent2"/>
          </a:effectRef>
          <a:fontRef idx="minor">
            <a:schemeClr val="dk1"/>
          </a:fontRef>
        </p:style>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dk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dk1"/>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dk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dk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dk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dk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dk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dk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dk1"/>
                </a:solidFill>
                <a:latin typeface="+mn-lt"/>
                <a:ea typeface="+mn-ea"/>
                <a:cs typeface="+mn-cs"/>
              </a:defRPr>
            </a:lvl9pPr>
          </a:lstStyle>
          <a:p>
            <a:r>
              <a:rPr lang="fr-CA" sz="2000" b="1" dirty="0">
                <a:latin typeface="Courier New" pitchFamily="49" charset="0"/>
              </a:rPr>
              <a:t>On ne peut pas modifier une contrainte(Il n'y a pas d'instruction ALTER CONSTRAINT).</a:t>
            </a:r>
          </a:p>
          <a:p>
            <a:r>
              <a:rPr lang="fr-CA" sz="2000" b="1" dirty="0">
                <a:latin typeface="Courier New" pitchFamily="49" charset="0"/>
              </a:rPr>
              <a:t>Si vous avez déjà une contrainte existante dans SQL Server, mais que vous devez la modifier, vous devrez la supprimer et la recréer.</a:t>
            </a:r>
            <a:endParaRPr lang="fr-CA" sz="2000" dirty="0">
              <a:latin typeface="Courier New" pitchFamily="49" charset="0"/>
            </a:endParaRPr>
          </a:p>
          <a:p>
            <a:pPr>
              <a:buFont typeface="Wingdings" pitchFamily="2" charset="2"/>
              <a:buNone/>
            </a:pPr>
            <a:endParaRPr lang="fr-CA" sz="2000" dirty="0">
              <a:latin typeface="Courier New" pitchFamily="49" charset="0"/>
            </a:endParaRPr>
          </a:p>
          <a:p>
            <a:pPr>
              <a:buFont typeface="Wingdings" pitchFamily="2" charset="2"/>
              <a:buNone/>
            </a:pPr>
            <a:endParaRPr lang="en-US" sz="2000" dirty="0">
              <a:latin typeface="Courier New" pitchFamily="49" charset="0"/>
            </a:endParaRPr>
          </a:p>
        </p:txBody>
      </p:sp>
    </p:spTree>
    <p:extLst>
      <p:ext uri="{BB962C8B-B14F-4D97-AF65-F5344CB8AC3E}">
        <p14:creationId xmlns:p14="http://schemas.microsoft.com/office/powerpoint/2010/main" val="2153634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107504" y="188640"/>
            <a:ext cx="8784976" cy="792088"/>
          </a:xfrm>
        </p:spPr>
        <p:txBody>
          <a:bodyPr>
            <a:noAutofit/>
          </a:bodyPr>
          <a:lstStyle/>
          <a:p>
            <a:pPr eaLnBrk="1" hangingPunct="1"/>
            <a:r>
              <a:rPr lang="fr-CA" sz="3000" dirty="0"/>
              <a:t>Exemple Ajout et suppression de contrainte</a:t>
            </a:r>
            <a:endParaRPr lang="en-US" sz="3000" dirty="0"/>
          </a:p>
        </p:txBody>
      </p:sp>
      <p:sp>
        <p:nvSpPr>
          <p:cNvPr id="43010" name="Espace réservé du numéro de diapositive 5"/>
          <p:cNvSpPr>
            <a:spLocks noGrp="1"/>
          </p:cNvSpPr>
          <p:nvPr>
            <p:ph type="sldNum" sz="quarter" idx="12"/>
          </p:nvPr>
        </p:nvSpPr>
        <p:spPr>
          <a:noFill/>
        </p:spPr>
        <p:txBody>
          <a:bodyPr/>
          <a:lstStyle/>
          <a:p>
            <a:fld id="{D05160A2-7479-4BB6-95C6-B3737D747275}" type="slidenum">
              <a:rPr lang="en-US" smtClean="0"/>
              <a:pPr/>
              <a:t>32</a:t>
            </a:fld>
            <a:endParaRPr lang="en-US" dirty="0"/>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600" y="1235999"/>
            <a:ext cx="8231132" cy="4857297"/>
          </a:xfrm>
          <a:prstGeom prst="rect">
            <a:avLst/>
          </a:prstGeom>
          <a:ln/>
        </p:spPr>
        <p:style>
          <a:lnRef idx="1">
            <a:schemeClr val="dk1"/>
          </a:lnRef>
          <a:fillRef idx="2">
            <a:schemeClr val="dk1"/>
          </a:fillRef>
          <a:effectRef idx="1">
            <a:schemeClr val="dk1"/>
          </a:effectRef>
          <a:fontRef idx="minor">
            <a:schemeClr val="dk1"/>
          </a:fontRef>
        </p:style>
      </p:pic>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3664647"/>
            <a:ext cx="4800600" cy="1224136"/>
          </a:xfrm>
          <a:prstGeom prst="rect">
            <a:avLst/>
          </a:prstGeom>
          <a:ln/>
        </p:spPr>
        <p:style>
          <a:lnRef idx="1">
            <a:schemeClr val="dk1"/>
          </a:lnRef>
          <a:fillRef idx="2">
            <a:schemeClr val="dk1"/>
          </a:fillRef>
          <a:effectRef idx="1">
            <a:schemeClr val="dk1"/>
          </a:effectRef>
          <a:fontRef idx="minor">
            <a:schemeClr val="dk1"/>
          </a:fontRef>
        </p:style>
      </p:pic>
    </p:spTree>
    <p:extLst>
      <p:ext uri="{BB962C8B-B14F-4D97-AF65-F5344CB8AC3E}">
        <p14:creationId xmlns:p14="http://schemas.microsoft.com/office/powerpoint/2010/main" val="31364198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107504" y="188640"/>
            <a:ext cx="8856983" cy="963726"/>
          </a:xfrm>
        </p:spPr>
        <p:txBody>
          <a:bodyPr>
            <a:noAutofit/>
          </a:bodyPr>
          <a:lstStyle/>
          <a:p>
            <a:pPr eaLnBrk="1" hangingPunct="1"/>
            <a:r>
              <a:rPr lang="fr-CA" sz="2800" dirty="0"/>
              <a:t>CREATE TABLE</a:t>
            </a:r>
            <a:br>
              <a:rPr lang="fr-CA" sz="2800" dirty="0"/>
            </a:br>
            <a:r>
              <a:rPr lang="fr-CA" sz="2800" i="1" dirty="0"/>
              <a:t>Aide mémoire pour la définition des contraintes</a:t>
            </a:r>
          </a:p>
        </p:txBody>
      </p:sp>
      <p:sp>
        <p:nvSpPr>
          <p:cNvPr id="48132" name="Rectangle 3"/>
          <p:cNvSpPr>
            <a:spLocks noGrp="1" noChangeArrowheads="1"/>
          </p:cNvSpPr>
          <p:nvPr>
            <p:ph idx="1"/>
          </p:nvPr>
        </p:nvSpPr>
        <p:spPr>
          <a:xfrm>
            <a:off x="1259632" y="1628800"/>
            <a:ext cx="6482999" cy="3803468"/>
          </a:xfrm>
        </p:spPr>
        <p:style>
          <a:lnRef idx="1">
            <a:schemeClr val="accent2"/>
          </a:lnRef>
          <a:fillRef idx="2">
            <a:schemeClr val="accent2"/>
          </a:fillRef>
          <a:effectRef idx="1">
            <a:schemeClr val="accent2"/>
          </a:effectRef>
          <a:fontRef idx="minor">
            <a:schemeClr val="dk1"/>
          </a:fontRef>
        </p:style>
        <p:txBody>
          <a:bodyPr>
            <a:normAutofit/>
          </a:bodyPr>
          <a:lstStyle/>
          <a:p>
            <a:pPr eaLnBrk="1" hangingPunct="1"/>
            <a:r>
              <a:rPr lang="fr-CA" sz="2000" dirty="0"/>
              <a:t>Contrainte définie </a:t>
            </a:r>
            <a:r>
              <a:rPr lang="fr-CA" sz="2000" b="1" u="sng" dirty="0"/>
              <a:t>toujours</a:t>
            </a:r>
            <a:r>
              <a:rPr lang="fr-CA" sz="2000" dirty="0"/>
              <a:t> au niveau colonne:</a:t>
            </a:r>
          </a:p>
          <a:p>
            <a:pPr lvl="1" eaLnBrk="1" hangingPunct="1"/>
            <a:r>
              <a:rPr lang="fr-CA" sz="2000" dirty="0"/>
              <a:t>NOT NULL</a:t>
            </a:r>
          </a:p>
          <a:p>
            <a:pPr lvl="1" eaLnBrk="1" hangingPunct="1">
              <a:buFont typeface="Wingdings" pitchFamily="2" charset="2"/>
              <a:buNone/>
            </a:pPr>
            <a:endParaRPr lang="fr-CA" sz="2000" dirty="0"/>
          </a:p>
          <a:p>
            <a:pPr eaLnBrk="1" hangingPunct="1"/>
            <a:r>
              <a:rPr lang="fr-CA" sz="2000" dirty="0"/>
              <a:t>Contraintes définies </a:t>
            </a:r>
            <a:r>
              <a:rPr lang="fr-CA" sz="2000" b="1" u="sng" dirty="0"/>
              <a:t>toujours</a:t>
            </a:r>
            <a:r>
              <a:rPr lang="fr-CA" sz="2000" dirty="0"/>
              <a:t> au niveau de la table:</a:t>
            </a:r>
          </a:p>
          <a:p>
            <a:pPr lvl="1" eaLnBrk="1" hangingPunct="1"/>
            <a:r>
              <a:rPr lang="fr-CA" sz="2000" dirty="0"/>
              <a:t>Toute contrainte qui implique deux ou plusieurs attributs de la même table</a:t>
            </a:r>
          </a:p>
          <a:p>
            <a:pPr lvl="1" eaLnBrk="1" hangingPunct="1"/>
            <a:endParaRPr lang="fr-CA" sz="2000" b="1" dirty="0"/>
          </a:p>
          <a:p>
            <a:pPr eaLnBrk="1" hangingPunct="1"/>
            <a:r>
              <a:rPr lang="fr-CA" sz="2000" dirty="0"/>
              <a:t>Contraintes définies au niveau de la </a:t>
            </a:r>
            <a:r>
              <a:rPr lang="fr-CA" sz="2000" u="sng" dirty="0"/>
              <a:t>table</a:t>
            </a:r>
            <a:r>
              <a:rPr lang="fr-CA" sz="2000" dirty="0"/>
              <a:t> ou au niveau de la </a:t>
            </a:r>
            <a:r>
              <a:rPr lang="fr-CA" sz="2000" u="sng" dirty="0"/>
              <a:t>colonne(si basées sur un seul attribut)</a:t>
            </a:r>
            <a:r>
              <a:rPr lang="fr-CA" sz="2000" dirty="0"/>
              <a:t>:</a:t>
            </a:r>
          </a:p>
          <a:p>
            <a:pPr lvl="1" eaLnBrk="1" hangingPunct="1"/>
            <a:r>
              <a:rPr lang="fr-CA" sz="2000" dirty="0"/>
              <a:t>PRIMARY KEY; FOREIGN KEY, UNIQUE, CHECK</a:t>
            </a:r>
            <a:endParaRPr lang="fr-CA" sz="2000" b="1" dirty="0"/>
          </a:p>
        </p:txBody>
      </p:sp>
      <p:sp>
        <p:nvSpPr>
          <p:cNvPr id="48130" name="Espace réservé du numéro de diapositive 5"/>
          <p:cNvSpPr>
            <a:spLocks noGrp="1"/>
          </p:cNvSpPr>
          <p:nvPr>
            <p:ph type="sldNum" sz="quarter" idx="12"/>
          </p:nvPr>
        </p:nvSpPr>
        <p:spPr>
          <a:noFill/>
        </p:spPr>
        <p:txBody>
          <a:bodyPr/>
          <a:lstStyle/>
          <a:p>
            <a:fld id="{F2BA2BC0-41C5-4A39-A737-4AD4C5139350}" type="slidenum">
              <a:rPr lang="en-US" smtClean="0"/>
              <a:pPr/>
              <a:t>33</a:t>
            </a:fld>
            <a:endParaRPr lang="en-US"/>
          </a:p>
        </p:txBody>
      </p:sp>
    </p:spTree>
    <p:extLst>
      <p:ext uri="{BB962C8B-B14F-4D97-AF65-F5344CB8AC3E}">
        <p14:creationId xmlns:p14="http://schemas.microsoft.com/office/powerpoint/2010/main" val="41302268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683568" y="260648"/>
            <a:ext cx="7765322" cy="646545"/>
          </a:xfrm>
        </p:spPr>
        <p:txBody>
          <a:bodyPr>
            <a:normAutofit fontScale="90000"/>
          </a:bodyPr>
          <a:lstStyle/>
          <a:p>
            <a:pPr eaLnBrk="1" hangingPunct="1"/>
            <a:r>
              <a:rPr lang="fr-CA" sz="2000" dirty="0"/>
              <a:t>SGBD: ORDRE DES OPÉRATIONS </a:t>
            </a:r>
            <a:br>
              <a:rPr lang="fr-CA" sz="2000" dirty="0"/>
            </a:br>
            <a:r>
              <a:rPr lang="fr-CA" sz="2000" i="1" dirty="0"/>
              <a:t>CREATE TABLE, INSERT INTO…VALUES, DROP TABLE</a:t>
            </a:r>
          </a:p>
        </p:txBody>
      </p:sp>
      <p:sp>
        <p:nvSpPr>
          <p:cNvPr id="49156" name="Rectangle 3"/>
          <p:cNvSpPr>
            <a:spLocks noGrp="1" noChangeArrowheads="1"/>
          </p:cNvSpPr>
          <p:nvPr>
            <p:ph idx="1"/>
          </p:nvPr>
        </p:nvSpPr>
        <p:spPr>
          <a:xfrm>
            <a:off x="1485900" y="1447800"/>
            <a:ext cx="6515100" cy="3964709"/>
          </a:xfrm>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pPr marL="495300" indent="-495300"/>
            <a:r>
              <a:rPr lang="fr-CA" sz="2400" dirty="0"/>
              <a:t>Lors de la création des tables de la base de données:</a:t>
            </a:r>
          </a:p>
          <a:p>
            <a:pPr marL="933450" lvl="1" indent="-476250">
              <a:buFont typeface="Times New Roman" pitchFamily="18" charset="0"/>
              <a:buAutoNum type="arabicPeriod"/>
            </a:pPr>
            <a:r>
              <a:rPr lang="fr-CA" dirty="0"/>
              <a:t>Créer les tables parent</a:t>
            </a:r>
          </a:p>
          <a:p>
            <a:pPr marL="933450" lvl="1" indent="-476250">
              <a:buFont typeface="Times New Roman" pitchFamily="18" charset="0"/>
              <a:buAutoNum type="arabicPeriod"/>
            </a:pPr>
            <a:r>
              <a:rPr lang="fr-CA" dirty="0"/>
              <a:t>Créer les tables enfant</a:t>
            </a:r>
          </a:p>
          <a:p>
            <a:pPr marL="495300" indent="-495300"/>
            <a:r>
              <a:rPr lang="fr-CA" sz="2400" dirty="0"/>
              <a:t>Lors de l’insertion des données dans les tables:</a:t>
            </a:r>
          </a:p>
          <a:p>
            <a:pPr marL="933450" lvl="1" indent="-476250">
              <a:buFont typeface="Times New Roman" pitchFamily="18" charset="0"/>
              <a:buAutoNum type="arabicPeriod"/>
            </a:pPr>
            <a:r>
              <a:rPr lang="fr-CA" dirty="0"/>
              <a:t>Insérer des données dans les tables parent</a:t>
            </a:r>
          </a:p>
          <a:p>
            <a:pPr marL="933450" lvl="1" indent="-476250">
              <a:buFont typeface="Times New Roman" pitchFamily="18" charset="0"/>
              <a:buAutoNum type="arabicPeriod"/>
            </a:pPr>
            <a:r>
              <a:rPr lang="fr-CA" dirty="0"/>
              <a:t>Insérer des données dans les tables enfant</a:t>
            </a:r>
          </a:p>
          <a:p>
            <a:pPr marL="495300" indent="-495300"/>
            <a:r>
              <a:rPr lang="fr-CA" sz="2400" dirty="0"/>
              <a:t>Lors de la suppression des tables de la base de données:</a:t>
            </a:r>
          </a:p>
          <a:p>
            <a:pPr marL="933450" lvl="1" indent="-476250">
              <a:buFont typeface="Times New Roman" pitchFamily="18" charset="0"/>
              <a:buAutoNum type="arabicPeriod"/>
            </a:pPr>
            <a:r>
              <a:rPr lang="fr-CA" dirty="0"/>
              <a:t>Supprimer les tables enfant</a:t>
            </a:r>
          </a:p>
          <a:p>
            <a:pPr marL="933450" lvl="1" indent="-476250">
              <a:buFont typeface="Times New Roman" pitchFamily="18" charset="0"/>
              <a:buAutoNum type="arabicPeriod"/>
            </a:pPr>
            <a:r>
              <a:rPr lang="fr-CA" dirty="0"/>
              <a:t>Supprimer les tables parent</a:t>
            </a:r>
          </a:p>
          <a:p>
            <a:pPr marL="933450" lvl="1" indent="-476250">
              <a:buNone/>
            </a:pPr>
            <a:endParaRPr lang="fr-CA" dirty="0"/>
          </a:p>
        </p:txBody>
      </p:sp>
      <p:sp>
        <p:nvSpPr>
          <p:cNvPr id="49154" name="Espace réservé du numéro de diapositive 5"/>
          <p:cNvSpPr>
            <a:spLocks noGrp="1"/>
          </p:cNvSpPr>
          <p:nvPr>
            <p:ph type="sldNum" sz="quarter" idx="12"/>
          </p:nvPr>
        </p:nvSpPr>
        <p:spPr>
          <a:noFill/>
        </p:spPr>
        <p:txBody>
          <a:bodyPr/>
          <a:lstStyle/>
          <a:p>
            <a:fld id="{43DA23B0-9D74-40D6-9615-62697D4752A4}" type="slidenum">
              <a:rPr lang="en-US" smtClean="0"/>
              <a:pPr/>
              <a:t>34</a:t>
            </a:fld>
            <a:endParaRPr lang="en-US"/>
          </a:p>
        </p:txBody>
      </p:sp>
    </p:spTree>
    <p:extLst>
      <p:ext uri="{BB962C8B-B14F-4D97-AF65-F5344CB8AC3E}">
        <p14:creationId xmlns:p14="http://schemas.microsoft.com/office/powerpoint/2010/main" val="31211331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a:xfrm>
            <a:off x="145474" y="370319"/>
            <a:ext cx="8749145" cy="581026"/>
          </a:xfrm>
        </p:spPr>
        <p:txBody>
          <a:bodyPr>
            <a:normAutofit fontScale="90000"/>
          </a:bodyPr>
          <a:lstStyle/>
          <a:p>
            <a:pPr eaLnBrk="1" hangingPunct="1"/>
            <a:r>
              <a:rPr lang="fr-CA" sz="2800" dirty="0"/>
              <a:t>Visualiser les contraintes(trouver de l’information sur les contraintes)</a:t>
            </a:r>
            <a:endParaRPr lang="en-US" sz="2800" dirty="0"/>
          </a:p>
        </p:txBody>
      </p:sp>
      <p:sp>
        <p:nvSpPr>
          <p:cNvPr id="50178" name="Espace réservé du numéro de diapositive 5"/>
          <p:cNvSpPr>
            <a:spLocks noGrp="1"/>
          </p:cNvSpPr>
          <p:nvPr>
            <p:ph type="sldNum" sz="quarter" idx="12"/>
          </p:nvPr>
        </p:nvSpPr>
        <p:spPr>
          <a:noFill/>
        </p:spPr>
        <p:txBody>
          <a:bodyPr/>
          <a:lstStyle/>
          <a:p>
            <a:fld id="{89C2B913-14A6-475B-B87D-B7EBC46D7FF9}" type="slidenum">
              <a:rPr lang="en-US" smtClean="0"/>
              <a:pPr/>
              <a:t>35</a:t>
            </a:fld>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1" y="1412776"/>
            <a:ext cx="3168352" cy="3390900"/>
          </a:xfrm>
          <a:prstGeom prst="rect">
            <a:avLst/>
          </a:prstGeom>
          <a:ln/>
        </p:spPr>
        <p:style>
          <a:lnRef idx="1">
            <a:schemeClr val="dk1"/>
          </a:lnRef>
          <a:fillRef idx="2">
            <a:schemeClr val="dk1"/>
          </a:fillRef>
          <a:effectRef idx="1">
            <a:schemeClr val="dk1"/>
          </a:effectRef>
          <a:fontRef idx="minor">
            <a:schemeClr val="dk1"/>
          </a:fontRef>
        </p:style>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7904" y="1700808"/>
            <a:ext cx="4893196" cy="2933700"/>
          </a:xfrm>
          <a:prstGeom prst="rect">
            <a:avLst/>
          </a:prstGeom>
          <a:ln/>
        </p:spPr>
        <p:style>
          <a:lnRef idx="1">
            <a:schemeClr val="dk1"/>
          </a:lnRef>
          <a:fillRef idx="2">
            <a:schemeClr val="dk1"/>
          </a:fillRef>
          <a:effectRef idx="1">
            <a:schemeClr val="dk1"/>
          </a:effectRef>
          <a:fontRef idx="minor">
            <a:schemeClr val="dk1"/>
          </a:fontRef>
        </p:style>
      </p:pic>
    </p:spTree>
    <p:extLst>
      <p:ext uri="{BB962C8B-B14F-4D97-AF65-F5344CB8AC3E}">
        <p14:creationId xmlns:p14="http://schemas.microsoft.com/office/powerpoint/2010/main" val="2318896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318655" y="142854"/>
            <a:ext cx="8416637" cy="722295"/>
          </a:xfrm>
        </p:spPr>
        <p:txBody>
          <a:bodyPr>
            <a:normAutofit fontScale="90000"/>
          </a:bodyPr>
          <a:lstStyle/>
          <a:p>
            <a:pPr eaLnBrk="1" hangingPunct="1"/>
            <a:r>
              <a:rPr lang="fr-CA" dirty="0"/>
              <a:t>Créer une table à l’aide d’une sous-requête</a:t>
            </a:r>
            <a:endParaRPr lang="en-US" dirty="0"/>
          </a:p>
        </p:txBody>
      </p:sp>
      <p:sp>
        <p:nvSpPr>
          <p:cNvPr id="21508" name="Rectangle 4"/>
          <p:cNvSpPr>
            <a:spLocks noGrp="1" noChangeArrowheads="1"/>
          </p:cNvSpPr>
          <p:nvPr>
            <p:ph type="body" sz="half" idx="1"/>
          </p:nvPr>
        </p:nvSpPr>
        <p:spPr>
          <a:xfrm>
            <a:off x="683568" y="1124744"/>
            <a:ext cx="7632848" cy="1503254"/>
          </a:xfrm>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pPr>
              <a:lnSpc>
                <a:spcPct val="80000"/>
              </a:lnSpc>
            </a:pPr>
            <a:r>
              <a:rPr lang="en-US" sz="2000" dirty="0"/>
              <a:t>SELECT col1, ....., </a:t>
            </a:r>
            <a:r>
              <a:rPr lang="en-US" sz="2000" dirty="0" err="1"/>
              <a:t>coln</a:t>
            </a:r>
            <a:r>
              <a:rPr lang="en-US" sz="2000" dirty="0"/>
              <a:t> </a:t>
            </a:r>
          </a:p>
          <a:p>
            <a:pPr>
              <a:lnSpc>
                <a:spcPct val="80000"/>
              </a:lnSpc>
            </a:pPr>
            <a:r>
              <a:rPr lang="en-US" sz="2000" dirty="0"/>
              <a:t>INTO [New </a:t>
            </a:r>
            <a:r>
              <a:rPr lang="en-US" sz="2000" dirty="0" err="1"/>
              <a:t>tableName</a:t>
            </a:r>
            <a:r>
              <a:rPr lang="en-US" sz="2000" dirty="0"/>
              <a:t>] </a:t>
            </a:r>
          </a:p>
          <a:p>
            <a:pPr>
              <a:lnSpc>
                <a:spcPct val="80000"/>
              </a:lnSpc>
            </a:pPr>
            <a:r>
              <a:rPr lang="en-US" sz="2000" dirty="0"/>
              <a:t>FROM [Source Table Name]</a:t>
            </a:r>
          </a:p>
          <a:p>
            <a:pPr>
              <a:lnSpc>
                <a:spcPct val="80000"/>
              </a:lnSpc>
            </a:pPr>
            <a:r>
              <a:rPr lang="en-US" sz="2000" dirty="0"/>
              <a:t>WHERE…..</a:t>
            </a:r>
          </a:p>
          <a:p>
            <a:pPr>
              <a:lnSpc>
                <a:spcPct val="80000"/>
              </a:lnSpc>
            </a:pPr>
            <a:r>
              <a:rPr lang="en-US" sz="2000" dirty="0"/>
              <a:t>……..</a:t>
            </a:r>
          </a:p>
        </p:txBody>
      </p:sp>
      <p:sp>
        <p:nvSpPr>
          <p:cNvPr id="21506" name="Espace réservé du numéro de diapositive 6"/>
          <p:cNvSpPr>
            <a:spLocks noGrp="1"/>
          </p:cNvSpPr>
          <p:nvPr>
            <p:ph type="sldNum" sz="quarter" idx="12"/>
          </p:nvPr>
        </p:nvSpPr>
        <p:spPr>
          <a:noFill/>
        </p:spPr>
        <p:txBody>
          <a:bodyPr/>
          <a:lstStyle/>
          <a:p>
            <a:fld id="{813C6729-7433-4221-B8B0-1D31107EDD53}" type="slidenum">
              <a:rPr lang="en-US" smtClean="0"/>
              <a:pPr/>
              <a:t>36</a:t>
            </a:fld>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780928"/>
            <a:ext cx="6629400" cy="3456384"/>
          </a:xfrm>
          <a:prstGeom prst="rect">
            <a:avLst/>
          </a:prstGeom>
          <a:ln/>
        </p:spPr>
        <p:style>
          <a:lnRef idx="1">
            <a:schemeClr val="dk1"/>
          </a:lnRef>
          <a:fillRef idx="2">
            <a:schemeClr val="dk1"/>
          </a:fillRef>
          <a:effectRef idx="1">
            <a:schemeClr val="dk1"/>
          </a:effectRef>
          <a:fontRef idx="minor">
            <a:schemeClr val="dk1"/>
          </a:fontRef>
        </p:style>
      </p:pic>
    </p:spTree>
    <p:extLst>
      <p:ext uri="{BB962C8B-B14F-4D97-AF65-F5344CB8AC3E}">
        <p14:creationId xmlns:p14="http://schemas.microsoft.com/office/powerpoint/2010/main" val="37109724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e">
  <a:themeElements>
    <a:clrScheme name="Civil">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rigine">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e">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35064</TotalTime>
  <Words>2095</Words>
  <Application>Microsoft Office PowerPoint</Application>
  <PresentationFormat>Affichage à l'écran (4:3)</PresentationFormat>
  <Paragraphs>310</Paragraphs>
  <Slides>36</Slides>
  <Notes>11</Notes>
  <HiddenSlides>0</HiddenSlides>
  <MMClips>0</MMClips>
  <ScaleCrop>false</ScaleCrop>
  <HeadingPairs>
    <vt:vector size="8" baseType="variant">
      <vt:variant>
        <vt:lpstr>Polices utilisées</vt:lpstr>
      </vt:variant>
      <vt:variant>
        <vt:i4>8</vt:i4>
      </vt:variant>
      <vt:variant>
        <vt:lpstr>Thème</vt:lpstr>
      </vt:variant>
      <vt:variant>
        <vt:i4>1</vt:i4>
      </vt:variant>
      <vt:variant>
        <vt:lpstr>Serveurs OLE incorporés</vt:lpstr>
      </vt:variant>
      <vt:variant>
        <vt:i4>1</vt:i4>
      </vt:variant>
      <vt:variant>
        <vt:lpstr>Titres des diapositives</vt:lpstr>
      </vt:variant>
      <vt:variant>
        <vt:i4>36</vt:i4>
      </vt:variant>
    </vt:vector>
  </HeadingPairs>
  <TitlesOfParts>
    <vt:vector size="46" baseType="lpstr">
      <vt:lpstr>Bookman Old Style</vt:lpstr>
      <vt:lpstr>Calibri</vt:lpstr>
      <vt:lpstr>Courier New</vt:lpstr>
      <vt:lpstr>Gill Sans MT</vt:lpstr>
      <vt:lpstr>Times New Roman</vt:lpstr>
      <vt:lpstr>Verdana</vt:lpstr>
      <vt:lpstr>Wingdings</vt:lpstr>
      <vt:lpstr>Wingdings 3</vt:lpstr>
      <vt:lpstr>Origine</vt:lpstr>
      <vt:lpstr>Document</vt:lpstr>
      <vt:lpstr>DDL</vt:lpstr>
      <vt:lpstr>Les catégories d'instructions   SQL</vt:lpstr>
      <vt:lpstr>Les objets qui composent d'une base de données relationnelle</vt:lpstr>
      <vt:lpstr>Règles de définition des identificateurs</vt:lpstr>
      <vt:lpstr>Langage de définition de données (LDD) CREATE; ALTER; DROP</vt:lpstr>
      <vt:lpstr>Création de tables</vt:lpstr>
      <vt:lpstr>Les types de données</vt:lpstr>
      <vt:lpstr>Exemple Create Table sans contraintes</vt:lpstr>
      <vt:lpstr>Colonnes avec valeurs par défaut</vt:lpstr>
      <vt:lpstr>Instruction ALTER TABLE</vt:lpstr>
      <vt:lpstr>Exemple Ajout, modification et suppression colonne</vt:lpstr>
      <vt:lpstr>Directives de modification de colonnes</vt:lpstr>
      <vt:lpstr>Commande DROP TABLE</vt:lpstr>
      <vt:lpstr>Les contraintes</vt:lpstr>
      <vt:lpstr>Qu’est ce que les contraintes</vt:lpstr>
      <vt:lpstr>Qu’est ce que les contraintes</vt:lpstr>
      <vt:lpstr>Directives de définition des contraintes</vt:lpstr>
      <vt:lpstr>CREATE TABLE: Contrainte de clé primaire</vt:lpstr>
      <vt:lpstr>CREATE TABLE: Contrainte de clé primaire</vt:lpstr>
      <vt:lpstr>CREATE TABLE: Contrainte de clé primaire</vt:lpstr>
      <vt:lpstr>CREATE TABLE: Contrainte d’unicité</vt:lpstr>
      <vt:lpstr>Clé primaire versus clé unique</vt:lpstr>
      <vt:lpstr>CREATE TABLE: Contrainte de non nullité</vt:lpstr>
      <vt:lpstr>CREATE TABLE: Contrainte d’intégrité référentielle</vt:lpstr>
      <vt:lpstr>CREATE TABLE: Contrainte d’intégrité référentielle</vt:lpstr>
      <vt:lpstr>CREATE TABLE: Contrainte d’intégrité référentielle</vt:lpstr>
      <vt:lpstr>CREATE TABLE: Contrainte de clé primaire (composée)</vt:lpstr>
      <vt:lpstr>CREATE TABLE: Contrainte de vérification  (de type check)</vt:lpstr>
      <vt:lpstr>Exemples contraintes de type check</vt:lpstr>
      <vt:lpstr>CREATE TABLE: Contrainte de vérification (de type check)</vt:lpstr>
      <vt:lpstr>Ajout et suppression de contraintes</vt:lpstr>
      <vt:lpstr>Exemple Ajout et suppression de contrainte</vt:lpstr>
      <vt:lpstr>CREATE TABLE Aide mémoire pour la définition des contraintes</vt:lpstr>
      <vt:lpstr>SGBD: ORDRE DES OPÉRATIONS  CREATE TABLE, INSERT INTO…VALUES, DROP TABLE</vt:lpstr>
      <vt:lpstr>Visualiser les contraintes(trouver de l’information sur les contraintes)</vt:lpstr>
      <vt:lpstr>Créer une table à l’aide d’une sous-requête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asma mokt</dc:creator>
  <cp:lastModifiedBy>Christ-Love HENRY</cp:lastModifiedBy>
  <cp:revision>140</cp:revision>
  <dcterms:created xsi:type="dcterms:W3CDTF">2022-05-20T09:44:17Z</dcterms:created>
  <dcterms:modified xsi:type="dcterms:W3CDTF">2026-04-12T03:30:09Z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615819-ba40-4aaf-a034-39fd1d37cddf_Enabled">
    <vt:lpwstr>true</vt:lpwstr>
  </property>
  <property fmtid="{D5CDD505-2E9C-101B-9397-08002B2CF9AE}" pid="3" name="MSIP_Label_6b615819-ba40-4aaf-a034-39fd1d37cddf_SetDate">
    <vt:lpwstr>2026-01-11T16:32:48Z</vt:lpwstr>
  </property>
  <property fmtid="{D5CDD505-2E9C-101B-9397-08002B2CF9AE}" pid="4" name="MSIP_Label_6b615819-ba40-4aaf-a034-39fd1d37cddf_Method">
    <vt:lpwstr>Standard</vt:lpwstr>
  </property>
  <property fmtid="{D5CDD505-2E9C-101B-9397-08002B2CF9AE}" pid="5" name="MSIP_Label_6b615819-ba40-4aaf-a034-39fd1d37cddf_Name">
    <vt:lpwstr>defa4170-0d19-0005-0004-bc88714345d2</vt:lpwstr>
  </property>
  <property fmtid="{D5CDD505-2E9C-101B-9397-08002B2CF9AE}" pid="6" name="MSIP_Label_6b615819-ba40-4aaf-a034-39fd1d37cddf_SiteId">
    <vt:lpwstr>f9182dd7-4234-41fb-9e9c-dd20d493b548</vt:lpwstr>
  </property>
  <property fmtid="{D5CDD505-2E9C-101B-9397-08002B2CF9AE}" pid="7" name="MSIP_Label_6b615819-ba40-4aaf-a034-39fd1d37cddf_ActionId">
    <vt:lpwstr>d25e251b-2d3d-403c-82b4-0b9c6a87bfbd</vt:lpwstr>
  </property>
  <property fmtid="{D5CDD505-2E9C-101B-9397-08002B2CF9AE}" pid="8" name="MSIP_Label_6b615819-ba40-4aaf-a034-39fd1d37cddf_ContentBits">
    <vt:lpwstr>0</vt:lpwstr>
  </property>
  <property fmtid="{D5CDD505-2E9C-101B-9397-08002B2CF9AE}" pid="9" name="MSIP_Label_6b615819-ba40-4aaf-a034-39fd1d37cddf_Tag">
    <vt:lpwstr>10, 3, 0, 1</vt:lpwstr>
  </property>
</Properties>
</file>