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0"/>
  </p:notesMasterIdLst>
  <p:sldIdLst>
    <p:sldId id="256" r:id="rId2"/>
    <p:sldId id="354" r:id="rId3"/>
    <p:sldId id="355" r:id="rId4"/>
    <p:sldId id="356" r:id="rId5"/>
    <p:sldId id="265" r:id="rId6"/>
    <p:sldId id="341" r:id="rId7"/>
    <p:sldId id="266" r:id="rId8"/>
    <p:sldId id="346" r:id="rId9"/>
    <p:sldId id="347" r:id="rId10"/>
    <p:sldId id="348" r:id="rId11"/>
    <p:sldId id="342" r:id="rId12"/>
    <p:sldId id="267" r:id="rId13"/>
    <p:sldId id="269" r:id="rId14"/>
    <p:sldId id="336" r:id="rId15"/>
    <p:sldId id="337" r:id="rId16"/>
    <p:sldId id="343" r:id="rId17"/>
    <p:sldId id="344" r:id="rId18"/>
    <p:sldId id="345" r:id="rId19"/>
    <p:sldId id="268" r:id="rId20"/>
    <p:sldId id="349" r:id="rId21"/>
    <p:sldId id="350" r:id="rId22"/>
    <p:sldId id="351" r:id="rId23"/>
    <p:sldId id="352" r:id="rId24"/>
    <p:sldId id="340" r:id="rId25"/>
    <p:sldId id="264" r:id="rId26"/>
    <p:sldId id="270" r:id="rId27"/>
    <p:sldId id="339" r:id="rId28"/>
    <p:sldId id="353"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547" autoAdjust="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7516F8-C88E-43C9-9969-8F2EAFDBA5B4}" type="datetimeFigureOut">
              <a:rPr lang="fr-FR" smtClean="0"/>
              <a:pPr/>
              <a:t>11/01/2026</a:t>
            </a:fld>
            <a:endParaRPr lang="fr-CA"/>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399F4B-744E-4020-B8D8-F0244398D9F6}" type="slidenum">
              <a:rPr lang="fr-CA" smtClean="0"/>
              <a:pPr/>
              <a:t>‹n°›</a:t>
            </a:fld>
            <a:endParaRPr lang="fr-CA"/>
          </a:p>
        </p:txBody>
      </p:sp>
    </p:spTree>
    <p:extLst>
      <p:ext uri="{BB962C8B-B14F-4D97-AF65-F5344CB8AC3E}">
        <p14:creationId xmlns:p14="http://schemas.microsoft.com/office/powerpoint/2010/main" val="380358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CA" dirty="0"/>
          </a:p>
        </p:txBody>
      </p:sp>
      <p:sp>
        <p:nvSpPr>
          <p:cNvPr id="4" name="Espace réservé du numéro de diapositive 3"/>
          <p:cNvSpPr>
            <a:spLocks noGrp="1"/>
          </p:cNvSpPr>
          <p:nvPr>
            <p:ph type="sldNum" sz="quarter" idx="10"/>
          </p:nvPr>
        </p:nvSpPr>
        <p:spPr/>
        <p:txBody>
          <a:bodyPr/>
          <a:lstStyle/>
          <a:p>
            <a:fld id="{AF399F4B-744E-4020-B8D8-F0244398D9F6}" type="slidenum">
              <a:rPr lang="fr-CA" smtClean="0"/>
              <a:pPr/>
              <a:t>1</a:t>
            </a:fld>
            <a:endParaRPr lang="fr-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CA" dirty="0"/>
              <a:t>Noter ici que c'est un simple résumé pour pouvoir</a:t>
            </a:r>
            <a:r>
              <a:rPr lang="fr-CA" baseline="0" dirty="0"/>
              <a:t> situer les instructions SQL par rapport au processus de modélisation. Les détails en matière de modélisation vont être vus dans le cours d'analyse</a:t>
            </a:r>
            <a:endParaRPr lang="fr-CA" dirty="0"/>
          </a:p>
        </p:txBody>
      </p:sp>
      <p:sp>
        <p:nvSpPr>
          <p:cNvPr id="4" name="Espace réservé du numéro de diapositive 3"/>
          <p:cNvSpPr>
            <a:spLocks noGrp="1"/>
          </p:cNvSpPr>
          <p:nvPr>
            <p:ph type="sldNum" sz="quarter" idx="10"/>
          </p:nvPr>
        </p:nvSpPr>
        <p:spPr/>
        <p:txBody>
          <a:bodyPr/>
          <a:lstStyle/>
          <a:p>
            <a:fld id="{AF399F4B-744E-4020-B8D8-F0244398D9F6}" type="slidenum">
              <a:rPr lang="fr-CA" smtClean="0"/>
              <a:pPr/>
              <a:t>5</a:t>
            </a:fld>
            <a:endParaRPr lang="fr-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a:t>Modifiez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Modifiez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A4326FB0-B9B5-4FA7-80EC-5FD006947306}" type="datetime1">
              <a:rPr lang="fr-FR" smtClean="0"/>
              <a:pPr/>
              <a:t>11/01/2026</a:t>
            </a:fld>
            <a:endParaRPr lang="fr-CA"/>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CA"/>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F28DAE6B-AB0D-4F6F-8314-FB40BDBBD4DC}" type="slidenum">
              <a:rPr lang="fr-CA" smtClean="0"/>
              <a:pPr/>
              <a:t>‹n°›</a:t>
            </a:fld>
            <a:endParaRPr lang="fr-CA"/>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4" name="Espace réservé de la date 3"/>
          <p:cNvSpPr>
            <a:spLocks noGrp="1"/>
          </p:cNvSpPr>
          <p:nvPr>
            <p:ph type="dt" sz="half" idx="10"/>
          </p:nvPr>
        </p:nvSpPr>
        <p:spPr/>
        <p:txBody>
          <a:bodyPr/>
          <a:lstStyle/>
          <a:p>
            <a:fld id="{70D01AE4-3E24-4C16-9147-FBE642C12A3E}" type="datetime1">
              <a:rPr lang="fr-FR" smtClean="0"/>
              <a:pPr/>
              <a:t>11/01/2026</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F28DAE6B-AB0D-4F6F-8314-FB40BDBBD4DC}" type="slidenum">
              <a:rPr lang="fr-CA" smtClean="0"/>
              <a:pPr/>
              <a:t>‹n°›</a:t>
            </a:fld>
            <a:endParaRPr lang="fr-CA"/>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Modifiez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Modifiez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C37C1494-7E93-43AE-AF98-7B1341D1939A}" type="datetime1">
              <a:rPr lang="fr-FR" smtClean="0"/>
              <a:pPr/>
              <a:t>11/01/2026</a:t>
            </a:fld>
            <a:endParaRPr lang="fr-CA"/>
          </a:p>
        </p:txBody>
      </p:sp>
      <p:sp>
        <p:nvSpPr>
          <p:cNvPr id="5" name="Espace réservé du pied de page 4"/>
          <p:cNvSpPr>
            <a:spLocks noGrp="1"/>
          </p:cNvSpPr>
          <p:nvPr>
            <p:ph type="ftr" sz="quarter" idx="11"/>
          </p:nvPr>
        </p:nvSpPr>
        <p:spPr>
          <a:xfrm>
            <a:off x="2898648" y="6355080"/>
            <a:ext cx="3474720" cy="365760"/>
          </a:xfrm>
        </p:spPr>
        <p:txBody>
          <a:bodyPr/>
          <a:lstStyle/>
          <a:p>
            <a:endParaRPr lang="fr-CA"/>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F28DAE6B-AB0D-4F6F-8314-FB40BDBBD4DC}" type="slidenum">
              <a:rPr lang="fr-CA" smtClean="0"/>
              <a:pPr/>
              <a:t>‹n°›</a:t>
            </a:fld>
            <a:endParaRPr lang="fr-CA"/>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5" name="Espace réservé de la date 4"/>
          <p:cNvSpPr>
            <a:spLocks noGrp="1"/>
          </p:cNvSpPr>
          <p:nvPr>
            <p:ph type="dt" sz="half" idx="10"/>
          </p:nvPr>
        </p:nvSpPr>
        <p:spPr/>
        <p:txBody>
          <a:bodyPr/>
          <a:lstStyle/>
          <a:p>
            <a:fld id="{3B30CD44-9581-4A23-9E43-1F699FAEC73E}" type="datetime1">
              <a:rPr lang="fr-FR" smtClean="0"/>
              <a:pPr/>
              <a:t>11/01/2026</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F28DAE6B-AB0D-4F6F-8314-FB40BDBBD4DC}" type="slidenum">
              <a:rPr lang="fr-CA" smtClean="0"/>
              <a:pPr/>
              <a:t>‹n°›</a:t>
            </a:fld>
            <a:endParaRPr lang="fr-CA"/>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Modifiez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7" name="Espace réservé de la date 6"/>
          <p:cNvSpPr>
            <a:spLocks noGrp="1"/>
          </p:cNvSpPr>
          <p:nvPr>
            <p:ph type="dt" sz="half" idx="10"/>
          </p:nvPr>
        </p:nvSpPr>
        <p:spPr/>
        <p:txBody>
          <a:bodyPr/>
          <a:lstStyle/>
          <a:p>
            <a:fld id="{EE0BF841-24FF-4631-963A-E56923A4DB59}" type="datetime1">
              <a:rPr lang="fr-FR" smtClean="0"/>
              <a:pPr/>
              <a:t>11/01/2026</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F28DAE6B-AB0D-4F6F-8314-FB40BDBBD4DC}" type="slidenum">
              <a:rPr lang="fr-CA" smtClean="0"/>
              <a:pPr/>
              <a:t>‹n°›</a:t>
            </a:fld>
            <a:endParaRPr lang="fr-CA"/>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3" name="Espace réservé de la date 2"/>
          <p:cNvSpPr>
            <a:spLocks noGrp="1"/>
          </p:cNvSpPr>
          <p:nvPr>
            <p:ph type="dt" sz="half" idx="10"/>
          </p:nvPr>
        </p:nvSpPr>
        <p:spPr/>
        <p:txBody>
          <a:bodyPr/>
          <a:lstStyle/>
          <a:p>
            <a:fld id="{6E03A717-AC60-489A-95DC-7A417FCB4959}" type="datetime1">
              <a:rPr lang="fr-FR" smtClean="0"/>
              <a:pPr/>
              <a:t>11/01/2026</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F28DAE6B-AB0D-4F6F-8314-FB40BDBBD4DC}" type="slidenum">
              <a:rPr lang="fr-CA" smtClean="0"/>
              <a:pPr/>
              <a:t>‹n°›</a:t>
            </a:fld>
            <a:endParaRPr lang="fr-CA"/>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0318CB4-1E8E-458E-9067-7487CDE06FEA}" type="datetime1">
              <a:rPr lang="fr-FR" smtClean="0"/>
              <a:pPr/>
              <a:t>11/01/2026</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‹n°›</a:t>
            </a:fld>
            <a:endParaRPr lang="fr-CA"/>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Modifiez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0A4CFE4D-BD5C-4E5E-9144-7CE5EBE3B4E8}" type="datetime1">
              <a:rPr lang="fr-FR" smtClean="0"/>
              <a:pPr/>
              <a:t>11/01/2026</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F28DAE6B-AB0D-4F6F-8314-FB40BDBBD4DC}" type="slidenum">
              <a:rPr lang="fr-CA" smtClean="0"/>
              <a:pPr/>
              <a:t>‹n°›</a:t>
            </a:fld>
            <a:endParaRPr lang="fr-CA"/>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Modifiez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B7B98C97-6C18-42F0-855C-904E78218B53}" type="datetime1">
              <a:rPr lang="fr-FR" smtClean="0"/>
              <a:pPr/>
              <a:t>11/01/2026</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F28DAE6B-AB0D-4F6F-8314-FB40BDBBD4DC}" type="slidenum">
              <a:rPr lang="fr-CA" smtClean="0"/>
              <a:pPr/>
              <a:t>‹n°›</a:t>
            </a:fld>
            <a:endParaRPr lang="fr-CA"/>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6B9B71F5-129D-4191-A2EB-D90377E590C3}" type="datetime1">
              <a:rPr lang="fr-FR" smtClean="0"/>
              <a:pPr/>
              <a:t>11/01/2026</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F28DAE6B-AB0D-4F6F-8314-FB40BDBBD4DC}" type="slidenum">
              <a:rPr lang="fr-CA" smtClean="0"/>
              <a:pPr/>
              <a:t>‹n°›</a:t>
            </a:fld>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Modifiez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0908CBC7-E381-443C-9ED8-D5B077FD9FC2}" type="datetime1">
              <a:rPr lang="fr-FR" smtClean="0"/>
              <a:pPr/>
              <a:t>11/01/2026</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F28DAE6B-AB0D-4F6F-8314-FB40BDBBD4DC}" type="slidenum">
              <a:rPr lang="fr-CA" smtClean="0"/>
              <a:pPr/>
              <a:t>‹n°›</a:t>
            </a:fld>
            <a:endParaRPr lang="fr-CA"/>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a:t>Modifiez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a:t>Modifiez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CDF6120-F1F0-4C60-9FE9-39AC71A9C79D}" type="datetimeFigureOut">
              <a:rPr lang="en-US" smtClean="0"/>
              <a:pPr eaLnBrk="1" latinLnBrk="0" hangingPunct="1"/>
              <a:t>1/11/2026</a:t>
            </a:fld>
            <a:endParaRPr lang="en-US" sz="1400" dirty="0">
              <a:solidFill>
                <a:schemeClr val="tx2"/>
              </a:solidFill>
            </a:endParaRP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F28DAE6B-AB0D-4F6F-8314-FB40BDBBD4DC}" type="slidenum">
              <a:rPr lang="fr-CA" smtClean="0"/>
              <a:pPr/>
              <a:t>‹n°›</a:t>
            </a:fld>
            <a:endParaRPr lang="fr-CA"/>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57158" y="1428736"/>
            <a:ext cx="8405842" cy="2000264"/>
          </a:xfrm>
        </p:spPr>
        <p:txBody>
          <a:bodyPr>
            <a:normAutofit fontScale="90000"/>
          </a:bodyPr>
          <a:lstStyle/>
          <a:p>
            <a:pPr algn="ctr"/>
            <a:r>
              <a:rPr lang="fr-CA" sz="4400" dirty="0"/>
              <a:t>Introduction à</a:t>
            </a:r>
            <a:br>
              <a:rPr lang="fr-CA" sz="4400" dirty="0"/>
            </a:br>
            <a:r>
              <a:rPr lang="fr-CA" sz="4400" dirty="0"/>
              <a:t>Modélisation de bases de données</a:t>
            </a:r>
          </a:p>
        </p:txBody>
      </p:sp>
      <p:sp>
        <p:nvSpPr>
          <p:cNvPr id="3" name="Slide Number Placeholder 2"/>
          <p:cNvSpPr>
            <a:spLocks noGrp="1"/>
          </p:cNvSpPr>
          <p:nvPr>
            <p:ph type="sldNum" sz="quarter" idx="12"/>
          </p:nvPr>
        </p:nvSpPr>
        <p:spPr/>
        <p:txBody>
          <a:bodyPr/>
          <a:lstStyle/>
          <a:p>
            <a:fld id="{F28DAE6B-AB0D-4F6F-8314-FB40BDBBD4DC}" type="slidenum">
              <a:rPr lang="fr-CA" smtClean="0"/>
              <a:pPr/>
              <a:t>1</a:t>
            </a:fld>
            <a:endParaRPr lang="fr-C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Rappels</a:t>
            </a:r>
          </a:p>
        </p:txBody>
      </p:sp>
      <p:sp>
        <p:nvSpPr>
          <p:cNvPr id="3" name="Espace réservé du numéro de diapositive 2"/>
          <p:cNvSpPr>
            <a:spLocks noGrp="1"/>
          </p:cNvSpPr>
          <p:nvPr>
            <p:ph type="sldNum" sz="quarter" idx="12"/>
          </p:nvPr>
        </p:nvSpPr>
        <p:spPr/>
        <p:txBody>
          <a:bodyPr/>
          <a:lstStyle/>
          <a:p>
            <a:fld id="{F28DAE6B-AB0D-4F6F-8314-FB40BDBBD4DC}" type="slidenum">
              <a:rPr lang="fr-CA" smtClean="0"/>
              <a:pPr/>
              <a:t>2</a:t>
            </a:fld>
            <a:endParaRPr lang="fr-CA"/>
          </a:p>
        </p:txBody>
      </p:sp>
      <p:sp>
        <p:nvSpPr>
          <p:cNvPr id="4" name="Espace réservé du contenu 3"/>
          <p:cNvSpPr>
            <a:spLocks noGrp="1"/>
          </p:cNvSpPr>
          <p:nvPr>
            <p:ph sz="quarter" idx="1"/>
          </p:nvPr>
        </p:nvSpPr>
        <p:spPr/>
        <p:txBody>
          <a:bodyPr>
            <a:normAutofit fontScale="92500" lnSpcReduction="20000"/>
          </a:bodyPr>
          <a:lstStyle/>
          <a:p>
            <a:r>
              <a:rPr lang="fr-CA" dirty="0"/>
              <a:t>BD:</a:t>
            </a:r>
          </a:p>
          <a:p>
            <a:r>
              <a:rPr lang="fr-FR" altLang="fr-FR" sz="2800" dirty="0"/>
              <a:t>Une base de données est un ensemble structuré de données (1) enregistrées sur des supports accessibles par l’ordinateur (2) pour satisfaire simultanément plusieurs utilisateurs (3) de manière sélective (4) en un temps raisonnable(5).</a:t>
            </a:r>
          </a:p>
          <a:p>
            <a:pPr lvl="1"/>
            <a:r>
              <a:rPr lang="fr-FR" altLang="fr-FR" sz="2500" dirty="0"/>
              <a:t>(1):Organisation et description des données.</a:t>
            </a:r>
          </a:p>
          <a:p>
            <a:pPr lvl="1"/>
            <a:r>
              <a:rPr lang="fr-FR" altLang="fr-FR" sz="2500" dirty="0"/>
              <a:t>(2):Stockage des données</a:t>
            </a:r>
          </a:p>
          <a:p>
            <a:pPr lvl="1"/>
            <a:r>
              <a:rPr lang="fr-FR" altLang="fr-FR" sz="2500" dirty="0"/>
              <a:t>(3):Partage des données</a:t>
            </a:r>
          </a:p>
          <a:p>
            <a:pPr lvl="1"/>
            <a:r>
              <a:rPr lang="fr-FR" altLang="fr-FR" sz="2500" dirty="0"/>
              <a:t>(4): Sécurité des données</a:t>
            </a:r>
          </a:p>
          <a:p>
            <a:pPr lvl="1"/>
            <a:r>
              <a:rPr lang="fr-FR" altLang="fr-FR" sz="2500" dirty="0"/>
              <a:t>(5): Performance</a:t>
            </a:r>
          </a:p>
          <a:p>
            <a:r>
              <a:rPr lang="fr-FR" altLang="fr-FR" sz="2800" dirty="0"/>
              <a:t>Le logiciel qui va permettre de gérer une bd doit donc assumer toutes ses fonctions: </a:t>
            </a:r>
            <a:r>
              <a:rPr lang="fr-FR" altLang="fr-FR" sz="2800" b="1" dirty="0"/>
              <a:t>C’est le SGBD</a:t>
            </a:r>
          </a:p>
        </p:txBody>
      </p:sp>
    </p:spTree>
    <p:extLst>
      <p:ext uri="{BB962C8B-B14F-4D97-AF65-F5344CB8AC3E}">
        <p14:creationId xmlns:p14="http://schemas.microsoft.com/office/powerpoint/2010/main" val="424426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Rappels</a:t>
            </a:r>
          </a:p>
        </p:txBody>
      </p:sp>
      <p:sp>
        <p:nvSpPr>
          <p:cNvPr id="3" name="Espace réservé du numéro de diapositive 2"/>
          <p:cNvSpPr>
            <a:spLocks noGrp="1"/>
          </p:cNvSpPr>
          <p:nvPr>
            <p:ph type="sldNum" sz="quarter" idx="12"/>
          </p:nvPr>
        </p:nvSpPr>
        <p:spPr/>
        <p:txBody>
          <a:bodyPr/>
          <a:lstStyle/>
          <a:p>
            <a:fld id="{F28DAE6B-AB0D-4F6F-8314-FB40BDBBD4DC}" type="slidenum">
              <a:rPr lang="fr-CA" smtClean="0"/>
              <a:pPr/>
              <a:t>3</a:t>
            </a:fld>
            <a:endParaRPr lang="fr-CA"/>
          </a:p>
        </p:txBody>
      </p:sp>
      <p:sp>
        <p:nvSpPr>
          <p:cNvPr id="4" name="Espace réservé du contenu 3"/>
          <p:cNvSpPr>
            <a:spLocks noGrp="1"/>
          </p:cNvSpPr>
          <p:nvPr>
            <p:ph sz="quarter" idx="1"/>
          </p:nvPr>
        </p:nvSpPr>
        <p:spPr/>
        <p:txBody>
          <a:bodyPr>
            <a:normAutofit fontScale="77500" lnSpcReduction="20000"/>
          </a:bodyPr>
          <a:lstStyle/>
          <a:p>
            <a:pPr>
              <a:spcAft>
                <a:spcPts val="1200"/>
              </a:spcAft>
            </a:pPr>
            <a:r>
              <a:rPr lang="fr-CA" dirty="0"/>
              <a:t>Les SGBDS sont de différents types</a:t>
            </a:r>
          </a:p>
          <a:p>
            <a:pPr lvl="1">
              <a:spcAft>
                <a:spcPts val="1200"/>
              </a:spcAft>
            </a:pPr>
            <a:r>
              <a:rPr lang="fr-CA" dirty="0"/>
              <a:t>SGBDR: pour des données structurées</a:t>
            </a:r>
          </a:p>
          <a:p>
            <a:pPr lvl="1">
              <a:spcAft>
                <a:spcPts val="1200"/>
              </a:spcAft>
            </a:pPr>
            <a:r>
              <a:rPr lang="fr-CA" dirty="0" err="1"/>
              <a:t>NoSQL</a:t>
            </a:r>
            <a:r>
              <a:rPr lang="fr-CA" dirty="0"/>
              <a:t>: pour des données non </a:t>
            </a:r>
            <a:r>
              <a:rPr lang="fr-CA" dirty="0" err="1"/>
              <a:t>strcturées</a:t>
            </a:r>
            <a:endParaRPr lang="fr-CA" dirty="0"/>
          </a:p>
          <a:p>
            <a:pPr lvl="1">
              <a:spcAft>
                <a:spcPts val="1200"/>
              </a:spcAft>
            </a:pPr>
            <a:r>
              <a:rPr lang="fr-CA" dirty="0" err="1"/>
              <a:t>etc</a:t>
            </a:r>
            <a:endParaRPr lang="fr-CA" dirty="0"/>
          </a:p>
          <a:p>
            <a:pPr>
              <a:spcAft>
                <a:spcPts val="1200"/>
              </a:spcAft>
            </a:pPr>
            <a:r>
              <a:rPr lang="fr-CA" dirty="0"/>
              <a:t>La plus grande part de marché revient aux SGBDR</a:t>
            </a:r>
          </a:p>
          <a:p>
            <a:pPr lvl="1">
              <a:spcAft>
                <a:spcPts val="1200"/>
              </a:spcAft>
            </a:pPr>
            <a:r>
              <a:rPr lang="fr-CA" dirty="0"/>
              <a:t>« R » pour « relationnel »</a:t>
            </a:r>
          </a:p>
          <a:p>
            <a:pPr>
              <a:spcAft>
                <a:spcPts val="1200"/>
              </a:spcAft>
            </a:pPr>
            <a:r>
              <a:rPr lang="fr-CA" dirty="0"/>
              <a:t>Un SGBDR, est un type particulier de SGBD, qui permet de gérer des bases de données dites « relationnelles » car elles sont « modélisées » selon les principes d’un modèle mathématique proposé par </a:t>
            </a:r>
            <a:r>
              <a:rPr lang="fr-CA" dirty="0" err="1"/>
              <a:t>E.F.Codd</a:t>
            </a:r>
            <a:r>
              <a:rPr lang="fr-CA" dirty="0"/>
              <a:t>:</a:t>
            </a:r>
          </a:p>
          <a:p>
            <a:pPr lvl="1">
              <a:spcAft>
                <a:spcPts val="1200"/>
              </a:spcAft>
            </a:pPr>
            <a:r>
              <a:rPr lang="fr-CA" dirty="0"/>
              <a:t>Le modèle relationnel est basé sur la notion </a:t>
            </a:r>
            <a:r>
              <a:rPr lang="fr-CA" b="1" dirty="0"/>
              <a:t>d’ensemble:</a:t>
            </a:r>
          </a:p>
          <a:p>
            <a:pPr lvl="1">
              <a:spcAft>
                <a:spcPts val="1200"/>
              </a:spcAft>
            </a:pPr>
            <a:r>
              <a:rPr lang="fr-CA" dirty="0"/>
              <a:t>Chaque </a:t>
            </a:r>
            <a:r>
              <a:rPr lang="fr-CA" b="1" dirty="0"/>
              <a:t>ensemble</a:t>
            </a:r>
            <a:r>
              <a:rPr lang="fr-CA" dirty="0"/>
              <a:t> possède un </a:t>
            </a:r>
            <a:r>
              <a:rPr lang="fr-CA" b="1" dirty="0"/>
              <a:t>nom</a:t>
            </a:r>
            <a:r>
              <a:rPr lang="fr-CA" dirty="0"/>
              <a:t> et aussi des </a:t>
            </a:r>
            <a:r>
              <a:rPr lang="fr-CA" b="1" dirty="0"/>
              <a:t>attributs</a:t>
            </a:r>
            <a:r>
              <a:rPr lang="fr-CA" dirty="0"/>
              <a:t> </a:t>
            </a:r>
            <a:r>
              <a:rPr lang="fr-CA" b="1" dirty="0"/>
              <a:t>nommés</a:t>
            </a:r>
            <a:r>
              <a:rPr lang="fr-CA" dirty="0"/>
              <a:t> qui appartiennent à cet ensemble</a:t>
            </a:r>
          </a:p>
        </p:txBody>
      </p:sp>
    </p:spTree>
    <p:extLst>
      <p:ext uri="{BB962C8B-B14F-4D97-AF65-F5344CB8AC3E}">
        <p14:creationId xmlns:p14="http://schemas.microsoft.com/office/powerpoint/2010/main" val="1676652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Modélisation des données</a:t>
            </a:r>
          </a:p>
        </p:txBody>
      </p:sp>
      <p:sp>
        <p:nvSpPr>
          <p:cNvPr id="3" name="Espace réservé du numéro de diapositive 2"/>
          <p:cNvSpPr>
            <a:spLocks noGrp="1"/>
          </p:cNvSpPr>
          <p:nvPr>
            <p:ph type="sldNum" sz="quarter" idx="12"/>
          </p:nvPr>
        </p:nvSpPr>
        <p:spPr/>
        <p:txBody>
          <a:bodyPr/>
          <a:lstStyle/>
          <a:p>
            <a:fld id="{F28DAE6B-AB0D-4F6F-8314-FB40BDBBD4DC}" type="slidenum">
              <a:rPr lang="fr-CA" smtClean="0"/>
              <a:pPr/>
              <a:t>4</a:t>
            </a:fld>
            <a:endParaRPr lang="fr-CA"/>
          </a:p>
        </p:txBody>
      </p:sp>
      <p:sp>
        <p:nvSpPr>
          <p:cNvPr id="4" name="Espace réservé du contenu 3"/>
          <p:cNvSpPr>
            <a:spLocks noGrp="1"/>
          </p:cNvSpPr>
          <p:nvPr>
            <p:ph sz="quarter" idx="1"/>
          </p:nvPr>
        </p:nvSpPr>
        <p:spPr/>
        <p:txBody>
          <a:bodyPr>
            <a:normAutofit fontScale="85000" lnSpcReduction="20000"/>
          </a:bodyPr>
          <a:lstStyle/>
          <a:p>
            <a:r>
              <a:rPr lang="fr-CA" dirty="0"/>
              <a:t>La modélisation des données (data </a:t>
            </a:r>
            <a:r>
              <a:rPr lang="fr-CA" dirty="0" err="1"/>
              <a:t>modeling</a:t>
            </a:r>
            <a:r>
              <a:rPr lang="fr-CA" dirty="0"/>
              <a:t> en anglais) est un processus de description: </a:t>
            </a:r>
          </a:p>
          <a:p>
            <a:pPr lvl="1"/>
            <a:r>
              <a:rPr lang="fr-CA" dirty="0"/>
              <a:t>de la structure, </a:t>
            </a:r>
          </a:p>
          <a:p>
            <a:pPr lvl="1"/>
            <a:r>
              <a:rPr lang="fr-CA" dirty="0"/>
              <a:t>des associations et des relations, </a:t>
            </a:r>
          </a:p>
          <a:p>
            <a:pPr lvl="1"/>
            <a:r>
              <a:rPr lang="fr-CA" dirty="0"/>
              <a:t>et des contraintes </a:t>
            </a:r>
          </a:p>
          <a:p>
            <a:pPr marL="0" indent="0">
              <a:buNone/>
            </a:pPr>
            <a:r>
              <a:rPr lang="fr-CA" dirty="0"/>
              <a:t>  relatives aux données disponibles. </a:t>
            </a:r>
          </a:p>
          <a:p>
            <a:r>
              <a:rPr lang="fr-CA" dirty="0"/>
              <a:t>Elle sert à établir des  normes et à coder des règles de gestion (modèles) des données dans une organisation.</a:t>
            </a:r>
          </a:p>
          <a:p>
            <a:r>
              <a:rPr lang="fr-CA" dirty="0"/>
              <a:t>Les techniques de modélisation de données sont souvent </a:t>
            </a:r>
            <a:r>
              <a:rPr lang="fr-CA" b="1" dirty="0"/>
              <a:t>représentées de manière graphique </a:t>
            </a:r>
            <a:r>
              <a:rPr lang="fr-CA" dirty="0"/>
              <a:t>(</a:t>
            </a:r>
            <a:r>
              <a:rPr lang="fr-CA" b="1" dirty="0"/>
              <a:t>diagramme</a:t>
            </a:r>
            <a:r>
              <a:rPr lang="fr-CA" dirty="0"/>
              <a:t>)</a:t>
            </a:r>
          </a:p>
          <a:p>
            <a:r>
              <a:rPr lang="fr-CA" dirty="0"/>
              <a:t>Les spécifications qui en résultent peuvent être efficacement communiquées à tous les niveaux d’une organisation (managers, ingénieurs, analystes,..)</a:t>
            </a:r>
          </a:p>
          <a:p>
            <a:r>
              <a:rPr lang="fr-CA" dirty="0"/>
              <a:t>Le processus encourage la discussion, la collaboration, la relation et permet la transformation des besoins en réalité grâce aux données implémentées.</a:t>
            </a:r>
          </a:p>
        </p:txBody>
      </p:sp>
    </p:spTree>
    <p:extLst>
      <p:ext uri="{BB962C8B-B14F-4D97-AF65-F5344CB8AC3E}">
        <p14:creationId xmlns:p14="http://schemas.microsoft.com/office/powerpoint/2010/main" val="956316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Modélisation de bases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5</a:t>
            </a:fld>
            <a:endParaRPr lang="fr-CA"/>
          </a:p>
        </p:txBody>
      </p:sp>
      <p:sp>
        <p:nvSpPr>
          <p:cNvPr id="3" name="Espace réservé du contenu 2"/>
          <p:cNvSpPr>
            <a:spLocks noGrp="1"/>
          </p:cNvSpPr>
          <p:nvPr>
            <p:ph sz="quarter" idx="1"/>
          </p:nvPr>
        </p:nvSpPr>
        <p:spPr>
          <a:xfrm>
            <a:off x="251520" y="1279301"/>
            <a:ext cx="8643998" cy="4525963"/>
          </a:xfrm>
        </p:spPr>
        <p:txBody>
          <a:bodyPr>
            <a:normAutofit/>
          </a:bodyPr>
          <a:lstStyle/>
          <a:p>
            <a:r>
              <a:rPr lang="fr-CA" b="1" dirty="0"/>
              <a:t>Étape 1</a:t>
            </a:r>
            <a:r>
              <a:rPr lang="fr-CA" dirty="0"/>
              <a:t>: </a:t>
            </a:r>
          </a:p>
          <a:p>
            <a:pPr lvl="1"/>
            <a:r>
              <a:rPr lang="fr-CA" dirty="0"/>
              <a:t>Analyse des besoins(comprendre les besoins de l'utilisateur)</a:t>
            </a:r>
          </a:p>
          <a:p>
            <a:r>
              <a:rPr lang="fr-CA" b="1" dirty="0"/>
              <a:t>Étape 2</a:t>
            </a:r>
            <a:r>
              <a:rPr lang="fr-CA" dirty="0"/>
              <a:t>: </a:t>
            </a:r>
          </a:p>
          <a:p>
            <a:pPr lvl="1"/>
            <a:r>
              <a:rPr lang="fr-CA" dirty="0"/>
              <a:t>Élaboration du </a:t>
            </a:r>
            <a:r>
              <a:rPr lang="fr-CA" b="1" dirty="0"/>
              <a:t>modèle conceptuel de données </a:t>
            </a:r>
            <a:r>
              <a:rPr lang="fr-CA" dirty="0"/>
              <a:t>(MCD) pour des besoins d’envergure.</a:t>
            </a:r>
          </a:p>
          <a:p>
            <a:r>
              <a:rPr lang="fr-CA" b="1" dirty="0"/>
              <a:t>Étape 3</a:t>
            </a:r>
            <a:r>
              <a:rPr lang="fr-CA" dirty="0"/>
              <a:t>:</a:t>
            </a:r>
          </a:p>
          <a:p>
            <a:pPr lvl="1"/>
            <a:r>
              <a:rPr lang="fr-CA" dirty="0"/>
              <a:t>Élaboration du </a:t>
            </a:r>
            <a:r>
              <a:rPr lang="fr-CA" b="1" dirty="0"/>
              <a:t>modèle logique de données </a:t>
            </a:r>
            <a:r>
              <a:rPr lang="fr-CA" dirty="0"/>
              <a:t>(MLD)</a:t>
            </a:r>
          </a:p>
          <a:p>
            <a:pPr lvl="1"/>
            <a:r>
              <a:rPr lang="fr-CA" dirty="0"/>
              <a:t>Affinement du modèle logique (</a:t>
            </a:r>
            <a:r>
              <a:rPr lang="fr-CA" b="1" dirty="0"/>
              <a:t>Normalisation</a:t>
            </a:r>
            <a:r>
              <a:rPr lang="fr-CA" dirty="0"/>
              <a:t>)</a:t>
            </a:r>
          </a:p>
          <a:p>
            <a:r>
              <a:rPr lang="fr-CA" b="1" dirty="0">
                <a:solidFill>
                  <a:srgbClr val="FF0000"/>
                </a:solidFill>
              </a:rPr>
              <a:t>Étape 4</a:t>
            </a:r>
            <a:r>
              <a:rPr lang="fr-CA" dirty="0">
                <a:solidFill>
                  <a:srgbClr val="FF0000"/>
                </a:solidFill>
              </a:rPr>
              <a:t>: </a:t>
            </a:r>
          </a:p>
          <a:p>
            <a:pPr lvl="1"/>
            <a:r>
              <a:rPr lang="fr-CA" dirty="0">
                <a:solidFill>
                  <a:srgbClr val="FF0000"/>
                </a:solidFill>
              </a:rPr>
              <a:t>Élaboration du </a:t>
            </a:r>
            <a:r>
              <a:rPr lang="fr-CA" sz="2400" b="1" dirty="0">
                <a:solidFill>
                  <a:srgbClr val="FF0000"/>
                </a:solidFill>
              </a:rPr>
              <a:t>modèle physique de données </a:t>
            </a:r>
            <a:r>
              <a:rPr lang="fr-CA" dirty="0">
                <a:solidFill>
                  <a:srgbClr val="FF0000"/>
                </a:solidFill>
              </a:rPr>
              <a:t>(MPD)</a:t>
            </a:r>
          </a:p>
          <a:p>
            <a:endParaRPr lang="fr-CA"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Analyse des besoins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6</a:t>
            </a:fld>
            <a:endParaRPr lang="fr-CA"/>
          </a:p>
        </p:txBody>
      </p:sp>
      <p:sp>
        <p:nvSpPr>
          <p:cNvPr id="3" name="Content Placeholder 2"/>
          <p:cNvSpPr>
            <a:spLocks noGrp="1"/>
          </p:cNvSpPr>
          <p:nvPr>
            <p:ph sz="quarter" idx="1"/>
          </p:nvPr>
        </p:nvSpPr>
        <p:spPr>
          <a:xfrm>
            <a:off x="251520" y="1700808"/>
            <a:ext cx="8643998" cy="2933518"/>
          </a:xfrm>
        </p:spPr>
        <p:txBody>
          <a:bodyPr>
            <a:normAutofit/>
          </a:bodyPr>
          <a:lstStyle/>
          <a:p>
            <a:r>
              <a:rPr lang="fr-CA" dirty="0"/>
              <a:t>Première étape dans le cycle de développement</a:t>
            </a:r>
          </a:p>
          <a:p>
            <a:r>
              <a:rPr lang="fr-CA" dirty="0"/>
              <a:t>Elle consiste à bien comprendre et délimiter les besoins de l’utilisateur (questions, observations, documents à analyser,…)</a:t>
            </a:r>
          </a:p>
          <a:p>
            <a:r>
              <a:rPr lang="fr-CA" dirty="0"/>
              <a:t>Les besoins doivent être bien définis et validés le plus possibles avec le client.</a:t>
            </a:r>
          </a:p>
        </p:txBody>
      </p:sp>
    </p:spTree>
    <p:extLst>
      <p:ext uri="{BB962C8B-B14F-4D97-AF65-F5344CB8AC3E}">
        <p14:creationId xmlns:p14="http://schemas.microsoft.com/office/powerpoint/2010/main" val="2227953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Élaboration du modèle conceptuel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7</a:t>
            </a:fld>
            <a:endParaRPr lang="fr-CA"/>
          </a:p>
        </p:txBody>
      </p:sp>
      <p:sp>
        <p:nvSpPr>
          <p:cNvPr id="3" name="Espace réservé du contenu 2"/>
          <p:cNvSpPr>
            <a:spLocks noGrp="1"/>
          </p:cNvSpPr>
          <p:nvPr>
            <p:ph sz="quarter" idx="1"/>
          </p:nvPr>
        </p:nvSpPr>
        <p:spPr>
          <a:xfrm>
            <a:off x="251520" y="1196752"/>
            <a:ext cx="8478114" cy="5112568"/>
          </a:xfrm>
        </p:spPr>
        <p:txBody>
          <a:bodyPr>
            <a:normAutofit lnSpcReduction="10000"/>
          </a:bodyPr>
          <a:lstStyle/>
          <a:p>
            <a:pPr marL="495300" indent="-495300">
              <a:lnSpc>
                <a:spcPct val="90000"/>
              </a:lnSpc>
            </a:pPr>
            <a:r>
              <a:rPr lang="fr-CA" sz="2400" dirty="0"/>
              <a:t>Également appelé schéma conceptuel exprime une vue d’ensemble des objectifs commerciaux et stratégiques initiaux, sans entrer dans la précision. Il est de ce fait totalement indépendant des technologies, systèmes et logiciels.</a:t>
            </a:r>
          </a:p>
          <a:p>
            <a:pPr marL="495300" indent="-495300">
              <a:lnSpc>
                <a:spcPct val="90000"/>
              </a:lnSpc>
            </a:pPr>
            <a:r>
              <a:rPr lang="fr-CA" sz="2400" dirty="0"/>
              <a:t>Consiste à </a:t>
            </a:r>
            <a:r>
              <a:rPr lang="fr-CA" sz="2400" b="1" dirty="0"/>
              <a:t>modéliser</a:t>
            </a:r>
            <a:r>
              <a:rPr lang="fr-CA" sz="2400" dirty="0"/>
              <a:t> les données en utilisant les spécifications des besoins obtenues à l’étape 1(analyse des besoins)</a:t>
            </a:r>
          </a:p>
          <a:p>
            <a:pPr marL="933450" lvl="1" indent="-457200">
              <a:lnSpc>
                <a:spcPct val="80000"/>
              </a:lnSpc>
            </a:pPr>
            <a:r>
              <a:rPr lang="fr-CA" sz="2000" dirty="0"/>
              <a:t>Identifier les concepts spécifiques au </a:t>
            </a:r>
            <a:r>
              <a:rPr lang="fr-CA" sz="2000" b="1" dirty="0"/>
              <a:t>formalisme</a:t>
            </a:r>
            <a:r>
              <a:rPr lang="fr-CA" sz="2000" dirty="0"/>
              <a:t> de modélisation </a:t>
            </a:r>
            <a:r>
              <a:rPr lang="fr-CA" sz="2000" b="1" dirty="0"/>
              <a:t>choisi</a:t>
            </a:r>
            <a:r>
              <a:rPr lang="fr-CA" sz="2000" dirty="0"/>
              <a:t> </a:t>
            </a:r>
          </a:p>
          <a:p>
            <a:pPr marL="1371600" lvl="2" indent="-419100">
              <a:lnSpc>
                <a:spcPct val="80000"/>
              </a:lnSpc>
            </a:pPr>
            <a:r>
              <a:rPr lang="fr-CA" sz="2000" b="1" dirty="0"/>
              <a:t>Entité-Association</a:t>
            </a:r>
            <a:r>
              <a:rPr lang="fr-CA" sz="2000" dirty="0"/>
              <a:t> (Entités, associations,…)</a:t>
            </a:r>
          </a:p>
          <a:p>
            <a:pPr marL="1371600" lvl="2" indent="-419100">
              <a:lnSpc>
                <a:spcPct val="80000"/>
              </a:lnSpc>
            </a:pPr>
            <a:r>
              <a:rPr lang="fr-CA" sz="2000" b="1" dirty="0"/>
              <a:t>UML</a:t>
            </a:r>
            <a:r>
              <a:rPr lang="fr-CA" sz="2000" dirty="0"/>
              <a:t> (Classes, propriétés,…)</a:t>
            </a:r>
          </a:p>
          <a:p>
            <a:pPr marL="1371600" lvl="2" indent="-419100">
              <a:lnSpc>
                <a:spcPct val="80000"/>
              </a:lnSpc>
            </a:pPr>
            <a:r>
              <a:rPr lang="fr-CA" sz="2000" dirty="0"/>
              <a:t>…</a:t>
            </a:r>
          </a:p>
          <a:p>
            <a:pPr marL="933450" lvl="1" indent="-457200">
              <a:lnSpc>
                <a:spcPct val="80000"/>
              </a:lnSpc>
            </a:pPr>
            <a:r>
              <a:rPr lang="fr-CA" sz="2000" dirty="0"/>
              <a:t>Utiliser le vocabulaire et </a:t>
            </a:r>
            <a:r>
              <a:rPr lang="fr-CA" sz="2000" b="1" dirty="0"/>
              <a:t>les règles </a:t>
            </a:r>
            <a:r>
              <a:rPr lang="fr-CA" sz="2000" dirty="0"/>
              <a:t>du formalisme pour présenter la conceptualisation de la réalité de l’entreprise</a:t>
            </a:r>
          </a:p>
          <a:p>
            <a:pPr marL="1371600" lvl="2" indent="-419100">
              <a:lnSpc>
                <a:spcPct val="80000"/>
              </a:lnSpc>
            </a:pPr>
            <a:r>
              <a:rPr lang="fr-CA" sz="2000" dirty="0"/>
              <a:t>Diagramme Entité-Association (Méthode MERISE)</a:t>
            </a:r>
          </a:p>
          <a:p>
            <a:pPr marL="1371600" lvl="2" indent="-419100">
              <a:lnSpc>
                <a:spcPct val="80000"/>
              </a:lnSpc>
            </a:pPr>
            <a:r>
              <a:rPr lang="fr-CA" sz="2000" dirty="0"/>
              <a:t>Diagramme de classes (UML)</a:t>
            </a:r>
          </a:p>
          <a:p>
            <a:pPr marL="1371600" lvl="2" indent="-419100">
              <a:lnSpc>
                <a:spcPct val="80000"/>
              </a:lnSpc>
            </a:pPr>
            <a:r>
              <a:rPr lang="fr-CA" sz="20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4282" y="71414"/>
            <a:ext cx="8723978" cy="1053330"/>
          </a:xfrm>
        </p:spPr>
        <p:txBody>
          <a:bodyPr>
            <a:normAutofit fontScale="90000"/>
          </a:bodyPr>
          <a:lstStyle/>
          <a:p>
            <a:r>
              <a:rPr lang="fr-CA" dirty="0"/>
              <a:t>Le modèle conceptuel de données: </a:t>
            </a:r>
            <a:r>
              <a:rPr lang="fr-CA" dirty="0" err="1"/>
              <a:t>entitée</a:t>
            </a:r>
            <a:r>
              <a:rPr lang="fr-CA" dirty="0"/>
              <a:t> et  associations</a:t>
            </a:r>
          </a:p>
        </p:txBody>
      </p:sp>
      <p:sp>
        <p:nvSpPr>
          <p:cNvPr id="5" name="Espace réservé du numéro de diapositive 4"/>
          <p:cNvSpPr>
            <a:spLocks noGrp="1"/>
          </p:cNvSpPr>
          <p:nvPr>
            <p:ph type="sldNum" sz="quarter" idx="12"/>
          </p:nvPr>
        </p:nvSpPr>
        <p:spPr/>
        <p:txBody>
          <a:bodyPr/>
          <a:lstStyle/>
          <a:p>
            <a:fld id="{F28DAE6B-AB0D-4F6F-8314-FB40BDBBD4DC}" type="slidenum">
              <a:rPr lang="fr-CA" smtClean="0"/>
              <a:pPr/>
              <a:t>8</a:t>
            </a:fld>
            <a:endParaRPr lang="fr-CA"/>
          </a:p>
        </p:txBody>
      </p:sp>
      <p:sp>
        <p:nvSpPr>
          <p:cNvPr id="3" name="Espace réservé du contenu 2"/>
          <p:cNvSpPr>
            <a:spLocks noGrp="1"/>
          </p:cNvSpPr>
          <p:nvPr>
            <p:ph sz="quarter" idx="1"/>
          </p:nvPr>
        </p:nvSpPr>
        <p:spPr>
          <a:xfrm>
            <a:off x="107504" y="1071546"/>
            <a:ext cx="4752528" cy="5165766"/>
          </a:xfrm>
        </p:spPr>
        <p:txBody>
          <a:bodyPr>
            <a:normAutofit/>
          </a:bodyPr>
          <a:lstStyle/>
          <a:p>
            <a:r>
              <a:rPr lang="fr-CA" sz="2000" b="1" dirty="0"/>
              <a:t>Les entités</a:t>
            </a:r>
            <a:r>
              <a:rPr lang="fr-CA" sz="2000" dirty="0"/>
              <a:t>: Une entité  est une chose concrète ou abstraite de la réalité  perçue à propos de laquelle on  veut conserver des informations. Une entité a une existence autonome”. </a:t>
            </a:r>
          </a:p>
          <a:p>
            <a:pPr marL="118872" indent="0">
              <a:buNone/>
            </a:pPr>
            <a:r>
              <a:rPr lang="fr-CA" sz="2000" dirty="0"/>
              <a:t>      </a:t>
            </a:r>
            <a:r>
              <a:rPr lang="fr-CA" sz="2000" b="1" dirty="0"/>
              <a:t>Exemples</a:t>
            </a:r>
            <a:r>
              <a:rPr lang="fr-CA" sz="2000" dirty="0"/>
              <a:t>: </a:t>
            </a:r>
            <a:r>
              <a:rPr lang="fr-CA" sz="2000" dirty="0" err="1"/>
              <a:t>Hotel</a:t>
            </a:r>
            <a:r>
              <a:rPr lang="fr-CA" sz="2000" dirty="0"/>
              <a:t>, Chambre, Client</a:t>
            </a:r>
          </a:p>
          <a:p>
            <a:r>
              <a:rPr lang="fr-CA" sz="2000" b="1" dirty="0"/>
              <a:t>Les</a:t>
            </a:r>
            <a:r>
              <a:rPr lang="fr-CA" sz="2000" dirty="0"/>
              <a:t> </a:t>
            </a:r>
            <a:r>
              <a:rPr lang="fr-CA" sz="2000" b="1" dirty="0"/>
              <a:t>associations</a:t>
            </a:r>
            <a:r>
              <a:rPr lang="fr-CA" sz="2000" dirty="0"/>
              <a:t>: définissent les relations sémantiques entre entités. Dans l'exemple, on a deux associations:</a:t>
            </a:r>
          </a:p>
          <a:p>
            <a:pPr lvl="1"/>
            <a:r>
              <a:rPr lang="fr-CA" sz="2000" b="1" dirty="0"/>
              <a:t>Posséder:</a:t>
            </a:r>
            <a:r>
              <a:rPr lang="fr-CA" sz="2000" dirty="0"/>
              <a:t> un hôtel possède  0 ou plusieurs chambres</a:t>
            </a:r>
          </a:p>
          <a:p>
            <a:pPr lvl="1"/>
            <a:r>
              <a:rPr lang="fr-CA" sz="2000" b="1" dirty="0"/>
              <a:t>Réserver</a:t>
            </a:r>
            <a:r>
              <a:rPr lang="fr-CA" sz="2000" dirty="0"/>
              <a:t>: un client réserve une ou plusieurs chambres</a:t>
            </a:r>
          </a:p>
        </p:txBody>
      </p:sp>
      <p:pic>
        <p:nvPicPr>
          <p:cNvPr id="1026" name="Picture 2" descr="http://www.fsmwarden.com/developpez_2/tesnimeronsard(Mcd_Reserver).jpg"/>
          <p:cNvPicPr>
            <a:picLocks noChangeAspect="1" noChangeArrowheads="1"/>
          </p:cNvPicPr>
          <p:nvPr/>
        </p:nvPicPr>
        <p:blipFill>
          <a:blip r:embed="rId2" cstate="print"/>
          <a:srcRect/>
          <a:stretch>
            <a:fillRect/>
          </a:stretch>
        </p:blipFill>
        <p:spPr bwMode="auto">
          <a:xfrm>
            <a:off x="4751959" y="1739928"/>
            <a:ext cx="4114293" cy="3993328"/>
          </a:xfrm>
          <a:prstGeom prst="rect">
            <a:avLst/>
          </a:prstGeom>
          <a:noFill/>
        </p:spPr>
      </p:pic>
    </p:spTree>
    <p:extLst>
      <p:ext uri="{BB962C8B-B14F-4D97-AF65-F5344CB8AC3E}">
        <p14:creationId xmlns:p14="http://schemas.microsoft.com/office/powerpoint/2010/main" val="4142558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Le modèle conceptuel de données: les cardinalités</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9</a:t>
            </a:fld>
            <a:endParaRPr lang="fr-CA"/>
          </a:p>
        </p:txBody>
      </p:sp>
      <p:sp>
        <p:nvSpPr>
          <p:cNvPr id="3" name="Espace réservé du contenu 2"/>
          <p:cNvSpPr>
            <a:spLocks noGrp="1"/>
          </p:cNvSpPr>
          <p:nvPr>
            <p:ph sz="quarter" idx="1"/>
          </p:nvPr>
        </p:nvSpPr>
        <p:spPr/>
        <p:txBody>
          <a:bodyPr/>
          <a:lstStyle/>
          <a:p>
            <a:r>
              <a:rPr lang="fr-CA" dirty="0"/>
              <a:t>La cardinalité indique:</a:t>
            </a:r>
          </a:p>
          <a:p>
            <a:pPr lvl="1"/>
            <a:r>
              <a:rPr lang="fr-CA" dirty="0"/>
              <a:t>le nombre minimum (0 ou 1) </a:t>
            </a:r>
          </a:p>
          <a:p>
            <a:pPr lvl="1"/>
            <a:r>
              <a:rPr lang="fr-CA" dirty="0"/>
              <a:t>et maximum (1 ou n)</a:t>
            </a:r>
          </a:p>
          <a:p>
            <a:pPr>
              <a:buNone/>
            </a:pPr>
            <a:r>
              <a:rPr lang="fr-CA" dirty="0"/>
              <a:t>	de fois où l’occurrence d’une entité peut participer à une association</a:t>
            </a:r>
          </a:p>
          <a:p>
            <a:r>
              <a:rPr lang="fr-CA" dirty="0"/>
              <a:t>Exemples:</a:t>
            </a:r>
          </a:p>
          <a:p>
            <a:pPr lvl="1"/>
            <a:r>
              <a:rPr lang="fr-CA" dirty="0"/>
              <a:t>Un médecin prend en charge 0 ou plusieurs patients</a:t>
            </a:r>
          </a:p>
          <a:p>
            <a:pPr lvl="1"/>
            <a:r>
              <a:rPr lang="fr-CA" dirty="0"/>
              <a:t>Un étudiant suit 0 ou plusieurs cours</a:t>
            </a:r>
          </a:p>
          <a:p>
            <a:pPr lvl="1"/>
            <a:r>
              <a:rPr lang="fr-CA" dirty="0"/>
              <a:t>Etc.</a:t>
            </a:r>
          </a:p>
        </p:txBody>
      </p:sp>
    </p:spTree>
    <p:extLst>
      <p:ext uri="{BB962C8B-B14F-4D97-AF65-F5344CB8AC3E}">
        <p14:creationId xmlns:p14="http://schemas.microsoft.com/office/powerpoint/2010/main" val="2364941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Le modèle conceptuel de données: les clés</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10</a:t>
            </a:fld>
            <a:endParaRPr lang="fr-CA"/>
          </a:p>
        </p:txBody>
      </p:sp>
      <p:sp>
        <p:nvSpPr>
          <p:cNvPr id="3" name="Espace réservé du contenu 2"/>
          <p:cNvSpPr>
            <a:spLocks noGrp="1"/>
          </p:cNvSpPr>
          <p:nvPr>
            <p:ph sz="quarter" idx="1"/>
          </p:nvPr>
        </p:nvSpPr>
        <p:spPr/>
        <p:txBody>
          <a:bodyPr>
            <a:normAutofit/>
          </a:bodyPr>
          <a:lstStyle/>
          <a:p>
            <a:r>
              <a:rPr lang="fr-CA" dirty="0"/>
              <a:t>Une clef est utilisée pour </a:t>
            </a:r>
            <a:r>
              <a:rPr lang="fr-CA" b="1" dirty="0"/>
              <a:t>distinguer sans ambiguïté </a:t>
            </a:r>
            <a:r>
              <a:rPr lang="fr-CA" dirty="0"/>
              <a:t>les </a:t>
            </a:r>
            <a:r>
              <a:rPr lang="fr-CA" b="1" dirty="0"/>
              <a:t>occurrences</a:t>
            </a:r>
            <a:r>
              <a:rPr lang="fr-CA" dirty="0"/>
              <a:t> (exemple: le numéro de commande, le numéro de client,...).</a:t>
            </a:r>
          </a:p>
          <a:p>
            <a:r>
              <a:rPr lang="fr-CA" dirty="0"/>
              <a:t>Dans certain cas, le choix est naturel</a:t>
            </a:r>
          </a:p>
          <a:p>
            <a:pPr lvl="1"/>
            <a:r>
              <a:rPr lang="fr-CA" dirty="0"/>
              <a:t>Immatriculation pour une automobile, Code postal pour une ville, numéro de sécurité sociale pour un patient,...</a:t>
            </a:r>
          </a:p>
          <a:p>
            <a:r>
              <a:rPr lang="fr-CA" dirty="0"/>
              <a:t>Dans d’autre cas il faudra: </a:t>
            </a:r>
          </a:p>
          <a:p>
            <a:pPr lvl="1"/>
            <a:r>
              <a:rPr lang="fr-CA" dirty="0"/>
              <a:t>Utiliser une combinaison d’attributs pour définir une clef composée (ex Date de naissance-nom-prénom).</a:t>
            </a:r>
          </a:p>
          <a:p>
            <a:pPr lvl="1"/>
            <a:r>
              <a:rPr lang="fr-CA" dirty="0"/>
              <a:t>Utiliser une clef “</a:t>
            </a:r>
            <a:r>
              <a:rPr lang="fr-CA" dirty="0" err="1"/>
              <a:t>artiﬁcielle</a:t>
            </a:r>
            <a:r>
              <a:rPr lang="fr-CA" dirty="0"/>
              <a:t>” </a:t>
            </a:r>
            <a:r>
              <a:rPr lang="fr-CA" dirty="0" err="1"/>
              <a:t>spéciﬁque</a:t>
            </a:r>
            <a:r>
              <a:rPr lang="fr-CA" dirty="0"/>
              <a:t> à la BD (Ex: un numéro client).</a:t>
            </a:r>
          </a:p>
        </p:txBody>
      </p:sp>
    </p:spTree>
    <p:extLst>
      <p:ext uri="{BB962C8B-B14F-4D97-AF65-F5344CB8AC3E}">
        <p14:creationId xmlns:p14="http://schemas.microsoft.com/office/powerpoint/2010/main" val="3475644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Autre exemple de MCD</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11</a:t>
            </a:fld>
            <a:endParaRPr lang="fr-CA"/>
          </a:p>
        </p:txBody>
      </p:sp>
      <p:pic>
        <p:nvPicPr>
          <p:cNvPr id="1026" name="Picture 2" descr="Image non disponible"/>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628800"/>
            <a:ext cx="7848872"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968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Élaboration du modèle logique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12</a:t>
            </a:fld>
            <a:endParaRPr lang="fr-CA"/>
          </a:p>
        </p:txBody>
      </p:sp>
      <p:sp>
        <p:nvSpPr>
          <p:cNvPr id="3" name="Espace réservé du contenu 2"/>
          <p:cNvSpPr>
            <a:spLocks noGrp="1"/>
          </p:cNvSpPr>
          <p:nvPr>
            <p:ph sz="quarter" idx="1"/>
          </p:nvPr>
        </p:nvSpPr>
        <p:spPr>
          <a:xfrm>
            <a:off x="214282" y="1340768"/>
            <a:ext cx="8643998" cy="4945752"/>
          </a:xfrm>
        </p:spPr>
        <p:txBody>
          <a:bodyPr>
            <a:normAutofit fontScale="92500" lnSpcReduction="20000"/>
          </a:bodyPr>
          <a:lstStyle/>
          <a:p>
            <a:pPr>
              <a:lnSpc>
                <a:spcPct val="90000"/>
              </a:lnSpc>
            </a:pPr>
            <a:r>
              <a:rPr lang="fr-CA" dirty="0"/>
              <a:t>Consiste à </a:t>
            </a:r>
            <a:r>
              <a:rPr lang="fr-CA" b="1" dirty="0"/>
              <a:t>transformer</a:t>
            </a:r>
            <a:r>
              <a:rPr lang="fr-CA" dirty="0"/>
              <a:t> le modèle conceptuel en une structure de données basée sur un </a:t>
            </a:r>
            <a:r>
              <a:rPr lang="fr-CA" b="1" dirty="0"/>
              <a:t>modèle de données spécifique</a:t>
            </a:r>
            <a:r>
              <a:rPr lang="fr-CA" dirty="0"/>
              <a:t>:</a:t>
            </a:r>
          </a:p>
          <a:p>
            <a:pPr lvl="1">
              <a:lnSpc>
                <a:spcPct val="90000"/>
              </a:lnSpc>
            </a:pPr>
            <a:r>
              <a:rPr lang="fr-CA" dirty="0"/>
              <a:t>Exemple: modèle </a:t>
            </a:r>
            <a:r>
              <a:rPr lang="fr-CA" b="1" dirty="0"/>
              <a:t>relationnel</a:t>
            </a:r>
          </a:p>
          <a:p>
            <a:pPr>
              <a:lnSpc>
                <a:spcPct val="90000"/>
              </a:lnSpc>
            </a:pPr>
            <a:r>
              <a:rPr lang="fr-CA" dirty="0"/>
              <a:t>Un ensemble de règles formelles guident la transformation</a:t>
            </a:r>
          </a:p>
          <a:p>
            <a:pPr>
              <a:lnSpc>
                <a:spcPct val="90000"/>
              </a:lnSpc>
            </a:pPr>
            <a:r>
              <a:rPr lang="fr-CA" dirty="0"/>
              <a:t>Le </a:t>
            </a:r>
            <a:r>
              <a:rPr lang="fr-CA" b="1" dirty="0"/>
              <a:t>modèle logique </a:t>
            </a:r>
            <a:r>
              <a:rPr lang="fr-CA" dirty="0"/>
              <a:t>est aussi </a:t>
            </a:r>
            <a:r>
              <a:rPr lang="fr-CA" b="1" dirty="0"/>
              <a:t>indépendant</a:t>
            </a:r>
            <a:r>
              <a:rPr lang="fr-CA" dirty="0"/>
              <a:t> de toute considération d’ordre physique </a:t>
            </a:r>
          </a:p>
          <a:p>
            <a:pPr>
              <a:lnSpc>
                <a:spcPct val="90000"/>
              </a:lnSpc>
            </a:pPr>
            <a:r>
              <a:rPr lang="fr-CA" dirty="0"/>
              <a:t>Cette étape peut être automatisée.</a:t>
            </a:r>
          </a:p>
          <a:p>
            <a:pPr>
              <a:lnSpc>
                <a:spcPct val="90000"/>
              </a:lnSpc>
            </a:pPr>
            <a:r>
              <a:rPr lang="fr-CA" dirty="0"/>
              <a:t>Un modèle logique de données </a:t>
            </a:r>
            <a:r>
              <a:rPr lang="fr-CA" b="1" dirty="0"/>
              <a:t>se focalise: </a:t>
            </a:r>
          </a:p>
          <a:p>
            <a:pPr lvl="1">
              <a:lnSpc>
                <a:spcPct val="90000"/>
              </a:lnSpc>
            </a:pPr>
            <a:r>
              <a:rPr lang="fr-CA" b="1" dirty="0"/>
              <a:t>surtout sur la structure des données</a:t>
            </a:r>
            <a:r>
              <a:rPr lang="fr-CA" dirty="0"/>
              <a:t> requises </a:t>
            </a:r>
          </a:p>
          <a:p>
            <a:pPr lvl="1">
              <a:lnSpc>
                <a:spcPct val="90000"/>
              </a:lnSpc>
            </a:pPr>
            <a:r>
              <a:rPr lang="fr-CA" dirty="0"/>
              <a:t>et sur la manière dont elles peuvent être représentées dans un référentiel réel(un véritable système de stockage.</a:t>
            </a:r>
          </a:p>
          <a:p>
            <a:pPr>
              <a:lnSpc>
                <a:spcPct val="90000"/>
              </a:lnSpc>
            </a:pPr>
            <a:endParaRPr lang="fr-CA" dirty="0"/>
          </a:p>
          <a:p>
            <a:pPr>
              <a:lnSpc>
                <a:spcPct val="90000"/>
              </a:lnSpc>
            </a:pPr>
            <a:r>
              <a:rPr lang="fr-CA" dirty="0"/>
              <a:t>Dans les cas peu complexes, </a:t>
            </a:r>
            <a:r>
              <a:rPr lang="fr-CA" b="1" dirty="0"/>
              <a:t>on modélise directement les données sous la forme d’un modèle logique de données (pas de MCD)</a:t>
            </a:r>
          </a:p>
          <a:p>
            <a:endParaRPr lang="fr-CA"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Élaboration du modèle logique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13</a:t>
            </a:fld>
            <a:endParaRPr lang="fr-CA"/>
          </a:p>
        </p:txBody>
      </p:sp>
      <p:sp>
        <p:nvSpPr>
          <p:cNvPr id="3" name="Espace réservé du contenu 2"/>
          <p:cNvSpPr>
            <a:spLocks noGrp="1"/>
          </p:cNvSpPr>
          <p:nvPr>
            <p:ph sz="quarter" idx="1"/>
          </p:nvPr>
        </p:nvSpPr>
        <p:spPr/>
        <p:txBody>
          <a:bodyPr/>
          <a:lstStyle/>
          <a:p>
            <a:r>
              <a:rPr lang="fr-CA" dirty="0"/>
              <a:t>Une fois qu'on élabore le MLD, on peut l'améliorer.</a:t>
            </a:r>
          </a:p>
          <a:p>
            <a:r>
              <a:rPr lang="fr-CA" dirty="0"/>
              <a:t>Question: "</a:t>
            </a:r>
            <a:r>
              <a:rPr lang="fr-CA" b="1" dirty="0"/>
              <a:t>Est-ce un bon modèle </a:t>
            </a:r>
            <a:r>
              <a:rPr lang="fr-CA" dirty="0"/>
              <a:t>?"</a:t>
            </a:r>
          </a:p>
          <a:p>
            <a:r>
              <a:rPr lang="fr-CA" dirty="0"/>
              <a:t>Un bon modèle est</a:t>
            </a:r>
          </a:p>
          <a:p>
            <a:pPr lvl="1"/>
            <a:r>
              <a:rPr lang="fr-CA" dirty="0"/>
              <a:t>sans oubli</a:t>
            </a:r>
          </a:p>
          <a:p>
            <a:pPr lvl="1"/>
            <a:r>
              <a:rPr lang="fr-CA" dirty="0"/>
              <a:t>sans redondance</a:t>
            </a:r>
          </a:p>
          <a:p>
            <a:pPr lvl="1"/>
            <a:r>
              <a:rPr lang="fr-CA" dirty="0" err="1"/>
              <a:t>etc</a:t>
            </a:r>
            <a:endParaRPr lang="fr-CA" dirty="0"/>
          </a:p>
          <a:p>
            <a:r>
              <a:rPr lang="fr-CA" dirty="0"/>
              <a:t>Ce processus d’amélioration s’appelle "</a:t>
            </a:r>
            <a:r>
              <a:rPr lang="fr-CA" b="1" dirty="0"/>
              <a:t>normalisation</a:t>
            </a:r>
            <a:r>
              <a:rPr lang="fr-CA" dirty="0"/>
              <a:t>"  et il est  donc utilisé pour "normaliser" les BDD.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Principes de base de la normalisation d’une BD relationnelle.</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14</a:t>
            </a:fld>
            <a:endParaRPr lang="fr-CA"/>
          </a:p>
        </p:txBody>
      </p:sp>
      <p:sp>
        <p:nvSpPr>
          <p:cNvPr id="3" name="Espace réservé du contenu 2"/>
          <p:cNvSpPr>
            <a:spLocks noGrp="1"/>
          </p:cNvSpPr>
          <p:nvPr>
            <p:ph sz="quarter" idx="1"/>
          </p:nvPr>
        </p:nvSpPr>
        <p:spPr/>
        <p:txBody>
          <a:bodyPr>
            <a:normAutofit fontScale="92500"/>
          </a:bodyPr>
          <a:lstStyle/>
          <a:p>
            <a:r>
              <a:rPr lang="fr-FR" dirty="0"/>
              <a:t>Il existe plusieurs règles de normalisation des bases de données, connues sous le nom de « formes normales »:</a:t>
            </a:r>
          </a:p>
          <a:p>
            <a:pPr lvl="1"/>
            <a:r>
              <a:rPr lang="fr-FR" dirty="0"/>
              <a:t>Si la première règle est respectée, la base de données sera considérée comme étant en « première forme normale », (1FN) . </a:t>
            </a:r>
          </a:p>
          <a:p>
            <a:pPr lvl="1"/>
            <a:r>
              <a:rPr lang="fr-FR" dirty="0"/>
              <a:t>`Pour que la BDD, soit en 2</a:t>
            </a:r>
            <a:r>
              <a:rPr lang="fr-FR" baseline="30000" dirty="0"/>
              <a:t>ème</a:t>
            </a:r>
            <a:r>
              <a:rPr lang="fr-FR" dirty="0"/>
              <a:t> forme normale, il faut qu'elle respecte la 1</a:t>
            </a:r>
            <a:r>
              <a:rPr lang="fr-FR" baseline="30000" dirty="0"/>
              <a:t>ère</a:t>
            </a:r>
            <a:r>
              <a:rPr lang="fr-FR" dirty="0"/>
              <a:t>  FN et la 2</a:t>
            </a:r>
            <a:r>
              <a:rPr lang="fr-FR" baseline="30000" dirty="0"/>
              <a:t>ème</a:t>
            </a:r>
            <a:r>
              <a:rPr lang="fr-FR" dirty="0"/>
              <a:t> FN</a:t>
            </a:r>
          </a:p>
          <a:p>
            <a:pPr lvl="1"/>
            <a:r>
              <a:rPr lang="fr-FR" dirty="0"/>
              <a:t>Si les trois premières règles sont respectées, la base de données sera considérée comme étant en « troisième forme normale ». </a:t>
            </a:r>
          </a:p>
          <a:p>
            <a:pPr lvl="1"/>
            <a:r>
              <a:rPr lang="fr-FR" dirty="0"/>
              <a:t>Bien que d'autres niveaux de normalisation soient possibles, la troisième forme normale est considérée comme étant le niveau le plus élevé nécessaire à la plupart des applications. </a:t>
            </a:r>
            <a:br>
              <a:rPr lang="fr-FR" dirty="0"/>
            </a:br>
            <a:br>
              <a:rPr lang="fr-FR" dirty="0"/>
            </a:br>
            <a:endParaRPr lang="fr-C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Principes de base de la normalisation: 1FN</a:t>
            </a:r>
          </a:p>
        </p:txBody>
      </p:sp>
      <p:sp>
        <p:nvSpPr>
          <p:cNvPr id="3" name="Slide Number Placeholder 2"/>
          <p:cNvSpPr>
            <a:spLocks noGrp="1"/>
          </p:cNvSpPr>
          <p:nvPr>
            <p:ph type="sldNum" sz="quarter" idx="12"/>
          </p:nvPr>
        </p:nvSpPr>
        <p:spPr/>
        <p:txBody>
          <a:bodyPr/>
          <a:lstStyle/>
          <a:p>
            <a:fld id="{F28DAE6B-AB0D-4F6F-8314-FB40BDBBD4DC}" type="slidenum">
              <a:rPr lang="fr-CA" smtClean="0"/>
              <a:pPr/>
              <a:t>15</a:t>
            </a:fld>
            <a:endParaRPr lang="fr-CA"/>
          </a:p>
        </p:txBody>
      </p:sp>
      <p:graphicFrame>
        <p:nvGraphicFramePr>
          <p:cNvPr id="4" name="Tableau 3"/>
          <p:cNvGraphicFramePr>
            <a:graphicFrameLocks noGrp="1"/>
          </p:cNvGraphicFramePr>
          <p:nvPr>
            <p:extLst>
              <p:ext uri="{D42A27DB-BD31-4B8C-83A1-F6EECF244321}">
                <p14:modId xmlns:p14="http://schemas.microsoft.com/office/powerpoint/2010/main" val="312744664"/>
              </p:ext>
            </p:extLst>
          </p:nvPr>
        </p:nvGraphicFramePr>
        <p:xfrm>
          <a:off x="214282" y="1915692"/>
          <a:ext cx="4214842" cy="731520"/>
        </p:xfrm>
        <a:graphic>
          <a:graphicData uri="http://schemas.openxmlformats.org/drawingml/2006/table">
            <a:tbl>
              <a:tblPr/>
              <a:tblGrid>
                <a:gridCol w="1390671">
                  <a:extLst>
                    <a:ext uri="{9D8B030D-6E8A-4147-A177-3AD203B41FA5}">
                      <a16:colId xmlns:a16="http://schemas.microsoft.com/office/drawing/2014/main" val="20000"/>
                    </a:ext>
                  </a:extLst>
                </a:gridCol>
                <a:gridCol w="2824171">
                  <a:extLst>
                    <a:ext uri="{9D8B030D-6E8A-4147-A177-3AD203B41FA5}">
                      <a16:colId xmlns:a16="http://schemas.microsoft.com/office/drawing/2014/main" val="20001"/>
                    </a:ext>
                  </a:extLst>
                </a:gridCol>
              </a:tblGrid>
              <a:tr h="134306">
                <a:tc>
                  <a:txBody>
                    <a:bodyPr/>
                    <a:lstStyle/>
                    <a:p>
                      <a:r>
                        <a:rPr lang="fr-CA" dirty="0"/>
                        <a:t>Produit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a:t>Fournisseur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fr-CA"/>
                        <a:t>téléviseur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VIDEO SA, HITEK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Rectangle 5"/>
          <p:cNvSpPr/>
          <p:nvPr/>
        </p:nvSpPr>
        <p:spPr>
          <a:xfrm>
            <a:off x="857224" y="1142984"/>
            <a:ext cx="7286676" cy="400110"/>
          </a:xfrm>
          <a:prstGeom prst="rect">
            <a:avLst/>
          </a:prstGeom>
          <a:ln>
            <a:solidFill>
              <a:schemeClr val="accent1"/>
            </a:solidFill>
          </a:ln>
        </p:spPr>
        <p:txBody>
          <a:bodyPr wrap="square">
            <a:spAutoFit/>
          </a:bodyPr>
          <a:lstStyle/>
          <a:p>
            <a:r>
              <a:rPr lang="fr-CA" sz="2000" dirty="0"/>
              <a:t>1FN:  Valeurs atomiques, non répétitives, constantes dans le temps</a:t>
            </a:r>
          </a:p>
        </p:txBody>
      </p:sp>
      <p:graphicFrame>
        <p:nvGraphicFramePr>
          <p:cNvPr id="7" name="Tableau 6"/>
          <p:cNvGraphicFramePr>
            <a:graphicFrameLocks noGrp="1"/>
          </p:cNvGraphicFramePr>
          <p:nvPr>
            <p:extLst>
              <p:ext uri="{D42A27DB-BD31-4B8C-83A1-F6EECF244321}">
                <p14:modId xmlns:p14="http://schemas.microsoft.com/office/powerpoint/2010/main" val="994228961"/>
              </p:ext>
            </p:extLst>
          </p:nvPr>
        </p:nvGraphicFramePr>
        <p:xfrm>
          <a:off x="5000628" y="1772816"/>
          <a:ext cx="3643370" cy="1097280"/>
        </p:xfrm>
        <a:graphic>
          <a:graphicData uri="http://schemas.openxmlformats.org/drawingml/2006/table">
            <a:tbl>
              <a:tblPr/>
              <a:tblGrid>
                <a:gridCol w="1357322">
                  <a:extLst>
                    <a:ext uri="{9D8B030D-6E8A-4147-A177-3AD203B41FA5}">
                      <a16:colId xmlns:a16="http://schemas.microsoft.com/office/drawing/2014/main" val="20000"/>
                    </a:ext>
                  </a:extLst>
                </a:gridCol>
                <a:gridCol w="2286048">
                  <a:extLst>
                    <a:ext uri="{9D8B030D-6E8A-4147-A177-3AD203B41FA5}">
                      <a16:colId xmlns:a16="http://schemas.microsoft.com/office/drawing/2014/main" val="20001"/>
                    </a:ext>
                  </a:extLst>
                </a:gridCol>
              </a:tblGrid>
              <a:tr h="151446">
                <a:tc>
                  <a:txBody>
                    <a:bodyPr/>
                    <a:lstStyle/>
                    <a:p>
                      <a:r>
                        <a:rPr lang="fr-CA" dirty="0"/>
                        <a:t>Produit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a:t>Fournisseur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fr-CA" dirty="0"/>
                        <a:t>Téléviseur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a:t>VIDEO SA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fr-CA" dirty="0"/>
                        <a:t>téléviseur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r>
                        <a:rPr lang="fr-CA" dirty="0"/>
                        <a:t>HITEK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8" name="Rectangle 7"/>
          <p:cNvSpPr/>
          <p:nvPr/>
        </p:nvSpPr>
        <p:spPr>
          <a:xfrm>
            <a:off x="285720" y="3273014"/>
            <a:ext cx="4214842" cy="707886"/>
          </a:xfrm>
          <a:prstGeom prst="rect">
            <a:avLst/>
          </a:prstGeom>
          <a:ln>
            <a:solidFill>
              <a:schemeClr val="accent1"/>
            </a:solidFill>
          </a:ln>
        </p:spPr>
        <p:txBody>
          <a:bodyPr wrap="square">
            <a:spAutoFit/>
          </a:bodyPr>
          <a:lstStyle/>
          <a:p>
            <a:r>
              <a:rPr lang="fr-CA" sz="2000" dirty="0"/>
              <a:t>Ne respecte pas la 1FN (valeurs non atomiques)</a:t>
            </a:r>
          </a:p>
        </p:txBody>
      </p:sp>
      <p:sp>
        <p:nvSpPr>
          <p:cNvPr id="9" name="Rectangle 8"/>
          <p:cNvSpPr/>
          <p:nvPr/>
        </p:nvSpPr>
        <p:spPr>
          <a:xfrm>
            <a:off x="4643438" y="3415890"/>
            <a:ext cx="4214842" cy="400110"/>
          </a:xfrm>
          <a:prstGeom prst="rect">
            <a:avLst/>
          </a:prstGeom>
          <a:ln>
            <a:solidFill>
              <a:schemeClr val="accent1"/>
            </a:solidFill>
          </a:ln>
        </p:spPr>
        <p:txBody>
          <a:bodyPr wrap="square">
            <a:spAutoFit/>
          </a:bodyPr>
          <a:lstStyle/>
          <a:p>
            <a:r>
              <a:rPr lang="fr-CA" sz="2000" dirty="0"/>
              <a:t>respecte la 1FN (valeurs  atomiques)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5228" y="4170270"/>
            <a:ext cx="6110668" cy="1923026"/>
          </a:xfrm>
          <a:prstGeom prst="rect">
            <a:avLst/>
          </a:prstGeom>
          <a:ln/>
        </p:spPr>
        <p:style>
          <a:lnRef idx="1">
            <a:schemeClr val="dk1"/>
          </a:lnRef>
          <a:fillRef idx="3">
            <a:schemeClr val="dk1"/>
          </a:fillRef>
          <a:effectRef idx="2">
            <a:schemeClr val="dk1"/>
          </a:effectRef>
          <a:fontRef idx="minor">
            <a:schemeClr val="lt1"/>
          </a:fontRef>
        </p:style>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28328"/>
          </a:xfrm>
        </p:spPr>
        <p:txBody>
          <a:bodyPr>
            <a:normAutofit fontScale="90000"/>
          </a:bodyPr>
          <a:lstStyle/>
          <a:p>
            <a:r>
              <a:rPr lang="fr-CA" dirty="0"/>
              <a:t>Principes de base de la normalisation: 2FN</a:t>
            </a:r>
          </a:p>
        </p:txBody>
      </p:sp>
      <p:sp>
        <p:nvSpPr>
          <p:cNvPr id="5" name="Slide Number Placeholder 4"/>
          <p:cNvSpPr>
            <a:spLocks noGrp="1"/>
          </p:cNvSpPr>
          <p:nvPr>
            <p:ph type="sldNum" sz="quarter" idx="12"/>
          </p:nvPr>
        </p:nvSpPr>
        <p:spPr/>
        <p:txBody>
          <a:bodyPr/>
          <a:lstStyle/>
          <a:p>
            <a:fld id="{F28DAE6B-AB0D-4F6F-8314-FB40BDBBD4DC}" type="slidenum">
              <a:rPr lang="fr-CA" smtClean="0"/>
              <a:pPr/>
              <a:t>16</a:t>
            </a:fld>
            <a:endParaRPr lang="fr-CA"/>
          </a:p>
        </p:txBody>
      </p:sp>
      <p:sp>
        <p:nvSpPr>
          <p:cNvPr id="4" name="Content Placeholder 3"/>
          <p:cNvSpPr>
            <a:spLocks noGrp="1"/>
          </p:cNvSpPr>
          <p:nvPr>
            <p:ph sz="quarter" idx="1"/>
          </p:nvPr>
        </p:nvSpPr>
        <p:spPr>
          <a:xfrm>
            <a:off x="258013" y="1268760"/>
            <a:ext cx="8418443" cy="845286"/>
          </a:xfrm>
        </p:spPr>
        <p:txBody>
          <a:bodyPr>
            <a:normAutofit fontScale="70000" lnSpcReduction="20000"/>
          </a:bodyPr>
          <a:lstStyle/>
          <a:p>
            <a:r>
              <a:rPr lang="fr-CA" dirty="0"/>
              <a:t>L’information sur le conseillé est répétée (redondance): 2FN non respectée</a:t>
            </a:r>
          </a:p>
          <a:p>
            <a:r>
              <a:rPr lang="fr-CA" dirty="0"/>
              <a:t>Aussi, l’information sur le conseillé n’est pas totalement liée à l’étudiant, ne devrait donc pas être mélangée avec celles spécifiques à l’étudiant</a:t>
            </a:r>
          </a:p>
          <a:p>
            <a:endParaRPr lang="fr-CA"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1600" y="2204864"/>
            <a:ext cx="7616824" cy="3898178"/>
          </a:xfrm>
          <a:prstGeom prst="rect">
            <a:avLst/>
          </a:prstGeom>
          <a:ln/>
        </p:spPr>
        <p:style>
          <a:lnRef idx="1">
            <a:schemeClr val="dk1"/>
          </a:lnRef>
          <a:fillRef idx="3">
            <a:schemeClr val="dk1"/>
          </a:fillRef>
          <a:effectRef idx="2">
            <a:schemeClr val="dk1"/>
          </a:effectRef>
          <a:fontRef idx="minor">
            <a:schemeClr val="lt1"/>
          </a:fontRef>
        </p:style>
      </p:pic>
    </p:spTree>
    <p:extLst>
      <p:ext uri="{BB962C8B-B14F-4D97-AF65-F5344CB8AC3E}">
        <p14:creationId xmlns:p14="http://schemas.microsoft.com/office/powerpoint/2010/main" val="129222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A" dirty="0"/>
              <a:t>Principes de base de la normalisation: 2FN</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17</a:t>
            </a:fld>
            <a:endParaRPr lang="fr-CA"/>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196752"/>
            <a:ext cx="8064896" cy="5112568"/>
          </a:xfrm>
          <a:prstGeom prst="rect">
            <a:avLst/>
          </a:prstGeom>
          <a:ln/>
        </p:spPr>
        <p:style>
          <a:lnRef idx="1">
            <a:schemeClr val="dk1"/>
          </a:lnRef>
          <a:fillRef idx="3">
            <a:schemeClr val="dk1"/>
          </a:fillRef>
          <a:effectRef idx="2">
            <a:schemeClr val="dk1"/>
          </a:effectRef>
          <a:fontRef idx="minor">
            <a:schemeClr val="lt1"/>
          </a:fontRef>
        </p:style>
      </p:pic>
    </p:spTree>
    <p:extLst>
      <p:ext uri="{BB962C8B-B14F-4D97-AF65-F5344CB8AC3E}">
        <p14:creationId xmlns:p14="http://schemas.microsoft.com/office/powerpoint/2010/main" val="2829949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71414"/>
            <a:ext cx="8534182" cy="773222"/>
          </a:xfrm>
        </p:spPr>
        <p:txBody>
          <a:bodyPr>
            <a:normAutofit fontScale="90000"/>
          </a:bodyPr>
          <a:lstStyle/>
          <a:p>
            <a:r>
              <a:rPr lang="fr-CA" dirty="0"/>
              <a:t>Principes de base de la normalisation: 3FN</a:t>
            </a:r>
          </a:p>
        </p:txBody>
      </p:sp>
      <p:sp>
        <p:nvSpPr>
          <p:cNvPr id="4" name="Slide Number Placeholder 3"/>
          <p:cNvSpPr>
            <a:spLocks noGrp="1"/>
          </p:cNvSpPr>
          <p:nvPr>
            <p:ph type="sldNum" sz="quarter" idx="12"/>
          </p:nvPr>
        </p:nvSpPr>
        <p:spPr/>
        <p:txBody>
          <a:bodyPr/>
          <a:lstStyle/>
          <a:p>
            <a:fld id="{F28DAE6B-AB0D-4F6F-8314-FB40BDBBD4DC}" type="slidenum">
              <a:rPr lang="fr-CA" smtClean="0"/>
              <a:pPr/>
              <a:t>18</a:t>
            </a:fld>
            <a:endParaRPr lang="fr-CA"/>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124744"/>
            <a:ext cx="8712968" cy="5184576"/>
          </a:xfrm>
          <a:prstGeom prst="rect">
            <a:avLst/>
          </a:prstGeom>
          <a:ln/>
        </p:spPr>
        <p:style>
          <a:lnRef idx="1">
            <a:schemeClr val="dk1"/>
          </a:lnRef>
          <a:fillRef idx="3">
            <a:schemeClr val="dk1"/>
          </a:fillRef>
          <a:effectRef idx="2">
            <a:schemeClr val="dk1"/>
          </a:effectRef>
          <a:fontRef idx="minor">
            <a:schemeClr val="lt1"/>
          </a:fontRef>
        </p:style>
      </p:pic>
    </p:spTree>
    <p:extLst>
      <p:ext uri="{BB962C8B-B14F-4D97-AF65-F5344CB8AC3E}">
        <p14:creationId xmlns:p14="http://schemas.microsoft.com/office/powerpoint/2010/main" val="2282984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de modèle logique de données</a:t>
            </a:r>
          </a:p>
        </p:txBody>
      </p:sp>
      <p:sp>
        <p:nvSpPr>
          <p:cNvPr id="3" name="Slide Number Placeholder 2"/>
          <p:cNvSpPr>
            <a:spLocks noGrp="1"/>
          </p:cNvSpPr>
          <p:nvPr>
            <p:ph type="sldNum" sz="quarter" idx="12"/>
          </p:nvPr>
        </p:nvSpPr>
        <p:spPr/>
        <p:txBody>
          <a:bodyPr/>
          <a:lstStyle/>
          <a:p>
            <a:fld id="{F28DAE6B-AB0D-4F6F-8314-FB40BDBBD4DC}" type="slidenum">
              <a:rPr lang="fr-CA" smtClean="0"/>
              <a:pPr/>
              <a:t>19</a:t>
            </a:fld>
            <a:endParaRPr lang="fr-CA"/>
          </a:p>
        </p:txBody>
      </p:sp>
      <p:pic>
        <p:nvPicPr>
          <p:cNvPr id="1026" name="Picture 2" descr="http://www.fsmwarden.com/developpez/Courses_Hippiques(Jockeys_etc)Meris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242048"/>
            <a:ext cx="6336704" cy="2664296"/>
          </a:xfrm>
          <a:prstGeom prst="rect">
            <a:avLst/>
          </a:prstGeom>
        </p:spPr>
        <p:style>
          <a:lnRef idx="2">
            <a:schemeClr val="dk1">
              <a:shade val="50000"/>
            </a:schemeClr>
          </a:lnRef>
          <a:fillRef idx="1">
            <a:schemeClr val="dk1"/>
          </a:fillRef>
          <a:effectRef idx="0">
            <a:schemeClr val="dk1"/>
          </a:effectRef>
          <a:fontRef idx="minor">
            <a:schemeClr val="lt1"/>
          </a:fontRef>
        </p:style>
      </p:pic>
      <p:pic>
        <p:nvPicPr>
          <p:cNvPr id="1030" name="Picture 6" descr="http://www.fsmwarden.com/developpez/Courses_Hippiques(Jockeys_etc)MLD(notation_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4005064"/>
            <a:ext cx="6336704" cy="2609851"/>
          </a:xfrm>
          <a:prstGeom prst="rect">
            <a:avLst/>
          </a:prstGeom>
        </p:spPr>
        <p:style>
          <a:lnRef idx="2">
            <a:schemeClr val="dk1">
              <a:shade val="50000"/>
            </a:schemeClr>
          </a:lnRef>
          <a:fillRef idx="1">
            <a:schemeClr val="dk1"/>
          </a:fillRef>
          <a:effectRef idx="0">
            <a:schemeClr val="dk1"/>
          </a:effectRef>
          <a:fontRef idx="minor">
            <a:schemeClr val="lt1"/>
          </a:fontRef>
        </p:style>
      </p:pic>
      <p:sp>
        <p:nvSpPr>
          <p:cNvPr id="4" name="ZoneTexte 3"/>
          <p:cNvSpPr txBox="1"/>
          <p:nvPr/>
        </p:nvSpPr>
        <p:spPr>
          <a:xfrm>
            <a:off x="251520" y="2204864"/>
            <a:ext cx="700833" cy="369332"/>
          </a:xfrm>
          <a:prstGeom prst="rect">
            <a:avLst/>
          </a:prstGeom>
          <a:noFill/>
        </p:spPr>
        <p:txBody>
          <a:bodyPr wrap="none" rtlCol="0">
            <a:spAutoFit/>
          </a:bodyPr>
          <a:lstStyle/>
          <a:p>
            <a:r>
              <a:rPr lang="fr-CA" dirty="0"/>
              <a:t>MCD</a:t>
            </a:r>
          </a:p>
        </p:txBody>
      </p:sp>
      <p:sp>
        <p:nvSpPr>
          <p:cNvPr id="7" name="ZoneTexte 6"/>
          <p:cNvSpPr txBox="1"/>
          <p:nvPr/>
        </p:nvSpPr>
        <p:spPr>
          <a:xfrm>
            <a:off x="395536" y="5125323"/>
            <a:ext cx="651140" cy="369332"/>
          </a:xfrm>
          <a:prstGeom prst="rect">
            <a:avLst/>
          </a:prstGeom>
          <a:noFill/>
        </p:spPr>
        <p:txBody>
          <a:bodyPr wrap="none" rtlCol="0">
            <a:spAutoFit/>
          </a:bodyPr>
          <a:lstStyle/>
          <a:p>
            <a:r>
              <a:rPr lang="fr-CA" dirty="0"/>
              <a:t>MLD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Les différentes relations entre les entités d’une BD relationnelle</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20</a:t>
            </a:fld>
            <a:endParaRPr lang="fr-CA"/>
          </a:p>
        </p:txBody>
      </p:sp>
      <p:sp>
        <p:nvSpPr>
          <p:cNvPr id="3" name="Espace réservé du contenu 2"/>
          <p:cNvSpPr>
            <a:spLocks noGrp="1"/>
          </p:cNvSpPr>
          <p:nvPr>
            <p:ph sz="quarter" idx="1"/>
          </p:nvPr>
        </p:nvSpPr>
        <p:spPr>
          <a:xfrm>
            <a:off x="395536" y="1268760"/>
            <a:ext cx="8542724" cy="4752528"/>
          </a:xfrm>
        </p:spPr>
        <p:txBody>
          <a:bodyPr>
            <a:normAutofit fontScale="92500"/>
          </a:bodyPr>
          <a:lstStyle/>
          <a:p>
            <a:r>
              <a:rPr lang="fr-CA" dirty="0"/>
              <a:t>Dans une base de données relationnelle, les relations permettent d'empêcher les données </a:t>
            </a:r>
            <a:r>
              <a:rPr lang="fr-CA" b="1" dirty="0"/>
              <a:t>redondantes</a:t>
            </a:r>
            <a:r>
              <a:rPr lang="fr-CA" dirty="0"/>
              <a:t>. On en distingue:</a:t>
            </a:r>
          </a:p>
          <a:p>
            <a:pPr lvl="1"/>
            <a:r>
              <a:rPr lang="fr-CA" dirty="0"/>
              <a:t>Les relations 1 à plusieurs</a:t>
            </a:r>
          </a:p>
          <a:p>
            <a:pPr lvl="1"/>
            <a:r>
              <a:rPr lang="fr-CA" dirty="0"/>
              <a:t>Les relations plusieurs à plusieurs</a:t>
            </a:r>
          </a:p>
          <a:p>
            <a:pPr lvl="1"/>
            <a:r>
              <a:rPr lang="fr-CA" dirty="0"/>
              <a:t>Les relations 1 à 1</a:t>
            </a:r>
          </a:p>
          <a:p>
            <a:r>
              <a:rPr lang="fr-CA" dirty="0"/>
              <a:t>Une relation existe lorsque des données correspondent dans des colonnes clés(généralement des colonnes portant le même nom dans les deux tables). </a:t>
            </a:r>
          </a:p>
          <a:p>
            <a:r>
              <a:rPr lang="fr-CA" dirty="0"/>
              <a:t>Dans la plupart des cas, la relation correspond à la clé primaire d'une table, ce qui fournit un identificateur unique pour chaque ligne, avec une valeur dans la clé étrangère de l'autre table.</a:t>
            </a:r>
          </a:p>
        </p:txBody>
      </p:sp>
    </p:spTree>
    <p:extLst>
      <p:ext uri="{BB962C8B-B14F-4D97-AF65-F5344CB8AC3E}">
        <p14:creationId xmlns:p14="http://schemas.microsoft.com/office/powerpoint/2010/main" val="55538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Les relations 1 à plusieurs</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21</a:t>
            </a:fld>
            <a:endParaRPr lang="fr-CA"/>
          </a:p>
        </p:txBody>
      </p:sp>
      <p:sp>
        <p:nvSpPr>
          <p:cNvPr id="3" name="Espace réservé du contenu 2"/>
          <p:cNvSpPr>
            <a:spLocks noGrp="1"/>
          </p:cNvSpPr>
          <p:nvPr>
            <p:ph sz="quarter" idx="1"/>
          </p:nvPr>
        </p:nvSpPr>
        <p:spPr>
          <a:xfrm>
            <a:off x="107504" y="1071546"/>
            <a:ext cx="8929718" cy="5214974"/>
          </a:xfrm>
        </p:spPr>
        <p:txBody>
          <a:bodyPr>
            <a:normAutofit/>
          </a:bodyPr>
          <a:lstStyle/>
          <a:p>
            <a:r>
              <a:rPr lang="fr-CA" dirty="0"/>
              <a:t>Une relation un-à-plusieurs est le type de relation le plus courant. </a:t>
            </a:r>
          </a:p>
          <a:p>
            <a:r>
              <a:rPr lang="fr-CA" dirty="0"/>
              <a:t>Dans ce type de relation:</a:t>
            </a:r>
          </a:p>
          <a:p>
            <a:pPr lvl="1"/>
            <a:r>
              <a:rPr lang="fr-CA" dirty="0"/>
              <a:t>une ligne de la table A peut comporter plusieurs  lignes correspondantes dans la table B, </a:t>
            </a:r>
          </a:p>
          <a:p>
            <a:pPr lvl="1"/>
            <a:r>
              <a:rPr lang="fr-CA" dirty="0"/>
              <a:t>mais une ligne de la table B peut avoir une seule ligne correspondante de la table A. </a:t>
            </a:r>
          </a:p>
          <a:p>
            <a:r>
              <a:rPr lang="fr-CA" dirty="0"/>
              <a:t>Par exemple, les tables </a:t>
            </a:r>
            <a:r>
              <a:rPr lang="fr-CA" b="1" dirty="0"/>
              <a:t>Éditeurs</a:t>
            </a:r>
            <a:r>
              <a:rPr lang="fr-CA" dirty="0"/>
              <a:t> et </a:t>
            </a:r>
            <a:r>
              <a:rPr lang="fr-CA" b="1" dirty="0"/>
              <a:t>Titres</a:t>
            </a:r>
            <a:r>
              <a:rPr lang="fr-CA" dirty="0"/>
              <a:t> ont une relation </a:t>
            </a:r>
            <a:r>
              <a:rPr lang="fr-CA" b="1" dirty="0"/>
              <a:t>un-à-plusieurs</a:t>
            </a:r>
            <a:r>
              <a:rPr lang="fr-CA" dirty="0"/>
              <a:t> : </a:t>
            </a:r>
          </a:p>
          <a:p>
            <a:pPr lvl="1"/>
            <a:r>
              <a:rPr lang="fr-CA" b="1" dirty="0"/>
              <a:t>Un éditeur </a:t>
            </a:r>
            <a:r>
              <a:rPr lang="fr-CA" dirty="0"/>
              <a:t>produit </a:t>
            </a:r>
            <a:r>
              <a:rPr lang="fr-CA" b="1" dirty="0"/>
              <a:t>plusieurs</a:t>
            </a:r>
            <a:r>
              <a:rPr lang="fr-CA" dirty="0"/>
              <a:t> </a:t>
            </a:r>
            <a:r>
              <a:rPr lang="fr-CA" b="1" dirty="0"/>
              <a:t>titres</a:t>
            </a:r>
            <a:r>
              <a:rPr lang="fr-CA" dirty="0"/>
              <a:t>, </a:t>
            </a:r>
          </a:p>
          <a:p>
            <a:pPr lvl="1"/>
            <a:r>
              <a:rPr lang="fr-CA" dirty="0"/>
              <a:t>mais </a:t>
            </a:r>
            <a:r>
              <a:rPr lang="fr-CA" b="1" dirty="0"/>
              <a:t>un</a:t>
            </a:r>
            <a:r>
              <a:rPr lang="fr-CA" dirty="0"/>
              <a:t> </a:t>
            </a:r>
            <a:r>
              <a:rPr lang="fr-CA" b="1" dirty="0"/>
              <a:t>titre</a:t>
            </a:r>
            <a:r>
              <a:rPr lang="fr-CA" dirty="0"/>
              <a:t> n'a </a:t>
            </a:r>
            <a:r>
              <a:rPr lang="fr-CA" b="1" dirty="0"/>
              <a:t>qu'un</a:t>
            </a:r>
            <a:r>
              <a:rPr lang="fr-CA" dirty="0"/>
              <a:t> </a:t>
            </a:r>
            <a:r>
              <a:rPr lang="fr-CA" b="1" dirty="0"/>
              <a:t>seul</a:t>
            </a:r>
            <a:r>
              <a:rPr lang="fr-CA" dirty="0"/>
              <a:t> </a:t>
            </a:r>
            <a:r>
              <a:rPr lang="fr-CA" b="1" dirty="0"/>
              <a:t>éditeur</a:t>
            </a:r>
            <a:r>
              <a:rPr lang="fr-CA" dirty="0"/>
              <a:t>.</a:t>
            </a:r>
          </a:p>
        </p:txBody>
      </p:sp>
    </p:spTree>
    <p:extLst>
      <p:ext uri="{BB962C8B-B14F-4D97-AF65-F5344CB8AC3E}">
        <p14:creationId xmlns:p14="http://schemas.microsoft.com/office/powerpoint/2010/main" val="836142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Les relations plusieurs à plusieurs</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22</a:t>
            </a:fld>
            <a:endParaRPr lang="fr-CA"/>
          </a:p>
        </p:txBody>
      </p:sp>
      <p:sp>
        <p:nvSpPr>
          <p:cNvPr id="3" name="Espace réservé du contenu 2"/>
          <p:cNvSpPr>
            <a:spLocks noGrp="1"/>
          </p:cNvSpPr>
          <p:nvPr>
            <p:ph sz="quarter" idx="1"/>
          </p:nvPr>
        </p:nvSpPr>
        <p:spPr/>
        <p:txBody>
          <a:bodyPr>
            <a:normAutofit fontScale="92500" lnSpcReduction="20000"/>
          </a:bodyPr>
          <a:lstStyle/>
          <a:p>
            <a:r>
              <a:rPr lang="fr-CA" dirty="0"/>
              <a:t>Dans une relation plusieurs-à-plusieurs: </a:t>
            </a:r>
          </a:p>
          <a:p>
            <a:pPr lvl="1"/>
            <a:r>
              <a:rPr lang="fr-CA" dirty="0"/>
              <a:t>une ligne de la table A peut comporter plusieurs lignes correspondantes dans la table B, </a:t>
            </a:r>
          </a:p>
          <a:p>
            <a:pPr lvl="1"/>
            <a:r>
              <a:rPr lang="fr-CA" dirty="0"/>
              <a:t>et inversement, une ligne de la table B peut comporter plusieurs lignes correspondantes dans la table A. </a:t>
            </a:r>
          </a:p>
          <a:p>
            <a:r>
              <a:rPr lang="fr-CA" dirty="0"/>
              <a:t>Par exemple, les tables </a:t>
            </a:r>
            <a:r>
              <a:rPr lang="fr-CA" b="1" dirty="0"/>
              <a:t>Auteurs</a:t>
            </a:r>
            <a:r>
              <a:rPr lang="fr-CA" dirty="0"/>
              <a:t> et </a:t>
            </a:r>
            <a:r>
              <a:rPr lang="fr-CA" b="1" dirty="0"/>
              <a:t>Titres</a:t>
            </a:r>
            <a:r>
              <a:rPr lang="fr-CA" dirty="0"/>
              <a:t> ont une relation plusieurs-à-plusieurs:</a:t>
            </a:r>
          </a:p>
          <a:p>
            <a:pPr lvl="1"/>
            <a:r>
              <a:rPr lang="fr-CA" dirty="0"/>
              <a:t>Un auteur écrit plusieurs titres</a:t>
            </a:r>
          </a:p>
          <a:p>
            <a:pPr lvl="1"/>
            <a:r>
              <a:rPr lang="fr-CA" dirty="0"/>
              <a:t>Un titre peut être écrit par </a:t>
            </a:r>
            <a:r>
              <a:rPr lang="fr-CA" dirty="0" err="1"/>
              <a:t>pluisieurs</a:t>
            </a:r>
            <a:r>
              <a:rPr lang="fr-CA" dirty="0"/>
              <a:t> auteurs</a:t>
            </a:r>
          </a:p>
          <a:p>
            <a:r>
              <a:rPr lang="fr-CA" dirty="0"/>
              <a:t>Pour créer une telle relation: </a:t>
            </a:r>
          </a:p>
          <a:p>
            <a:pPr lvl="1"/>
            <a:r>
              <a:rPr lang="fr-CA" dirty="0"/>
              <a:t>on ajoute une troisième table, appelée table de jonction, appelée par exemple </a:t>
            </a:r>
            <a:r>
              <a:rPr lang="fr-CA" b="1" dirty="0" err="1"/>
              <a:t>TitreAuteurs</a:t>
            </a:r>
            <a:r>
              <a:rPr lang="fr-CA" dirty="0"/>
              <a:t> </a:t>
            </a:r>
          </a:p>
          <a:p>
            <a:pPr lvl="1"/>
            <a:r>
              <a:rPr lang="fr-CA" dirty="0"/>
              <a:t>dont la clé primaire se compose des clés étrangères des tables A et B. </a:t>
            </a:r>
          </a:p>
          <a:p>
            <a:pPr lvl="1"/>
            <a:r>
              <a:rPr lang="fr-CA" dirty="0"/>
              <a:t>qui est définie par une relation un-à-plusieurs entre chacune de ces tables.</a:t>
            </a:r>
          </a:p>
        </p:txBody>
      </p:sp>
    </p:spTree>
    <p:extLst>
      <p:ext uri="{BB962C8B-B14F-4D97-AF65-F5344CB8AC3E}">
        <p14:creationId xmlns:p14="http://schemas.microsoft.com/office/powerpoint/2010/main" val="2924688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Relations un-à-un</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23</a:t>
            </a:fld>
            <a:endParaRPr lang="fr-CA"/>
          </a:p>
        </p:txBody>
      </p:sp>
      <p:sp>
        <p:nvSpPr>
          <p:cNvPr id="3" name="Espace réservé du contenu 2"/>
          <p:cNvSpPr>
            <a:spLocks noGrp="1"/>
          </p:cNvSpPr>
          <p:nvPr>
            <p:ph sz="quarter" idx="1"/>
          </p:nvPr>
        </p:nvSpPr>
        <p:spPr/>
        <p:txBody>
          <a:bodyPr>
            <a:normAutofit fontScale="85000" lnSpcReduction="20000"/>
          </a:bodyPr>
          <a:lstStyle/>
          <a:p>
            <a:r>
              <a:rPr lang="fr-CA" dirty="0"/>
              <a:t>Dans une relation un-à-un: </a:t>
            </a:r>
          </a:p>
          <a:p>
            <a:pPr lvl="1"/>
            <a:r>
              <a:rPr lang="fr-CA" dirty="0"/>
              <a:t>une ligne de la table A ne peut pas avoir plus d'une ligne correspondante dans la table B, et inversement aussi. </a:t>
            </a:r>
          </a:p>
          <a:p>
            <a:pPr lvl="1"/>
            <a:r>
              <a:rPr lang="fr-CA" dirty="0"/>
              <a:t>Une relation un-à-un est créée si les deux colonnes associées sont des clés primaires ou si elles comportent des contraintes uniques.</a:t>
            </a:r>
          </a:p>
          <a:p>
            <a:r>
              <a:rPr lang="fr-CA" dirty="0"/>
              <a:t>Ce type de relation </a:t>
            </a:r>
            <a:r>
              <a:rPr lang="fr-CA" b="1" dirty="0"/>
              <a:t>n'est pas courant (</a:t>
            </a:r>
            <a:r>
              <a:rPr lang="fr-CA" dirty="0"/>
              <a:t>car on peut mettre toutes les informations dans une seule table. </a:t>
            </a:r>
          </a:p>
          <a:p>
            <a:r>
              <a:rPr lang="fr-CA" dirty="0"/>
              <a:t>On peut utiliser une relation un-a-un pour : </a:t>
            </a:r>
          </a:p>
          <a:p>
            <a:pPr lvl="1"/>
            <a:r>
              <a:rPr lang="fr-CA" dirty="0"/>
              <a:t>diviser une table comportant de nombreuses colonnes ;</a:t>
            </a:r>
          </a:p>
          <a:p>
            <a:pPr lvl="1"/>
            <a:r>
              <a:rPr lang="fr-CA" dirty="0"/>
              <a:t>isoler une partie de table pour des raisons de sécurité ;</a:t>
            </a:r>
          </a:p>
          <a:p>
            <a:pPr lvl="1"/>
            <a:r>
              <a:rPr lang="fr-CA" dirty="0" err="1"/>
              <a:t>etc</a:t>
            </a:r>
            <a:endParaRPr lang="fr-CA" dirty="0"/>
          </a:p>
          <a:p>
            <a:r>
              <a:rPr lang="fr-CA" dirty="0"/>
              <a:t>Exemple:</a:t>
            </a:r>
          </a:p>
          <a:p>
            <a:pPr lvl="1"/>
            <a:r>
              <a:rPr lang="fr-CA" dirty="0"/>
              <a:t>La table patients dans un contexte médical, peut être divisée en 2 tables:</a:t>
            </a:r>
          </a:p>
          <a:p>
            <a:pPr lvl="2"/>
            <a:r>
              <a:rPr lang="fr-CA" dirty="0"/>
              <a:t>Informations administratives</a:t>
            </a:r>
          </a:p>
          <a:p>
            <a:pPr lvl="2"/>
            <a:r>
              <a:rPr lang="fr-CA" dirty="0"/>
              <a:t>Dossier médical</a:t>
            </a:r>
          </a:p>
        </p:txBody>
      </p:sp>
    </p:spTree>
    <p:extLst>
      <p:ext uri="{BB962C8B-B14F-4D97-AF65-F5344CB8AC3E}">
        <p14:creationId xmlns:p14="http://schemas.microsoft.com/office/powerpoint/2010/main" val="4158568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Autre représentation(textuelle) du MLD</a:t>
            </a:r>
          </a:p>
        </p:txBody>
      </p:sp>
      <p:sp>
        <p:nvSpPr>
          <p:cNvPr id="4" name="Slide Number Placeholder 3"/>
          <p:cNvSpPr>
            <a:spLocks noGrp="1"/>
          </p:cNvSpPr>
          <p:nvPr>
            <p:ph type="sldNum" sz="quarter" idx="12"/>
          </p:nvPr>
        </p:nvSpPr>
        <p:spPr/>
        <p:txBody>
          <a:bodyPr/>
          <a:lstStyle/>
          <a:p>
            <a:fld id="{F28DAE6B-AB0D-4F6F-8314-FB40BDBBD4DC}" type="slidenum">
              <a:rPr lang="fr-CA" smtClean="0"/>
              <a:pPr/>
              <a:t>24</a:t>
            </a:fld>
            <a:endParaRPr lang="fr-CA"/>
          </a:p>
        </p:txBody>
      </p:sp>
      <p:sp>
        <p:nvSpPr>
          <p:cNvPr id="3" name="Espace réservé du contenu 2"/>
          <p:cNvSpPr>
            <a:spLocks noGrp="1"/>
          </p:cNvSpPr>
          <p:nvPr>
            <p:ph sz="quarter" idx="1"/>
          </p:nvPr>
        </p:nvSpPr>
        <p:spPr>
          <a:xfrm>
            <a:off x="85756" y="1928802"/>
            <a:ext cx="8915400" cy="3071834"/>
          </a:xfrm>
          <a:ln>
            <a:solidFill>
              <a:schemeClr val="accent1"/>
            </a:solidFill>
          </a:ln>
        </p:spPr>
        <p:txBody>
          <a:bodyPr>
            <a:noAutofit/>
          </a:bodyPr>
          <a:lstStyle/>
          <a:p>
            <a:r>
              <a:rPr lang="fr-CA" sz="2400" dirty="0"/>
              <a:t>Étudiants(</a:t>
            </a:r>
            <a:r>
              <a:rPr lang="fr-CA" sz="2400" b="1" u="sng" dirty="0"/>
              <a:t>Numero_etudiant,  </a:t>
            </a:r>
            <a:r>
              <a:rPr lang="fr-CA" sz="2400" dirty="0"/>
              <a:t>nom,prenom, adresse, telephone )</a:t>
            </a:r>
            <a:r>
              <a:rPr lang="fr-CA" sz="2400" b="1" i="1" dirty="0"/>
              <a:t>	</a:t>
            </a:r>
          </a:p>
          <a:p>
            <a:endParaRPr lang="fr-CA" sz="2400" dirty="0"/>
          </a:p>
          <a:p>
            <a:r>
              <a:rPr lang="fr-CA" sz="2400" dirty="0" err="1"/>
              <a:t>Étudiant_Cours</a:t>
            </a:r>
            <a:r>
              <a:rPr lang="fr-CA" sz="2400" dirty="0"/>
              <a:t> (</a:t>
            </a:r>
            <a:r>
              <a:rPr lang="fr-CA" sz="2400" b="1" u="sng" dirty="0"/>
              <a:t>numero_etudiant , code_cours</a:t>
            </a:r>
            <a:r>
              <a:rPr lang="fr-CA" sz="2400" b="1" i="1" u="sng" dirty="0"/>
              <a:t>, </a:t>
            </a:r>
            <a:r>
              <a:rPr lang="fr-CA" sz="2400" dirty="0"/>
              <a:t>note</a:t>
            </a:r>
            <a:r>
              <a:rPr lang="fr-CA" sz="2400" b="1" i="1" dirty="0"/>
              <a:t>) 	</a:t>
            </a:r>
          </a:p>
          <a:p>
            <a:endParaRPr lang="fr-CA" sz="2400" dirty="0"/>
          </a:p>
          <a:p>
            <a:r>
              <a:rPr lang="fr-CA" sz="2400" dirty="0"/>
              <a:t>Cours (</a:t>
            </a:r>
            <a:r>
              <a:rPr lang="fr-CA" sz="2400" b="1" u="sng" dirty="0"/>
              <a:t>code_cours</a:t>
            </a:r>
            <a:r>
              <a:rPr lang="fr-CA" sz="2400" b="1" dirty="0"/>
              <a:t> , </a:t>
            </a:r>
            <a:r>
              <a:rPr lang="fr-CA" sz="2400" dirty="0"/>
              <a:t>t</a:t>
            </a:r>
            <a:r>
              <a:rPr lang="fr-CA" sz="2400" i="1" dirty="0"/>
              <a:t>itre</a:t>
            </a:r>
            <a:r>
              <a:rPr lang="fr-CA" sz="2400" b="1" i="1" dirty="0"/>
              <a:t>, </a:t>
            </a:r>
            <a:r>
              <a:rPr lang="fr-CA" sz="2400" dirty="0"/>
              <a:t>nombre_heures, nombre_credits </a:t>
            </a:r>
            <a:r>
              <a:rPr lang="fr-CA" sz="2400" b="1" i="1" dirty="0"/>
              <a:t>)</a:t>
            </a:r>
          </a:p>
          <a:p>
            <a:endParaRPr lang="fr-CA" sz="2400" dirty="0"/>
          </a:p>
          <a:p>
            <a:endParaRPr lang="fr-CA"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Modèle physique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25</a:t>
            </a:fld>
            <a:endParaRPr lang="fr-CA"/>
          </a:p>
        </p:txBody>
      </p:sp>
      <p:sp>
        <p:nvSpPr>
          <p:cNvPr id="3" name="Espace réservé du contenu 2"/>
          <p:cNvSpPr>
            <a:spLocks noGrp="1"/>
          </p:cNvSpPr>
          <p:nvPr>
            <p:ph sz="quarter" idx="1"/>
          </p:nvPr>
        </p:nvSpPr>
        <p:spPr/>
        <p:txBody>
          <a:bodyPr/>
          <a:lstStyle/>
          <a:p>
            <a:r>
              <a:rPr lang="fr-CA" b="1" dirty="0"/>
              <a:t>Implémenter</a:t>
            </a:r>
            <a:r>
              <a:rPr lang="fr-CA" dirty="0"/>
              <a:t> le MLD dans le SGBDR retenu</a:t>
            </a:r>
          </a:p>
          <a:p>
            <a:r>
              <a:rPr lang="fr-CA" dirty="0"/>
              <a:t>Permet de préciser les systèmes de stockage employés (tables, </a:t>
            </a:r>
            <a:r>
              <a:rPr lang="fr-CA" dirty="0" err="1"/>
              <a:t>tablespaces</a:t>
            </a:r>
            <a:r>
              <a:rPr lang="fr-CA" dirty="0"/>
              <a:t>, indexes,..)</a:t>
            </a:r>
          </a:p>
          <a:p>
            <a:r>
              <a:rPr lang="fr-CA" dirty="0"/>
              <a:t>Rechercher de bonnes performances(Indexer, dénormaliser, grouper, partitionner les tables….)</a:t>
            </a:r>
          </a:p>
          <a:p>
            <a:r>
              <a:rPr lang="fr-CA" b="1" u="sng" dirty="0"/>
              <a:t>On utilise le langage SQL </a:t>
            </a:r>
            <a:r>
              <a:rPr lang="fr-CA" dirty="0"/>
              <a:t>pour créer les différents objets de la BDD (tables, indexes,….)</a:t>
            </a:r>
            <a:endParaRPr lang="fr-FR" dirty="0"/>
          </a:p>
          <a:p>
            <a:endParaRPr lang="fr-CA"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Exemple de modèle physique de données</a:t>
            </a:r>
          </a:p>
        </p:txBody>
      </p:sp>
      <p:sp>
        <p:nvSpPr>
          <p:cNvPr id="4" name="Slide Number Placeholder 3"/>
          <p:cNvSpPr>
            <a:spLocks noGrp="1"/>
          </p:cNvSpPr>
          <p:nvPr>
            <p:ph type="sldNum" sz="quarter" idx="12"/>
          </p:nvPr>
        </p:nvSpPr>
        <p:spPr/>
        <p:txBody>
          <a:bodyPr/>
          <a:lstStyle/>
          <a:p>
            <a:fld id="{F28DAE6B-AB0D-4F6F-8314-FB40BDBBD4DC}" type="slidenum">
              <a:rPr lang="fr-CA" smtClean="0"/>
              <a:pPr/>
              <a:t>26</a:t>
            </a:fld>
            <a:endParaRPr lang="fr-CA"/>
          </a:p>
        </p:txBody>
      </p:sp>
      <p:sp>
        <p:nvSpPr>
          <p:cNvPr id="3" name="Espace réservé du contenu 2"/>
          <p:cNvSpPr>
            <a:spLocks noGrp="1"/>
          </p:cNvSpPr>
          <p:nvPr>
            <p:ph sz="quarter" idx="1"/>
          </p:nvPr>
        </p:nvSpPr>
        <p:spPr>
          <a:xfrm>
            <a:off x="1857356" y="1268760"/>
            <a:ext cx="6171028" cy="5089198"/>
          </a:xfrm>
          <a:ln w="28575">
            <a:solidFill>
              <a:schemeClr val="accent1"/>
            </a:solidFill>
          </a:ln>
        </p:spPr>
        <p:txBody>
          <a:bodyPr>
            <a:noAutofit/>
          </a:bodyPr>
          <a:lstStyle/>
          <a:p>
            <a:r>
              <a:rPr lang="fr-CA" sz="1800" dirty="0"/>
              <a:t>CREATE TABLE vol( </a:t>
            </a:r>
            <a:br>
              <a:rPr lang="fr-CA" sz="1800" dirty="0"/>
            </a:br>
            <a:r>
              <a:rPr lang="fr-CA" sz="1800" dirty="0"/>
              <a:t>    </a:t>
            </a:r>
            <a:r>
              <a:rPr lang="fr-CA" sz="1800" dirty="0" err="1"/>
              <a:t>novol</a:t>
            </a:r>
            <a:r>
              <a:rPr lang="fr-CA" sz="1800" dirty="0"/>
              <a:t> CHAR(6), </a:t>
            </a:r>
            <a:br>
              <a:rPr lang="fr-CA" sz="1800" dirty="0"/>
            </a:br>
            <a:r>
              <a:rPr lang="fr-CA" sz="1800" dirty="0"/>
              <a:t>    </a:t>
            </a:r>
            <a:r>
              <a:rPr lang="fr-CA" sz="1800" dirty="0" err="1"/>
              <a:t>vildep</a:t>
            </a:r>
            <a:r>
              <a:rPr lang="fr-CA" sz="1800" dirty="0"/>
              <a:t> VARCHAR2(30), </a:t>
            </a:r>
            <a:br>
              <a:rPr lang="fr-CA" sz="1800" dirty="0"/>
            </a:br>
            <a:r>
              <a:rPr lang="fr-CA" sz="1800" dirty="0"/>
              <a:t>    </a:t>
            </a:r>
            <a:r>
              <a:rPr lang="fr-CA" sz="1800" dirty="0" err="1"/>
              <a:t>vilar</a:t>
            </a:r>
            <a:r>
              <a:rPr lang="fr-CA" sz="1800" dirty="0"/>
              <a:t> VARCHAR2(30), </a:t>
            </a:r>
            <a:br>
              <a:rPr lang="fr-CA" sz="1800" dirty="0"/>
            </a:br>
            <a:r>
              <a:rPr lang="fr-CA" sz="1800" dirty="0"/>
              <a:t>    </a:t>
            </a:r>
            <a:r>
              <a:rPr lang="fr-CA" sz="1800" dirty="0" err="1"/>
              <a:t>dep_h</a:t>
            </a:r>
            <a:r>
              <a:rPr lang="fr-CA" sz="1800" dirty="0"/>
              <a:t> NUMBER(2), </a:t>
            </a:r>
            <a:br>
              <a:rPr lang="fr-CA" sz="1800" dirty="0"/>
            </a:br>
            <a:r>
              <a:rPr lang="fr-CA" sz="1800" dirty="0"/>
              <a:t>    </a:t>
            </a:r>
            <a:r>
              <a:rPr lang="fr-CA" sz="1800" dirty="0" err="1"/>
              <a:t>dep_mn</a:t>
            </a:r>
            <a:r>
              <a:rPr lang="fr-CA" sz="1800" dirty="0"/>
              <a:t> NUMBER(2), </a:t>
            </a:r>
            <a:br>
              <a:rPr lang="fr-CA" sz="1800" dirty="0"/>
            </a:br>
            <a:r>
              <a:rPr lang="fr-CA" sz="1800" dirty="0"/>
              <a:t>    </a:t>
            </a:r>
            <a:r>
              <a:rPr lang="fr-CA" sz="1800" dirty="0" err="1"/>
              <a:t>ar_h</a:t>
            </a:r>
            <a:r>
              <a:rPr lang="fr-CA" sz="1800" dirty="0"/>
              <a:t> NUMBER(2), </a:t>
            </a:r>
            <a:br>
              <a:rPr lang="fr-CA" sz="1800" dirty="0"/>
            </a:br>
            <a:r>
              <a:rPr lang="fr-CA" sz="1800" dirty="0"/>
              <a:t>    </a:t>
            </a:r>
            <a:r>
              <a:rPr lang="fr-CA" sz="1800" dirty="0" err="1"/>
              <a:t>ar_mn</a:t>
            </a:r>
            <a:r>
              <a:rPr lang="fr-CA" sz="1800" dirty="0"/>
              <a:t> NUMBER(2), </a:t>
            </a:r>
            <a:br>
              <a:rPr lang="fr-CA" sz="1800" dirty="0"/>
            </a:br>
            <a:r>
              <a:rPr lang="fr-CA" sz="1800" dirty="0"/>
              <a:t>     </a:t>
            </a:r>
            <a:r>
              <a:rPr lang="fr-CA" sz="1800" dirty="0" err="1"/>
              <a:t>ch_jour</a:t>
            </a:r>
            <a:r>
              <a:rPr lang="fr-CA" sz="1800" dirty="0"/>
              <a:t> NUMBER(1)); </a:t>
            </a:r>
            <a:br>
              <a:rPr lang="fr-CA" sz="1800" dirty="0"/>
            </a:br>
            <a:br>
              <a:rPr lang="fr-CA" sz="1800" dirty="0"/>
            </a:br>
            <a:r>
              <a:rPr lang="fr-CA" sz="1800" dirty="0"/>
              <a:t>/* PILOTE */ </a:t>
            </a:r>
            <a:br>
              <a:rPr lang="fr-CA" sz="1800" dirty="0"/>
            </a:br>
            <a:r>
              <a:rPr lang="fr-CA" sz="1800" dirty="0"/>
              <a:t>CREATE TABLE pilote( </a:t>
            </a:r>
            <a:br>
              <a:rPr lang="fr-CA" sz="1800" dirty="0"/>
            </a:br>
            <a:r>
              <a:rPr lang="fr-CA" sz="1800" dirty="0"/>
              <a:t>    </a:t>
            </a:r>
            <a:r>
              <a:rPr lang="fr-CA" sz="1800" dirty="0" err="1"/>
              <a:t>nopilot</a:t>
            </a:r>
            <a:r>
              <a:rPr lang="fr-CA" sz="1800" dirty="0"/>
              <a:t> CHAR(4), </a:t>
            </a:r>
            <a:br>
              <a:rPr lang="fr-CA" sz="1800" dirty="0"/>
            </a:br>
            <a:r>
              <a:rPr lang="fr-CA" sz="1800" dirty="0"/>
              <a:t>    nom VARCHAR2(30), </a:t>
            </a:r>
            <a:br>
              <a:rPr lang="fr-CA" sz="1800" dirty="0"/>
            </a:br>
            <a:r>
              <a:rPr lang="fr-CA" sz="1800" dirty="0"/>
              <a:t>     ADRESSE VARCHAR2(30), </a:t>
            </a:r>
            <a:br>
              <a:rPr lang="fr-CA" sz="1800" dirty="0"/>
            </a:br>
            <a:r>
              <a:rPr lang="fr-CA" sz="1800" dirty="0"/>
              <a:t>     SAL NUMBER(8,2), </a:t>
            </a:r>
            <a:br>
              <a:rPr lang="fr-CA" sz="1800" dirty="0"/>
            </a:br>
            <a:r>
              <a:rPr lang="fr-CA" sz="1800" dirty="0"/>
              <a:t>      </a:t>
            </a:r>
            <a:r>
              <a:rPr lang="fr-CA" sz="1800" dirty="0" err="1"/>
              <a:t>comm</a:t>
            </a:r>
            <a:r>
              <a:rPr lang="fr-CA" sz="1800" dirty="0"/>
              <a:t> NUMBER(8,2), </a:t>
            </a:r>
            <a:br>
              <a:rPr lang="fr-CA" sz="1800" dirty="0"/>
            </a:br>
            <a:r>
              <a:rPr lang="fr-CA" sz="1800" dirty="0"/>
              <a:t>      embauche DATE); </a:t>
            </a:r>
          </a:p>
          <a:p>
            <a:r>
              <a:rPr lang="fr-CA" sz="1800" dirty="0"/>
              <a:t>…………….</a:t>
            </a:r>
            <a:br>
              <a:rPr lang="fr-CA" sz="1800" dirty="0"/>
            </a:br>
            <a:br>
              <a:rPr lang="fr-CA" sz="1800" dirty="0"/>
            </a:br>
            <a:endParaRPr lang="fr-CA"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Remarque importante</a:t>
            </a:r>
          </a:p>
        </p:txBody>
      </p:sp>
      <p:sp>
        <p:nvSpPr>
          <p:cNvPr id="4" name="Slide Number Placeholder 3"/>
          <p:cNvSpPr>
            <a:spLocks noGrp="1"/>
          </p:cNvSpPr>
          <p:nvPr>
            <p:ph type="sldNum" sz="quarter" idx="12"/>
          </p:nvPr>
        </p:nvSpPr>
        <p:spPr/>
        <p:txBody>
          <a:bodyPr/>
          <a:lstStyle/>
          <a:p>
            <a:fld id="{F28DAE6B-AB0D-4F6F-8314-FB40BDBBD4DC}" type="slidenum">
              <a:rPr lang="fr-CA" smtClean="0"/>
              <a:pPr/>
              <a:t>27</a:t>
            </a:fld>
            <a:endParaRPr lang="fr-CA"/>
          </a:p>
        </p:txBody>
      </p:sp>
      <p:sp>
        <p:nvSpPr>
          <p:cNvPr id="3" name="Espace réservé du contenu 2"/>
          <p:cNvSpPr>
            <a:spLocks noGrp="1"/>
          </p:cNvSpPr>
          <p:nvPr>
            <p:ph sz="quarter" idx="1"/>
          </p:nvPr>
        </p:nvSpPr>
        <p:spPr>
          <a:xfrm>
            <a:off x="265702" y="1772816"/>
            <a:ext cx="8643998" cy="2214578"/>
          </a:xfrm>
        </p:spPr>
        <p:txBody>
          <a:bodyPr/>
          <a:lstStyle/>
          <a:p>
            <a:r>
              <a:rPr lang="fr-CA" dirty="0"/>
              <a:t>Dans ce cours, on va: </a:t>
            </a:r>
          </a:p>
          <a:p>
            <a:pPr lvl="1"/>
            <a:r>
              <a:rPr lang="fr-CA" dirty="0"/>
              <a:t>utiliser des MLD qui sont déjà normalisés </a:t>
            </a:r>
          </a:p>
          <a:p>
            <a:pPr lvl="2"/>
            <a:r>
              <a:rPr lang="fr-CA" dirty="0"/>
              <a:t>pour implémenter les MPD correspondants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a:t>
            </a:r>
          </a:p>
        </p:txBody>
      </p:sp>
      <p:sp>
        <p:nvSpPr>
          <p:cNvPr id="4" name="Espace réservé du numéro de diapositive 3"/>
          <p:cNvSpPr>
            <a:spLocks noGrp="1"/>
          </p:cNvSpPr>
          <p:nvPr>
            <p:ph type="sldNum" sz="quarter" idx="12"/>
          </p:nvPr>
        </p:nvSpPr>
        <p:spPr/>
        <p:txBody>
          <a:bodyPr/>
          <a:lstStyle/>
          <a:p>
            <a:fld id="{F28DAE6B-AB0D-4F6F-8314-FB40BDBBD4DC}" type="slidenum">
              <a:rPr lang="fr-CA" smtClean="0"/>
              <a:pPr/>
              <a:t>28</a:t>
            </a:fld>
            <a:endParaRPr lang="fr-CA"/>
          </a:p>
        </p:txBody>
      </p:sp>
      <p:sp>
        <p:nvSpPr>
          <p:cNvPr id="3" name="Espace réservé du contenu 2"/>
          <p:cNvSpPr>
            <a:spLocks noGrp="1"/>
          </p:cNvSpPr>
          <p:nvPr>
            <p:ph sz="quarter" idx="1"/>
          </p:nvPr>
        </p:nvSpPr>
        <p:spPr>
          <a:xfrm>
            <a:off x="272206" y="1484784"/>
            <a:ext cx="8643998" cy="4157654"/>
          </a:xfrm>
        </p:spPr>
        <p:txBody>
          <a:bodyPr/>
          <a:lstStyle/>
          <a:p>
            <a:r>
              <a:rPr lang="fr-CA" dirty="0"/>
              <a:t>Déterminer le type de relation entre les entités suivantes:</a:t>
            </a:r>
          </a:p>
          <a:p>
            <a:pPr lvl="1"/>
            <a:r>
              <a:rPr lang="fr-CA" dirty="0" err="1"/>
              <a:t>Etudiant</a:t>
            </a:r>
            <a:r>
              <a:rPr lang="fr-CA" dirty="0"/>
              <a:t>-professeur-</a:t>
            </a:r>
            <a:r>
              <a:rPr lang="fr-CA" dirty="0" err="1"/>
              <a:t>Etudiant</a:t>
            </a:r>
            <a:r>
              <a:rPr lang="fr-CA" dirty="0"/>
              <a:t>-cours</a:t>
            </a:r>
          </a:p>
          <a:p>
            <a:pPr lvl="1"/>
            <a:r>
              <a:rPr lang="fr-CA" dirty="0" err="1"/>
              <a:t>Video</a:t>
            </a:r>
            <a:r>
              <a:rPr lang="fr-CA" dirty="0"/>
              <a:t>-client</a:t>
            </a:r>
          </a:p>
          <a:p>
            <a:pPr lvl="1"/>
            <a:r>
              <a:rPr lang="fr-CA" dirty="0" err="1"/>
              <a:t>Employe</a:t>
            </a:r>
            <a:r>
              <a:rPr lang="fr-CA" dirty="0"/>
              <a:t>-</a:t>
            </a:r>
            <a:r>
              <a:rPr lang="fr-CA" dirty="0" err="1"/>
              <a:t>departement</a:t>
            </a:r>
            <a:r>
              <a:rPr lang="fr-CA" dirty="0"/>
              <a:t>-poste-manager</a:t>
            </a:r>
          </a:p>
          <a:p>
            <a:pPr lvl="1"/>
            <a:r>
              <a:rPr lang="fr-CA" dirty="0"/>
              <a:t>Client-commandes-produits-fournisseur</a:t>
            </a:r>
          </a:p>
          <a:p>
            <a:pPr lvl="1"/>
            <a:r>
              <a:rPr lang="fr-CA"/>
              <a:t>Client-banque-compte.</a:t>
            </a:r>
            <a:endParaRPr lang="fr-CA" dirty="0"/>
          </a:p>
          <a:p>
            <a:pPr lvl="1"/>
            <a:endParaRPr lang="fr-CA" dirty="0"/>
          </a:p>
        </p:txBody>
      </p:sp>
    </p:spTree>
    <p:extLst>
      <p:ext uri="{BB962C8B-B14F-4D97-AF65-F5344CB8AC3E}">
        <p14:creationId xmlns:p14="http://schemas.microsoft.com/office/powerpoint/2010/main" val="6782964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Origine">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4022</TotalTime>
  <Words>1979</Words>
  <Application>Microsoft Office PowerPoint</Application>
  <PresentationFormat>Affichage à l'écran (4:3)</PresentationFormat>
  <Paragraphs>220</Paragraphs>
  <Slides>28</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28</vt:i4>
      </vt:variant>
    </vt:vector>
  </HeadingPairs>
  <TitlesOfParts>
    <vt:vector size="34" baseType="lpstr">
      <vt:lpstr>Bookman Old Style</vt:lpstr>
      <vt:lpstr>Calibri</vt:lpstr>
      <vt:lpstr>Gill Sans MT</vt:lpstr>
      <vt:lpstr>Wingdings</vt:lpstr>
      <vt:lpstr>Wingdings 3</vt:lpstr>
      <vt:lpstr>Origine</vt:lpstr>
      <vt:lpstr>Introduction à Modélisation de bases de données</vt:lpstr>
      <vt:lpstr>Rappels</vt:lpstr>
      <vt:lpstr>Rappels</vt:lpstr>
      <vt:lpstr>Modélisation des données</vt:lpstr>
      <vt:lpstr>Modélisation de bases de données</vt:lpstr>
      <vt:lpstr>Analyse des besoins</vt:lpstr>
      <vt:lpstr>Élaboration du modèle conceptuel de données</vt:lpstr>
      <vt:lpstr>Le modèle conceptuel de données: entitée et  associations</vt:lpstr>
      <vt:lpstr>Le modèle conceptuel de données: les cardinalités</vt:lpstr>
      <vt:lpstr>Le modèle conceptuel de données: les clés</vt:lpstr>
      <vt:lpstr>Autre exemple de MCD</vt:lpstr>
      <vt:lpstr>Élaboration du modèle logique de données</vt:lpstr>
      <vt:lpstr>Élaboration du modèle logique de données</vt:lpstr>
      <vt:lpstr>Principes de base de la normalisation d’une BD relationnelle.</vt:lpstr>
      <vt:lpstr>Principes de base de la normalisation: 1FN</vt:lpstr>
      <vt:lpstr>Principes de base de la normalisation: 2FN</vt:lpstr>
      <vt:lpstr>Principes de base de la normalisation: 2FN</vt:lpstr>
      <vt:lpstr>Principes de base de la normalisation: 3FN</vt:lpstr>
      <vt:lpstr>Exemple de modèle logique de données</vt:lpstr>
      <vt:lpstr>Les différentes relations entre les entités d’une BD relationnelle</vt:lpstr>
      <vt:lpstr>Les relations 1 à plusieurs</vt:lpstr>
      <vt:lpstr>Les relations plusieurs à plusieurs</vt:lpstr>
      <vt:lpstr>Relations un-à-un</vt:lpstr>
      <vt:lpstr>Autre représentation(textuelle) du MLD</vt:lpstr>
      <vt:lpstr>Modèle physique de données</vt:lpstr>
      <vt:lpstr>Exemple de modèle physique de données</vt:lpstr>
      <vt:lpstr>Remarque importante</vt:lpstr>
      <vt:lpstr>Exercice</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Toshiba</dc:creator>
  <cp:lastModifiedBy>Ferdenache, Soraya</cp:lastModifiedBy>
  <cp:revision>115</cp:revision>
  <dcterms:created xsi:type="dcterms:W3CDTF">2011-01-23T03:12:20Z</dcterms:created>
  <dcterms:modified xsi:type="dcterms:W3CDTF">2026-01-11T23:57:05Z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615819-ba40-4aaf-a034-39fd1d37cddf_Enabled">
    <vt:lpwstr>true</vt:lpwstr>
  </property>
  <property fmtid="{D5CDD505-2E9C-101B-9397-08002B2CF9AE}" pid="3" name="MSIP_Label_6b615819-ba40-4aaf-a034-39fd1d37cddf_SetDate">
    <vt:lpwstr>2026-01-11T23:57:05Z</vt:lpwstr>
  </property>
  <property fmtid="{D5CDD505-2E9C-101B-9397-08002B2CF9AE}" pid="4" name="MSIP_Label_6b615819-ba40-4aaf-a034-39fd1d37cddf_Method">
    <vt:lpwstr>Standard</vt:lpwstr>
  </property>
  <property fmtid="{D5CDD505-2E9C-101B-9397-08002B2CF9AE}" pid="5" name="MSIP_Label_6b615819-ba40-4aaf-a034-39fd1d37cddf_Name">
    <vt:lpwstr>defa4170-0d19-0005-0004-bc88714345d2</vt:lpwstr>
  </property>
  <property fmtid="{D5CDD505-2E9C-101B-9397-08002B2CF9AE}" pid="6" name="MSIP_Label_6b615819-ba40-4aaf-a034-39fd1d37cddf_SiteId">
    <vt:lpwstr>f9182dd7-4234-41fb-9e9c-dd20d493b548</vt:lpwstr>
  </property>
  <property fmtid="{D5CDD505-2E9C-101B-9397-08002B2CF9AE}" pid="7" name="MSIP_Label_6b615819-ba40-4aaf-a034-39fd1d37cddf_ActionId">
    <vt:lpwstr>ce310958-cdd0-4ff9-a5a3-40f9204012a1</vt:lpwstr>
  </property>
  <property fmtid="{D5CDD505-2E9C-101B-9397-08002B2CF9AE}" pid="8" name="MSIP_Label_6b615819-ba40-4aaf-a034-39fd1d37cddf_ContentBits">
    <vt:lpwstr>0</vt:lpwstr>
  </property>
  <property fmtid="{D5CDD505-2E9C-101B-9397-08002B2CF9AE}" pid="9" name="MSIP_Label_6b615819-ba40-4aaf-a034-39fd1d37cddf_Tag">
    <vt:lpwstr>10, 3, 0, 1</vt:lpwstr>
  </property>
</Properties>
</file>